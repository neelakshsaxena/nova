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5" r:id="rId6"/>
    <p:sldId id="260" r:id="rId7"/>
    <p:sldId id="262" r:id="rId8"/>
    <p:sldId id="264" r:id="rId9"/>
    <p:sldId id="266" r:id="rId10"/>
    <p:sldId id="267" r:id="rId11"/>
    <p:sldId id="268"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314" autoAdjust="0"/>
  </p:normalViewPr>
  <p:slideViewPr>
    <p:cSldViewPr snapToGrid="0" snapToObjects="1">
      <p:cViewPr varScale="1">
        <p:scale>
          <a:sx n="86" d="100"/>
          <a:sy n="86" d="100"/>
        </p:scale>
        <p:origin x="980"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Fixed</c:v>
                </c:pt>
              </c:strCache>
            </c:strRef>
          </c:tx>
          <c:spPr>
            <a:ln w="22225">
              <a:solidFill>
                <a:srgbClr val="A3AAB5"/>
              </a:solidFill>
              <a:prstDash val="sysDot"/>
            </a:ln>
          </c:spPr>
          <c:marker>
            <c:symbol val="circle"/>
            <c:size val="6"/>
            <c:spPr>
              <a:solidFill>
                <a:srgbClr val="A3AAB5"/>
              </a:solidFill>
              <a:ln>
                <a:solidFill>
                  <a:srgbClr val="A3AAB5"/>
                </a:solidFill>
              </a:ln>
            </c:spPr>
          </c:marker>
          <c:cat>
            <c:strRef>
              <c:f>Sheet1!$A$2:$A$9</c:f>
              <c:strCache>
                <c:ptCount val="8"/>
                <c:pt idx="0">
                  <c:v>1</c:v>
                </c:pt>
                <c:pt idx="1">
                  <c:v>2</c:v>
                </c:pt>
                <c:pt idx="2">
                  <c:v>3</c:v>
                </c:pt>
                <c:pt idx="3">
                  <c:v>4</c:v>
                </c:pt>
                <c:pt idx="4">
                  <c:v>6</c:v>
                </c:pt>
                <c:pt idx="5">
                  <c:v>8</c:v>
                </c:pt>
                <c:pt idx="6">
                  <c:v>12</c:v>
                </c:pt>
                <c:pt idx="7">
                  <c:v>22</c:v>
                </c:pt>
              </c:strCache>
            </c:strRef>
          </c:cat>
          <c:val>
            <c:numRef>
              <c:f>Sheet1!$B$2:$B$9</c:f>
              <c:numCache>
                <c:formatCode>General</c:formatCode>
                <c:ptCount val="8"/>
                <c:pt idx="0">
                  <c:v>1.018</c:v>
                </c:pt>
                <c:pt idx="1">
                  <c:v>1.0549999999999999</c:v>
                </c:pt>
                <c:pt idx="2">
                  <c:v>1.0549999999999999</c:v>
                </c:pt>
                <c:pt idx="3">
                  <c:v>1.0529999999999999</c:v>
                </c:pt>
                <c:pt idx="4">
                  <c:v>1.0980000000000001</c:v>
                </c:pt>
                <c:pt idx="5">
                  <c:v>1.0980000000000001</c:v>
                </c:pt>
                <c:pt idx="6">
                  <c:v>1.097</c:v>
                </c:pt>
                <c:pt idx="7">
                  <c:v>1.1100000000000001</c:v>
                </c:pt>
              </c:numCache>
            </c:numRef>
          </c:val>
          <c:smooth val="0"/>
          <c:extLst>
            <c:ext xmlns:c16="http://schemas.microsoft.com/office/drawing/2014/chart" uri="{C3380CC4-5D6E-409C-BE32-E72D297353CC}">
              <c16:uniqueId val="{00000000-13D5-4D56-A53C-18120BC75E32}"/>
            </c:ext>
          </c:extLst>
        </c:ser>
        <c:ser>
          <c:idx val="1"/>
          <c:order val="1"/>
          <c:tx>
            <c:strRef>
              <c:f>Sheet1!$C$1</c:f>
              <c:strCache>
                <c:ptCount val="1"/>
                <c:pt idx="0">
                  <c:v>Random</c:v>
                </c:pt>
              </c:strCache>
            </c:strRef>
          </c:tx>
          <c:spPr>
            <a:ln w="25400">
              <a:solidFill>
                <a:srgbClr val="6B7280"/>
              </a:solidFill>
              <a:prstDash val="dash"/>
            </a:ln>
          </c:spPr>
          <c:marker>
            <c:symbol val="circle"/>
            <c:size val="6"/>
            <c:spPr>
              <a:solidFill>
                <a:srgbClr val="6B7280"/>
              </a:solidFill>
              <a:ln>
                <a:solidFill>
                  <a:srgbClr val="6B7280"/>
                </a:solidFill>
              </a:ln>
            </c:spPr>
          </c:marker>
          <c:cat>
            <c:strRef>
              <c:f>Sheet1!$A$2:$A$9</c:f>
              <c:strCache>
                <c:ptCount val="8"/>
                <c:pt idx="0">
                  <c:v>1</c:v>
                </c:pt>
                <c:pt idx="1">
                  <c:v>2</c:v>
                </c:pt>
                <c:pt idx="2">
                  <c:v>3</c:v>
                </c:pt>
                <c:pt idx="3">
                  <c:v>4</c:v>
                </c:pt>
                <c:pt idx="4">
                  <c:v>6</c:v>
                </c:pt>
                <c:pt idx="5">
                  <c:v>8</c:v>
                </c:pt>
                <c:pt idx="6">
                  <c:v>12</c:v>
                </c:pt>
                <c:pt idx="7">
                  <c:v>22</c:v>
                </c:pt>
              </c:strCache>
            </c:strRef>
          </c:cat>
          <c:val>
            <c:numRef>
              <c:f>Sheet1!$C$2:$C$9</c:f>
              <c:numCache>
                <c:formatCode>General</c:formatCode>
                <c:ptCount val="8"/>
                <c:pt idx="0">
                  <c:v>1.0549999999999999</c:v>
                </c:pt>
                <c:pt idx="1">
                  <c:v>1.0740000000000001</c:v>
                </c:pt>
                <c:pt idx="2">
                  <c:v>1.0900000000000001</c:v>
                </c:pt>
                <c:pt idx="3">
                  <c:v>1.097</c:v>
                </c:pt>
                <c:pt idx="4">
                  <c:v>1.103</c:v>
                </c:pt>
                <c:pt idx="5">
                  <c:v>1.1060000000000001</c:v>
                </c:pt>
                <c:pt idx="6">
                  <c:v>1.109</c:v>
                </c:pt>
                <c:pt idx="7">
                  <c:v>1.1100000000000001</c:v>
                </c:pt>
              </c:numCache>
            </c:numRef>
          </c:val>
          <c:smooth val="0"/>
          <c:extLst>
            <c:ext xmlns:c16="http://schemas.microsoft.com/office/drawing/2014/chart" uri="{C3380CC4-5D6E-409C-BE32-E72D297353CC}">
              <c16:uniqueId val="{00000001-13D5-4D56-A53C-18120BC75E32}"/>
            </c:ext>
          </c:extLst>
        </c:ser>
        <c:ser>
          <c:idx val="2"/>
          <c:order val="2"/>
          <c:tx>
            <c:strRef>
              <c:f>Sheet1!$D$1</c:f>
              <c:strCache>
                <c:ptCount val="1"/>
                <c:pt idx="0">
                  <c:v>Adaptive</c:v>
                </c:pt>
              </c:strCache>
            </c:strRef>
          </c:tx>
          <c:spPr>
            <a:ln w="38100">
              <a:solidFill>
                <a:srgbClr val="1F3A5F"/>
              </a:solidFill>
              <a:prstDash val="solid"/>
            </a:ln>
          </c:spPr>
          <c:marker>
            <c:symbol val="circle"/>
            <c:size val="6"/>
            <c:spPr>
              <a:solidFill>
                <a:srgbClr val="1F3A5F"/>
              </a:solidFill>
              <a:ln>
                <a:solidFill>
                  <a:srgbClr val="1F3A5F"/>
                </a:solidFill>
              </a:ln>
            </c:spPr>
          </c:marker>
          <c:cat>
            <c:strRef>
              <c:f>Sheet1!$A$2:$A$9</c:f>
              <c:strCache>
                <c:ptCount val="8"/>
                <c:pt idx="0">
                  <c:v>1</c:v>
                </c:pt>
                <c:pt idx="1">
                  <c:v>2</c:v>
                </c:pt>
                <c:pt idx="2">
                  <c:v>3</c:v>
                </c:pt>
                <c:pt idx="3">
                  <c:v>4</c:v>
                </c:pt>
                <c:pt idx="4">
                  <c:v>6</c:v>
                </c:pt>
                <c:pt idx="5">
                  <c:v>8</c:v>
                </c:pt>
                <c:pt idx="6">
                  <c:v>12</c:v>
                </c:pt>
                <c:pt idx="7">
                  <c:v>22</c:v>
                </c:pt>
              </c:strCache>
            </c:strRef>
          </c:cat>
          <c:val>
            <c:numRef>
              <c:f>Sheet1!$D$2:$D$9</c:f>
              <c:numCache>
                <c:formatCode>General</c:formatCode>
                <c:ptCount val="8"/>
                <c:pt idx="0">
                  <c:v>1.099</c:v>
                </c:pt>
                <c:pt idx="1">
                  <c:v>1.101</c:v>
                </c:pt>
                <c:pt idx="2">
                  <c:v>1.1000000000000001</c:v>
                </c:pt>
                <c:pt idx="3">
                  <c:v>1.1100000000000001</c:v>
                </c:pt>
                <c:pt idx="4">
                  <c:v>1.1120000000000001</c:v>
                </c:pt>
                <c:pt idx="5">
                  <c:v>1.1120000000000001</c:v>
                </c:pt>
                <c:pt idx="6">
                  <c:v>1.1100000000000001</c:v>
                </c:pt>
                <c:pt idx="7">
                  <c:v>1.1100000000000001</c:v>
                </c:pt>
              </c:numCache>
            </c:numRef>
          </c:val>
          <c:smooth val="0"/>
          <c:extLst>
            <c:ext xmlns:c16="http://schemas.microsoft.com/office/drawing/2014/chart" uri="{C3380CC4-5D6E-409C-BE32-E72D297353CC}">
              <c16:uniqueId val="{00000002-13D5-4D56-A53C-18120BC75E3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en-IN" sz="1100" b="0">
                    <a:latin typeface="Arial"/>
                  </a:rPr>
                  <a:t>Search budget B</a:t>
                </a:r>
              </a:p>
            </c:rich>
          </c:tx>
          <c:overlay val="0"/>
        </c:title>
        <c:numFmt formatCode="General" sourceLinked="0"/>
        <c:majorTickMark val="out"/>
        <c:minorTickMark val="none"/>
        <c:tickLblPos val="nextTo"/>
        <c:txPr>
          <a:bodyPr/>
          <a:lstStyle/>
          <a:p>
            <a:pPr>
              <a:defRPr sz="1100"/>
            </a:pPr>
            <a:endParaRPr lang="en-US"/>
          </a:p>
        </c:txPr>
        <c:crossAx val="2140495176"/>
        <c:crosses val="autoZero"/>
        <c:auto val="1"/>
        <c:lblAlgn val="ctr"/>
        <c:lblOffset val="100"/>
        <c:noMultiLvlLbl val="0"/>
      </c:catAx>
      <c:valAx>
        <c:axId val="2140495176"/>
        <c:scaling>
          <c:orientation val="minMax"/>
          <c:max val="1.1200000000000001"/>
          <c:min val="1"/>
        </c:scaling>
        <c:delete val="0"/>
        <c:axPos val="l"/>
        <c:majorGridlines>
          <c:spPr>
            <a:ln>
              <a:solidFill>
                <a:srgbClr val="DDE1E7"/>
              </a:solidFill>
            </a:ln>
          </c:spPr>
        </c:majorGridlines>
        <c:title>
          <c:tx>
            <c:rich>
              <a:bodyPr/>
              <a:lstStyle/>
              <a:p>
                <a:r>
                  <a:rPr lang="en-IN" sz="1100" b="0">
                    <a:latin typeface="Arial"/>
                  </a:rPr>
                  <a:t>Mean holdout speedup (×)</a:t>
                </a:r>
              </a:p>
            </c:rich>
          </c:tx>
          <c:overlay val="0"/>
        </c:title>
        <c:numFmt formatCode="0.00" sourceLinked="0"/>
        <c:majorTickMark val="out"/>
        <c:minorTickMark val="none"/>
        <c:tickLblPos val="nextTo"/>
        <c:txPr>
          <a:bodyPr/>
          <a:lstStyle/>
          <a:p>
            <a:pPr>
              <a:defRPr sz="1100"/>
            </a:pPr>
            <a:endParaRPr lang="en-US"/>
          </a:p>
        </c:txPr>
        <c:crossAx val="2118791784"/>
        <c:crosses val="autoZero"/>
        <c:crossBetween val="between"/>
        <c:majorUnit val="0.02"/>
      </c:valAx>
    </c:plotArea>
    <c:legend>
      <c:legendPos val="b"/>
      <c:overlay val="0"/>
      <c:txPr>
        <a:bodyPr/>
        <a:lstStyle/>
        <a:p>
          <a:pPr>
            <a:defRPr sz="1100"/>
          </a:pPr>
          <a:endParaRPr lang="en-US"/>
        </a:p>
      </c:txPr>
    </c:legend>
    <c:plotVisOnly val="1"/>
    <c:dispBlanksAs val="gap"/>
    <c:showDLblsOverMax val="0"/>
  </c:chart>
  <c:txPr>
    <a:bodyPr/>
    <a:lstStyle/>
    <a:p>
      <a:pPr>
        <a:defRPr sz="18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7927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Opening. NOVA is one project with two separate parts. The first is a small compiler I built for a toy language called NOVA Script, so I could show every compiler stage working. The second, </a:t>
            </a:r>
            <a:r>
              <a:rPr dirty="0" err="1"/>
              <a:t>SmartPass</a:t>
            </a:r>
            <a:r>
              <a:rPr dirty="0"/>
              <a:t>, is a research tool: it does not compile C++ itself. It asks GCC to compile numerical C++ programs with different optimization flags, checks the answers, times them, and explains which flags won.</a:t>
            </a:r>
          </a:p>
          <a:p>
            <a:endParaRPr dirty="0"/>
          </a:p>
          <a:p>
            <a:r>
              <a:rPr dirty="0"/>
              <a:t>Roadmap of this talk: the problem (slide 2), the two parts (3, 4), how </a:t>
            </a:r>
            <a:r>
              <a:rPr dirty="0" err="1"/>
              <a:t>SmartPass</a:t>
            </a:r>
            <a:r>
              <a:rPr dirty="0"/>
              <a:t> chooses and tests flags (5 to 7), how correctness is checked and why fast-math is a risk (8, 9), two live-style demos (10, 11), what NOVA adds (12), status and limits (13, 14), and a glossary (15).</a:t>
            </a:r>
          </a:p>
          <a:p>
            <a:r>
              <a:rPr dirty="0"/>
              <a:t>Likely question: 'Does NOVA compile C++?' Short answer: no. GCC compiles the C++; </a:t>
            </a:r>
            <a:r>
              <a:rPr dirty="0" err="1"/>
              <a:t>SmartPass</a:t>
            </a:r>
            <a:r>
              <a:rPr dirty="0"/>
              <a:t> only chooses the flags, checks correctness, measures and records.</a:t>
            </a:r>
          </a:p>
          <a:p>
            <a:r>
              <a:rPr dirty="0"/>
              <a:t>Team, guide and date details are not in the project files and have been left off this slide; add them if your department requires them.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everyday language: GCC can make a program faster, but picking the right settings is not obvious, and a 'faster' result is only useful if the answer is still right and the speedup is repeatable.</a:t>
            </a:r>
          </a:p>
          <a:p>
            <a:endParaRPr dirty="0"/>
          </a:p>
          <a:p>
            <a:r>
              <a:rPr dirty="0"/>
              <a:t>How it works: GCC has optimization levels (-O2, -O3) and many individual flags such as -</a:t>
            </a:r>
            <a:r>
              <a:rPr dirty="0" err="1"/>
              <a:t>funroll</a:t>
            </a:r>
            <a:r>
              <a:rPr dirty="0"/>
              <a:t>-loops. The GCC manual itself says unrolling 'may or may not make it run faster', so the benefit depends on the program. Some flags (like -</a:t>
            </a:r>
            <a:r>
              <a:rPr dirty="0" err="1"/>
              <a:t>Ofast</a:t>
            </a:r>
            <a:r>
              <a:rPr dirty="0"/>
              <a:t>) can change floating-point results. And timings on a real machine vary from run to run, so one measurement proves little.</a:t>
            </a:r>
          </a:p>
          <a:p>
            <a:endParaRPr dirty="0"/>
          </a:p>
          <a:p>
            <a:r>
              <a:rPr dirty="0"/>
              <a:t>Relation to NOVA: these three questions (which flags, still correct, speedup real) are exactly what </a:t>
            </a:r>
            <a:r>
              <a:rPr dirty="0" err="1"/>
              <a:t>SmartPass</a:t>
            </a:r>
            <a:r>
              <a:rPr dirty="0"/>
              <a:t> tries to handle for a narrow case.</a:t>
            </a:r>
          </a:p>
          <a:p>
            <a:endParaRPr dirty="0"/>
          </a:p>
          <a:p>
            <a:r>
              <a:rPr dirty="0"/>
              <a:t>Likely question: 'Do developers really struggle with this?' Honest answer: we did not run a survey. The sources show the configuration space and the measurement problems exist; they do not tell us how common the struggle 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NOVA answers two different questions. The compiler answers 'how does a compiler turn a program into something it can optimize and run?'. SmartPass answers 'which GCC settings work best for this numerical program, and can we trust the answer?'.</a:t>
            </a:r>
          </a:p>
          <a:p>
            <a:endParaRPr/>
          </a:p>
          <a:p>
            <a:r>
              <a:t>How it works: both are commands of one tool, nova. The compiler reads a .nova file and shows tokens, AST, TAC, optimized TAC, or runs it. SmartPass takes a built-in C++ kernel, asks g++ to build it with chosen flags, checks output, times it and writes a record. In the measurements the two parts share no code path.</a:t>
            </a:r>
          </a:p>
          <a:p>
            <a:endParaRPr/>
          </a:p>
          <a:p>
            <a:r>
              <a:t>Relation to NOVA: keeping them separate is a design decision (D-001 in state/DECISIONS.md), so no result from one is used to claim anything about the other.</a:t>
            </a:r>
          </a:p>
          <a:p>
            <a:endParaRPr/>
          </a:p>
          <a:p>
            <a:r>
              <a:t>Likely question: 'Why two parts?' The compiler is the course-aligned learning part; SmartPass is the research question. Mixing them would blur what each one proves.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everyday language: the compiler reads a small program, understands its structure, turns it into very simple step-by-step instructions, cleans those up, and runs them.</a:t>
            </a:r>
          </a:p>
          <a:p>
            <a:endParaRPr dirty="0"/>
          </a:p>
          <a:p>
            <a:r>
              <a:rPr dirty="0"/>
              <a:t>How it works: the </a:t>
            </a:r>
            <a:r>
              <a:rPr dirty="0" err="1"/>
              <a:t>lexer</a:t>
            </a:r>
            <a:r>
              <a:rPr dirty="0"/>
              <a:t> produces tokens with line and column. The parser is recursive descent: one function per precedence level (additive, term, unary, primary), which gives correct precedence for * and / over + and -. The AST records the meaning. Semantic analysis uses a symbol table to reject undeclared and duplicate variables. TAC breaks every expression into instructions with at most one operator, for example $t1 = x * 2; that is easier to analyze than a tree. The optimizer rewrites TAC. The interpreters execute the AST or the TAC.</a:t>
            </a:r>
          </a:p>
          <a:p>
            <a:endParaRPr dirty="0"/>
          </a:p>
          <a:p>
            <a:r>
              <a:rPr dirty="0"/>
              <a:t>Relation to NOVA: every stage in the diagram exists in the source (</a:t>
            </a:r>
            <a:r>
              <a:rPr dirty="0" err="1"/>
              <a:t>src</a:t>
            </a:r>
            <a:r>
              <a:rPr dirty="0"/>
              <a:t>/lexer.cpp, parser.cpp, semantic.cpp, tac.cpp, optimizer.cpp, interp.cpp). There is no machine-code generator; programs run on the interpreters.</a:t>
            </a:r>
          </a:p>
          <a:p>
            <a:endParaRPr dirty="0"/>
          </a:p>
          <a:p>
            <a:r>
              <a:rPr dirty="0"/>
              <a:t>Likely question: 'Where is code generation?' We did not build one. The language is tiny (integers, let, assignment, print, + - * /), so the goal was front end, IR and optimization, not a native backend.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this is the educational compiler running on a tiny program. The source is NOVA Script, a small language of my own with integers, let, print and + - * /. It is not C++.</a:t>
            </a:r>
          </a:p>
          <a:p>
            <a:endParaRPr/>
          </a:p>
          <a:p>
            <a:r>
              <a:t>How to build: with CMake and MinGW GCC on Windows: cmake -S . -B build -G "MinGW Makefiles" and then cmake --build build (README.md). The program is build/nova (nova.exe on Windows). The same tool also contains SmartPass.</a:t>
            </a:r>
          </a:p>
          <a:p>
            <a:endParaRPr/>
          </a:p>
          <a:p>
            <a:r>
              <a:t>Commands, exactly as captured in docs/DEMO.md: 'nova tac examples/basic.nova' prints three-address code; 'nova run examples/basic.nova' prints 40; 'nova opt examples/optimize_demo.nova --show-all' shows each optimizer pass. Other commands: tokens, ast. The output on the slide is copied from docs/DEMO.md (generated by scripts/make_demo.sh on 2026-10-14), not retyped from memory.</a:t>
            </a:r>
          </a:p>
          <a:p>
            <a:endParaRPr/>
          </a:p>
          <a:p>
            <a:r>
              <a:t>What happened in the optimizer demo: fold evaluates 1 - 1 to 0 and 3 + 4 to 7; propagate replaces a by 4; simplify turns b + 0 into b, b - b into 0 and b * 1 into b; dead-code elimination removes assignments never used. The passes repeat until nothing changes (a fixed point, after 3 iterations here). The program prints 8 and 28 before and after.</a:t>
            </a:r>
          </a:p>
          <a:p>
            <a:endParaRPr/>
          </a:p>
          <a:p>
            <a:r>
              <a:t>Compare with C++: there are no loops or branches in NOVA Script and no machine-code backend; programs run on interpreters. The C++ appears on the next slide, where GCC, not NOVA, compiles it.</a:t>
            </a:r>
          </a:p>
          <a:p>
            <a:endParaRPr/>
          </a:p>
          <a:p>
            <a:r>
              <a:t>Likely question: 'How do you know the optimizer is safe?' It never folds a division by zero, so the runtime error still happens (nova opt examples/divzero.nova keeps $t1 = 10 / 0), and it is tested on 4000 pseudo-random programs before and after, comparing output, errors and error locations.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SmartPass cannot try every flag combination, so it tries a few, chosen with some care, and keeps a record. Each try is called a candidate: one flag combination from a fixed list. For the demonstration we allow at most four searched candidates (the budget).</a:t>
            </a:r>
          </a:p>
          <a:p>
            <a:endParaRPr/>
          </a:p>
          <a:p>
            <a:r>
              <a:t>The loop in the top row is the same for every candidate: examine the workload, select a candidate, compile with GCC, check correctness, measure, record evidence.</a:t>
            </a:r>
          </a:p>
          <a:p>
            <a:endParaRPr/>
          </a:p>
          <a:p>
            <a:r>
              <a:t>The five signals, and what is REALLY implemented (be exact in the viva):</a:t>
            </a:r>
          </a:p>
          <a:p>
            <a:r>
              <a:t>1. Source-code features: the features (size n, working-set bytes, streaming or not, reduction or not) are written per benchmark in src/tune/features.cpp and computed from the benchmark definition and n. NOVA does not read or understand arbitrary C++ source.</a:t>
            </a:r>
          </a:p>
          <a:p>
            <a:r>
              <a:t>2. Loop depth: recorded in the features (matmul 3, vector_add 2, stencil 2) but NOT used in the current scoring. Example for teaching: a matrix-vector loop has two nested levels (i outer, j inner). Deeper nesting does not mean faster code; it only describes the structure.</a:t>
            </a:r>
          </a:p>
          <a:p>
            <a:r>
              <a:t>3. Arithmetic intensity = floating-point operations divided by bytes moved. NOVA computes an estimate (flops_per_byte) from the kernel definition and n, and records it. It is not used in the current scoring.</a:t>
            </a:r>
          </a:p>
          <a:p>
            <a:r>
              <a:t>4. Memory-bandwidth demand: there is no bandwidth model and no hardware counter. The only memory signal used is the working-set size: above 4 MiB the prefetch flag is weighted up. That is an estimate of demand, never a measurement of bandwidth.</a:t>
            </a:r>
          </a:p>
          <a:p>
            <a:r>
              <a:t>5. Historical evidence: implemented. A history file (--history=FILE) stores, per benchmark, size and candidate, the log of (O2 median / candidate median) from earlier tuning runs. Similarity: same benchmark counts with weight exp(-|difference in log2 n| / 4); another benchmark counts with weight 0.25. Failures count as a loss of 0.3 in log-gain. History only changes the ORDER in which candidates are tried; it never skips the correctness check. Without a history file the adaptive strategy still runs, using the prior and the pilot feedback.</a:t>
            </a:r>
          </a:p>
          <a:p>
            <a:endParaRPr/>
          </a:p>
          <a:p>
            <a:r>
              <a:t>The score used today is: prior (streaming, reduction, working set above 4 MiB) + history + feedback from the short pilot of already-built candidates. It is a hand-written heuristic, not machine learning.</a:t>
            </a:r>
          </a:p>
          <a:p>
            <a:endParaRPr/>
          </a:p>
          <a:p>
            <a:r>
              <a:t>Likely questions: 'Does it understand my source code?' No. 'Is deeper nesting faster?' No claim. 'Where does bandwidth come in?' Only through the working-set proxy.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this is the life of ONE candidate, from being proposed to being ranked. Two things can go wrong, and both are recorded rather than hidden: the build can fail, or the program can build but give a wrong answer.</a:t>
            </a:r>
          </a:p>
          <a:p>
            <a:endParaRPr/>
          </a:p>
          <a:p>
            <a:r>
              <a:t>Stage table (what happens / what is recorded):</a:t>
            </a:r>
          </a:p>
          <a:p>
            <a:r>
              <a:t>1 Proposed: the strategy (fixed, random or adaptive) picks the next unevaluated candidate / its flag ID and position in the sequence.</a:t>
            </a:r>
          </a:p>
          <a:p>
            <a:r>
              <a:t>2 Budget checked: the search stops when B searched candidates have been used / the evaluation count.</a:t>
            </a:r>
          </a:p>
          <a:p>
            <a:r>
              <a:t>3 Compilation attempted: g++ with the fixed flags plus the candidate's whitelisted flags, passed as an argument list, never a shell string / build status, binary size, build log. A failure becomes BUILD_FAILED.</a:t>
            </a:r>
          </a:p>
          <a:p>
            <a:r>
              <a:t>4 Correctness validation: one validation run, discarded for timing, is compared with the independent reference / pass or the list of failed checks. A failure becomes CORRECTNESS_FAILED and its timing samples are cleared.</a:t>
            </a:r>
          </a:p>
          <a:p>
            <a:r>
              <a:t>5 Performance measurement: 2 warm-up runs, then 15 timed rounds, with all candidates interleaved and the CPU pinned / raw samples, median, IQR.</a:t>
            </a:r>
          </a:p>
          <a:p>
            <a:r>
              <a:t>6 Result recorded: manifest.json, results.json/csv, raw_timings.csv, logs.</a:t>
            </a:r>
          </a:p>
          <a:p>
            <a:r>
              <a:t>7 Compared: eligible candidates (built, correct, fully timed, binary within 2.0 times the -O2 binary) are ranked by median; rank 1 wins. REJECTED_BY_POLICY marks a too-large binary.</a:t>
            </a:r>
          </a:p>
          <a:p>
            <a:r>
              <a:t>8 Next or stop: back to stage 1 while budget remains; otherwise stop and explain.</a:t>
            </a:r>
          </a:p>
          <a:p>
            <a:endParaRPr/>
          </a:p>
          <a:p>
            <a:r>
              <a:t>The anchor is the plain -O2 baseline. It is built first and does not use the budget. Adaptive search compares each new candidate with it in the short pilot, history log-gains are measured against it, and the binary-size limit is relative to it.</a:t>
            </a:r>
          </a:p>
          <a:p>
            <a:endParaRPr/>
          </a:p>
          <a:p>
            <a:r>
              <a:t>Order in the code, for accuracy: first the two baselines and then the searched candidates are BUILT one by one (adaptive: after each build a short pilot of interleaved anchor and candidate rounds, 5 by default, updates the scores). Only after the search ends do validation and the 15-round timing run for all built candidates together, interleaved. The slide shows the lifecycle of one candidate, which is the easiest way to explain it.</a:t>
            </a:r>
          </a:p>
          <a:p>
            <a:endParaRPr/>
          </a:p>
          <a:p>
            <a:r>
              <a:t>Likely question: 'What if the fastest candidate gives a wrong answer?' It is marked CORRECTNESS_FAILED, kept in the record with the reason, and can never be ranked.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strict floating-point rules make the compiler do the arithmetic in exactly the order you wrote. GCC's -ffast-math (spelled with two f's, not '-fastmath') tells it to relax those rules so it can reorder and simplify the arithmetic, which often makes loops faster, but the last digits of the answer can change.</a:t>
            </a:r>
          </a:p>
          <a:p>
            <a:endParaRPr/>
          </a:p>
          <a:p>
            <a:r>
              <a:t>Reassociation. Real-number addition is associative, floating-point addition is not, because every addition rounds. With a = 1e16, b = -1e16, c = 1.0 in double precision: (a + b) + c = 1.0, but a + (b + c) = 0.0, because b + c rounds back to -1e16 (the spacing of doubles near 1e16 is 2). -ffast-math (through -fassociative-math, part of -funsafe-math-optimizations) allows GCC to pick either order, which also lets it vectorize a sum, since a vector sum adds in a different order.</a:t>
            </a:r>
          </a:p>
          <a:p>
            <a:endParaRPr/>
          </a:p>
          <a:p>
            <a:r>
              <a:t>NaN and infinity. -ffast-math includes -ffinite-math-only: the compiler may assume values are never NaN or infinity, so a test such as x != x (is it NaN?) can be optimized away and an overflow may not be reported.</a:t>
            </a:r>
          </a:p>
          <a:p>
            <a:endParaRPr/>
          </a:p>
          <a:p>
            <a:r>
              <a:t>Signed zero. -fno-signed-zeros lets -0.0 and +0.0 be treated as the same; that matters for functions like 1/x or atan2 that behave differently at -0.0.</a:t>
            </a:r>
          </a:p>
          <a:p>
            <a:endParaRPr/>
          </a:p>
          <a:p>
            <a:r>
              <a:t>Reproducibility. With strict semantics, the same source gives the same bits on any IEEE-conforming build. With fast-math the result can depend on compiler version, flags and target, so two builds of one program can disagree in the last digits.</a:t>
            </a:r>
          </a:p>
          <a:p>
            <a:endParaRPr/>
          </a:p>
          <a:p>
            <a:r>
              <a:t>Why some fields need strict semantics. Financial software must match audited, legally defined rounding and must reproduce the same figure later. Aerospace and space software is verified against specified numerical behaviour and relies on exceptional values (NaN, infinity) being detected, not assumed away. That does NOT mean every use of -ffast-math is unsafe: many graphics, game and simulation codes accept small differences on purpose.</a:t>
            </a:r>
          </a:p>
          <a:p>
            <a:endParaRPr/>
          </a:p>
          <a:p>
            <a:r>
              <a:t>Relation to NOVA. -ffast-math is NOT in the SmartPass whitelist; docs/smartpass.md says a candidate such as '-O2 -ffast-math' is refused with the flag named. The only fast-math-style run is -Ofast in a separate disclosure experiment (V0.6), kept apart from the strict comparisons. In that experiment -Ofast passed the five-check gate on all three kernels. So passing the gate means 'matched within 1e-9 relative on these statistics', not 'safe for a high-stakes program'.</a:t>
            </a:r>
          </a:p>
          <a:p>
            <a:endParaRPr/>
          </a:p>
          <a:p>
            <a:r>
              <a:t>Say clearly: NOVA does not advise using -ffast-math in safety-critical systems without domain-specific validation.</a:t>
            </a:r>
          </a:p>
          <a:p>
            <a:endParaRPr/>
          </a:p>
          <a:p>
            <a:r>
              <a:t>Likely question: 'Can SmartPass choose -ffast-math?' No, it cannot reach GCC unless it is whitelisted.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now the research part, on a real numerical C++ kernel: stencil, a smoothing loop that updates each cell from its neighbours (benchmarks/kernels/stencil.cpp). GCC compiles it; SmartPass only chooses flags, checks, times and records.</a:t>
            </a:r>
          </a:p>
          <a:p>
            <a:endParaRPr/>
          </a:p>
          <a:p>
            <a:r>
              <a:t>Step by step.</a:t>
            </a:r>
          </a:p>
          <a:p>
            <a:r>
              <a:t>1. Baseline: GCC is run with the fixed flags -std=c++17 -msse2 -mfpmath=sse plus -O2 (and, separately, -O3). These two baselines are built in every experiment. The fixed flags force SSE2 arithmetic because the 32-bit MinGW compiler would otherwise use x87, which would make results incomparable across optimization levels.</a:t>
            </a:r>
          </a:p>
          <a:p>
            <a:r>
              <a:t>2. Reference: there is no reference executable. The expected five statistics are computed by an independent long-double calculation inside the harness.</a:t>
            </a:r>
          </a:p>
          <a:p>
            <a:r>
              <a:t>3. Tune: 'nova tune stencil --budget=4 --strategy=adaptive --history=FILE --record-history'. Options verified against the tune usage text: --budget is required; --strategy is fixed, random or adaptive (default random); --history and --record-history are adaptive-only; --record-history needs --history.</a:t>
            </a:r>
          </a:p>
          <a:p>
            <a:r>
              <a:t>4. Each candidate is compiled, validated against the reference, then timed (2 warm-ups and 15 interleaved rounds).</a:t>
            </a:r>
          </a:p>
          <a:p>
            <a:r>
              <a:t>5. 'nova explain &lt;results dir&gt;' prints every candidate, its state, the failure reason if any, and the winner. Raw evidence is in the results folder: manifest.json (flags, budget accounting, sequence, whitelist, environment), results.json and results.csv, raw_timings.csv and logs/. With --record-history, the tuning-role run adds entries (log of O2 median / candidate median) to the history file for later runs.</a:t>
            </a:r>
          </a:p>
          <a:p>
            <a:endParaRPr/>
          </a:p>
          <a:p>
            <a:r>
              <a:t>IMPORTANT, what the table shows: it is the saved real run V0.7-stencil-random-s1-B4 (strategy RANDOM, seed 1, budget 4, tuning size n = 200,000, 15 timed rounds). The repository does not contain a saved adaptive B = 4 run, so the adaptive command on the slide is the supported syntax, not a captured result. Same source, compiler, machine and input for every row. The winner was O3+unroll+native with a ratio of medians of 1.317 against the better baseline (-O3), and the interquartile ranges do not overlap. That is selection on the tuning size only. It is NOT evidence for other sizes (see the holdout study on slide 12). Tuning overhead: 11.49 s wall time for 6 builds plus timing.</a:t>
            </a:r>
          </a:p>
          <a:p>
            <a:endParaRPr/>
          </a:p>
          <a:p>
            <a:r>
              <a:t>How to read the winner: lowest median among ELIGIBLE candidates (built, correct, fully timed, binary within 2.0 times the -O2 binary). -march=native makes code for the build machine, so it is not portable.</a:t>
            </a:r>
          </a:p>
          <a:p>
            <a:endParaRPr/>
          </a:p>
          <a:p>
            <a:r>
              <a:t>Likely question: 'Is SmartPass a new compiler?' No. GCC produces every binary; SmartPass is an experiment controller.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everyday language: NOVA </a:t>
            </a:r>
            <a:r>
              <a:rPr dirty="0" err="1"/>
              <a:t>SmartPass</a:t>
            </a:r>
            <a:r>
              <a:rPr dirty="0"/>
              <a:t> makes compiler-flag tuning more controlled and explainable. It does not make GCC faster by itself.</a:t>
            </a:r>
          </a:p>
          <a:p>
            <a:endParaRPr dirty="0"/>
          </a:p>
          <a:p>
            <a:r>
              <a:rPr dirty="0"/>
              <a:t>The five reasons, each tied to something that exists in the code: (1) the budget bounds the experiment: at most B searched candidates plus two baselines, with failures counted; (2) workload features prioritize candidates: the prior </a:t>
            </a:r>
            <a:r>
              <a:rPr dirty="0" err="1"/>
              <a:t>favours</a:t>
            </a:r>
            <a:r>
              <a:rPr dirty="0"/>
              <a:t> vectorization and unrolling for streaming loops and prefetching for large working sets, and down-weights vectorization for reductions under strict floating point; (3) history helps when a history file is supplied, otherwise the other two signals still work; (4) numerical validation rejects a candidate whose answer differs, however fast; (5) recorded evidence (flags, raw timings, failures, environment, nova explain) shows why each candidate was accepted or rejected.</a:t>
            </a:r>
          </a:p>
          <a:p>
            <a:endParaRPr dirty="0"/>
          </a:p>
          <a:p>
            <a:r>
              <a:rPr dirty="0"/>
              <a:t>Labels to keep straight. 'Proposed contribution' is the design: the combination of those five pieces. 'Demonstrated so far' is only what the measurements show: in the replay study, adaptive search was ahead of random at small budgets by a small margin (B = 4 on holdout sizes: adaptive 1.0xx vs random 1.0xx, values on the chart), the gap shrinks as B grows and everything ties at B = 22, and the individual signals (descriptors, history, feedback) were inconclusive. The study replays saved measurements on one machine with GCC 6.3.0 and three kernels. In real end-to-end runs adaptive spent more tuning time because of its pilot runs.</a:t>
            </a:r>
          </a:p>
          <a:p>
            <a:endParaRPr dirty="0"/>
          </a:p>
          <a:p>
            <a:r>
              <a:rPr dirty="0"/>
              <a:t>Likely question: 'What is the benefit in one sentence?' A fixed, small number of tries that are checked for correctness, measured repeatedly, and fully recorded, so a reader can see why a configuration was chosen.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this is the honest status. The project tracks ten phases from V0.1 to V1.0, and each one is marked complete only when its required commands were actually run and the logs saved.</a:t>
            </a:r>
          </a:p>
          <a:p>
            <a:endParaRPr/>
          </a:p>
          <a:p>
            <a:r>
              <a:t>How it works: state/ROADMAP_STATUS.md lists each phase with its evidence; state/evidence holds the logs; the final gate (docs/RELEASE.md) re-ran the full test suite: 49 of 49 tests pass, including the report tests. The release is scoped to the verified configuration: Windows 11, CMake, MinGW GCC 6.3.0.</a:t>
            </a:r>
          </a:p>
          <a:p>
            <a:endParaRPr/>
          </a:p>
          <a:p>
            <a:r>
              <a:t>What is not finished: the Linux/POSIX process runner is written but has never been compiled or run, and AddressSanitizer or UBSan could not be used on this old toolchain. As a substitute the whole test suite was run with checked standard-library containers, which found and fixed one real bug.</a:t>
            </a:r>
          </a:p>
          <a:p>
            <a:endParaRPr/>
          </a:p>
          <a:p>
            <a:r>
              <a:t>Likely question: 'Why is the status RELEASED and not just COMPLETE?' Because the release claim is limited to what was verified; other platforms and compilers are explicitly outside the claim.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the results are real but narrow, and the report says so itself.</a:t>
            </a:r>
          </a:p>
          <a:p>
            <a:endParaRPr/>
          </a:p>
          <a:p>
            <a:r>
              <a:t>Limitations, one by one. One machine and an old 32-bit GCC 6.3.0: newer compilers may behave differently. Three small kernels (12 workloads): not representative of real programs. The searchable space has only 22 configurations, so a small budget already covers a lot of it and everything ties at B = 22. Timing noise: baselines had a median spread of 2.1 percent and at most 7.2 percent, so smaller differences are inconclusive. The correctness check uses five output statistics, not every element. Adaptive search costs extra tuning time. The adaptive priors were written after seeing earlier timings of the same kernels. The scoring uses only part of the workload description: loop depth and arithmetic intensity are recorded but not scored, and there is no bandwidth model. Source features are registered per kernel, not extracted from arbitrary C++.</a:t>
            </a:r>
          </a:p>
          <a:p>
            <a:endParaRPr/>
          </a:p>
          <a:p>
            <a:r>
              <a:t>Future scope is only a plan, not functionality: test on Linux and newer GCC, add sanitizers, more kernels and a bigger flag space, use loop depth and arithmetic intensity in scoring, compare all output elements where practical, and compare against an established tuner.</a:t>
            </a:r>
          </a:p>
          <a:p>
            <a:endParaRPr/>
          </a:p>
          <a:p>
            <a:r>
              <a:t>Conclusion in plain words: NOVA keeps two questions apart. The compiler shows how a compiler is built and how safe optimizations work. SmartPass shows how to compare compiler settings carefully: a bounded budget, a correctness gate, repeated measurements, saved raw data and held-out sizes. In the measured setting adaptive search was slightly ahead of random at small budgets. We cannot say NOVA is faster than GCC or that the result holds on other machines or programs.</a:t>
            </a:r>
          </a:p>
          <a:p>
            <a:endParaRPr/>
          </a:p>
          <a:p>
            <a:r>
              <a:t>References [1] to [5] are the sources behind claims on the slides; the full list with links is in NOVA_Slide_Content.md. Souper and egg are related work only; NOVA does not use them. The OpenTuner venue details were only partly re-verified (state/evidence/V0.9/10_references_check.md); check them before final submission.</a:t>
            </a:r>
          </a:p>
          <a:p>
            <a:endParaRPr/>
          </a:p>
          <a:p>
            <a:r>
              <a:t>Likely question: 'What would you do first with more time?' Run the same study on a newer GCC and a second machine, because that tests whether the conclusions depend on this setup.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Use this slide to answer 'what do you mean by ...?' in the viva. The definitions follow the code, not a general textbook.</a:t>
            </a:r>
          </a:p>
          <a:p>
            <a:endParaRPr lang="en-IN"/>
          </a:p>
          <a:p>
            <a:r>
              <a:t>Workload</a:t>
            </a:r>
            <a:r>
              <a:rPr dirty="0"/>
              <a:t>: a kernel plus its input size (stencil, n = 200,000). Candidate: one flag combination from the closed whitelist (-O2, -O3, -</a:t>
            </a:r>
            <a:r>
              <a:rPr dirty="0" err="1"/>
              <a:t>funroll</a:t>
            </a:r>
            <a:r>
              <a:rPr dirty="0"/>
              <a:t>-loops, -</a:t>
            </a:r>
            <a:r>
              <a:rPr dirty="0" err="1"/>
              <a:t>ftree</a:t>
            </a:r>
            <a:r>
              <a:rPr dirty="0"/>
              <a:t>-vectorize, -</a:t>
            </a:r>
            <a:r>
              <a:rPr dirty="0" err="1"/>
              <a:t>fprefetch</a:t>
            </a:r>
            <a:r>
              <a:rPr dirty="0"/>
              <a:t>-loop-arrays, -march=native; exactly one -O level, no duplicates). Flag: one option given to GCC. Binary: the executable GCC produced for one candidate. Budget: the number of searched candidates that may be built; baselines are extra. Adaptive search: next candidate chosen by prior + history + feedback. Accounting rules: every searched candidate that is selected and built counts, including failures; baselines do not; no retries; invalid flags are refused before building. Correctness gate: the five statistics must match the reference within the tolerance. Tolerance: |actual - expected| &lt;= 1e-9 * max(1, |expected|). Arithmetic intensity: floating-point operations per byte moved. Tuning overhead: wall-clock time of the whole search (11.49 s for the saved stencil B = 4 run). Anchor: in the code, the plain -O2 baseline; it is the reference point for the pilot comparison, the history log-gains (log of anchor median over candidate median) and the binary-size limit.</a:t>
            </a:r>
          </a:p>
          <a:p>
            <a:endParaRPr dirty="0"/>
          </a:p>
          <a:p>
            <a:r>
              <a:rPr dirty="0"/>
              <a:t>'Unaccounted anchor' is NOT a term defined anywhere in the project files, code or documents. The closest wording is 'uncounted anchor baselines' in docs/NOVA_NotebookLM_Master_Source.md: the -O2 and -O3 baselines that are always evaluated and not counted against the budget. The slide says so rather than inventing a definition. If your guide or the original brief meant something else by it, the author needs to supply that definition.</a:t>
            </a:r>
          </a:p>
          <a:p>
            <a:endParaRPr dirty="0"/>
          </a:p>
          <a:p>
            <a:r>
              <a:rPr dirty="0"/>
              <a:t>Likely question: 'Is the budget counted in builds or in measurements?' Searched candidates built (so failures count); B = 4 means 4 searched builds plus 2 baseline builds.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640" y="914400"/>
            <a:ext cx="10607040" cy="2103120"/>
          </a:xfrm>
        </p:spPr>
        <p:txBody>
          <a:bodyPr wrap="square" lIns="45720" anchor="t"/>
          <a:lstStyle/>
          <a:p>
            <a:pPr algn="l"/>
            <a:r>
              <a:rPr sz="3800" b="1">
                <a:solidFill>
                  <a:srgbClr val="1F3A5F"/>
                </a:solidFill>
                <a:latin typeface="Arial"/>
              </a:rPr>
              <a:t>NOVA: An Explainable, Workload-Aware Compiler Optimization Framework for Numerical Programs</a:t>
            </a:r>
          </a:p>
        </p:txBody>
      </p:sp>
      <p:sp>
        <p:nvSpPr>
          <p:cNvPr id="3" name="Subtitle 2"/>
          <p:cNvSpPr>
            <a:spLocks noGrp="1"/>
          </p:cNvSpPr>
          <p:nvPr>
            <p:ph type="subTitle" idx="1"/>
          </p:nvPr>
        </p:nvSpPr>
        <p:spPr>
          <a:xfrm>
            <a:off x="548640" y="3154680"/>
            <a:ext cx="10607040" cy="822960"/>
          </a:xfrm>
        </p:spPr>
        <p:txBody>
          <a:bodyPr wrap="square" lIns="45720" tIns="36576" rIns="45720" bIns="36576"/>
          <a:lstStyle/>
          <a:p>
            <a:pPr algn="l">
              <a:spcAft>
                <a:spcPts val="600"/>
              </a:spcAft>
            </a:pPr>
            <a:r>
              <a:rPr sz="1800" b="0" i="0" dirty="0">
                <a:solidFill>
                  <a:srgbClr val="1A1A1A"/>
                </a:solidFill>
                <a:latin typeface="Arial"/>
              </a:rPr>
              <a:t>Two parts: </a:t>
            </a:r>
            <a:r>
              <a:rPr sz="1800" b="1" i="0" dirty="0">
                <a:solidFill>
                  <a:srgbClr val="1A1A1A"/>
                </a:solidFill>
                <a:latin typeface="Arial"/>
              </a:rPr>
              <a:t>NOVA Compiler</a:t>
            </a:r>
            <a:r>
              <a:rPr sz="1800" b="0" i="0" dirty="0">
                <a:solidFill>
                  <a:srgbClr val="1A1A1A"/>
                </a:solidFill>
                <a:latin typeface="Arial"/>
              </a:rPr>
              <a:t> (</a:t>
            </a:r>
            <a:r>
              <a:rPr lang="en-IN" sz="1800" b="0" i="0" dirty="0">
                <a:solidFill>
                  <a:srgbClr val="1A1A1A"/>
                </a:solidFill>
                <a:latin typeface="Arial"/>
              </a:rPr>
              <a:t>C</a:t>
            </a:r>
            <a:r>
              <a:rPr sz="1800" b="0" i="0" dirty="0" err="1">
                <a:solidFill>
                  <a:srgbClr val="1A1A1A"/>
                </a:solidFill>
                <a:latin typeface="Arial"/>
              </a:rPr>
              <a:t>ompiler</a:t>
            </a:r>
            <a:r>
              <a:rPr sz="1800" b="0" i="0" dirty="0">
                <a:solidFill>
                  <a:srgbClr val="1A1A1A"/>
                </a:solidFill>
                <a:latin typeface="Arial"/>
              </a:rPr>
              <a:t> for NOVA Script) and </a:t>
            </a:r>
            <a:r>
              <a:rPr sz="1800" b="1" i="0" dirty="0">
                <a:solidFill>
                  <a:srgbClr val="1A1A1A"/>
                </a:solidFill>
                <a:latin typeface="Arial"/>
              </a:rPr>
              <a:t>NOVA </a:t>
            </a:r>
            <a:r>
              <a:rPr sz="1800" b="1" i="0" dirty="0" err="1">
                <a:solidFill>
                  <a:srgbClr val="1A1A1A"/>
                </a:solidFill>
                <a:latin typeface="Arial"/>
              </a:rPr>
              <a:t>SmartPass</a:t>
            </a:r>
            <a:r>
              <a:rPr sz="1800" b="0" i="0" dirty="0">
                <a:solidFill>
                  <a:srgbClr val="1A1A1A"/>
                </a:solidFill>
                <a:latin typeface="Arial"/>
              </a:rPr>
              <a:t> (</a:t>
            </a:r>
            <a:r>
              <a:rPr lang="en-IN" sz="1800" b="0" i="0" dirty="0">
                <a:solidFill>
                  <a:srgbClr val="1A1A1A"/>
                </a:solidFill>
                <a:latin typeface="Arial"/>
              </a:rPr>
              <a:t>T</a:t>
            </a:r>
            <a:r>
              <a:rPr sz="1800" b="0" i="0" dirty="0" err="1">
                <a:solidFill>
                  <a:srgbClr val="1A1A1A"/>
                </a:solidFill>
                <a:latin typeface="Arial"/>
              </a:rPr>
              <a:t>uning</a:t>
            </a:r>
            <a:r>
              <a:rPr sz="1800" b="0" i="0" dirty="0">
                <a:solidFill>
                  <a:srgbClr val="1A1A1A"/>
                </a:solidFill>
                <a:latin typeface="Arial"/>
              </a:rPr>
              <a:t> GCC flags for numerical C++ kernels)</a:t>
            </a:r>
          </a:p>
        </p:txBody>
      </p:sp>
      <p:sp>
        <p:nvSpPr>
          <p:cNvPr id="4" name="Course details"/>
          <p:cNvSpPr txBox="1"/>
          <p:nvPr/>
        </p:nvSpPr>
        <p:spPr>
          <a:xfrm>
            <a:off x="548640" y="4343400"/>
            <a:ext cx="8686800" cy="548640"/>
          </a:xfrm>
          <a:prstGeom prst="rect">
            <a:avLst/>
          </a:prstGeom>
          <a:noFill/>
        </p:spPr>
        <p:txBody>
          <a:bodyPr wrap="square" lIns="45720" tIns="36576" rIns="45720" bIns="36576">
            <a:spAutoFit/>
          </a:bodyPr>
          <a:lstStyle/>
          <a:p>
            <a:pPr algn="l">
              <a:spcAft>
                <a:spcPts val="500"/>
              </a:spcAft>
            </a:pPr>
            <a:r>
              <a:rPr sz="1600" b="0" i="0" dirty="0">
                <a:solidFill>
                  <a:srgbClr val="5A6270"/>
                </a:solidFill>
                <a:latin typeface="Arial"/>
              </a:rPr>
              <a:t>Course: Compiler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Problem statement</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2 / 15</a:t>
            </a:r>
          </a:p>
        </p:txBody>
      </p:sp>
      <p:sp>
        <p:nvSpPr>
          <p:cNvPr id="5" name="Card 1"/>
          <p:cNvSpPr/>
          <p:nvPr/>
        </p:nvSpPr>
        <p:spPr>
          <a:xfrm>
            <a:off x="548640" y="1371600"/>
            <a:ext cx="3547872" cy="3657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640080" y="1463040"/>
            <a:ext cx="3364991" cy="45720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1. Which flags?</a:t>
            </a:r>
          </a:p>
        </p:txBody>
      </p:sp>
      <p:sp>
        <p:nvSpPr>
          <p:cNvPr id="7" name="TextBox 6"/>
          <p:cNvSpPr txBox="1"/>
          <p:nvPr/>
        </p:nvSpPr>
        <p:spPr>
          <a:xfrm>
            <a:off x="640080" y="2011680"/>
            <a:ext cx="3364991" cy="2926080"/>
          </a:xfrm>
          <a:prstGeom prst="rect">
            <a:avLst/>
          </a:prstGeom>
          <a:noFill/>
        </p:spPr>
        <p:txBody>
          <a:bodyPr wrap="square" lIns="45720" tIns="36576" rIns="45720" bIns="36576">
            <a:spAutoFit/>
          </a:bodyPr>
          <a:lstStyle/>
          <a:p>
            <a:pPr marL="201168" indent="-201168" algn="l">
              <a:spcAft>
                <a:spcPts val="900"/>
              </a:spcAft>
              <a:buChar char="•"/>
            </a:pPr>
            <a:r>
              <a:rPr sz="1600" b="0" i="0">
                <a:solidFill>
                  <a:srgbClr val="1A1A1A"/>
                </a:solidFill>
                <a:latin typeface="Courier New"/>
              </a:rPr>
              <a:t>-O2</a:t>
            </a:r>
            <a:r>
              <a:rPr sz="1600" b="0" i="0">
                <a:solidFill>
                  <a:srgbClr val="1A1A1A"/>
                </a:solidFill>
                <a:latin typeface="Arial"/>
              </a:rPr>
              <a:t> and </a:t>
            </a:r>
            <a:r>
              <a:rPr sz="1600" b="0" i="0">
                <a:solidFill>
                  <a:srgbClr val="1A1A1A"/>
                </a:solidFill>
                <a:latin typeface="Courier New"/>
              </a:rPr>
              <a:t>-O3</a:t>
            </a:r>
            <a:r>
              <a:rPr sz="1600" b="0" i="0">
                <a:solidFill>
                  <a:srgbClr val="1A1A1A"/>
                </a:solidFill>
                <a:latin typeface="Arial"/>
              </a:rPr>
              <a:t> are only two of many GCC optimization flags.</a:t>
            </a:r>
          </a:p>
          <a:p>
            <a:pPr marL="201168" indent="-201168" algn="l">
              <a:spcAft>
                <a:spcPts val="900"/>
              </a:spcAft>
              <a:buChar char="•"/>
            </a:pPr>
            <a:r>
              <a:rPr sz="1600" b="0" i="0">
                <a:solidFill>
                  <a:srgbClr val="1A1A1A"/>
                </a:solidFill>
                <a:latin typeface="Arial"/>
              </a:rPr>
              <a:t>Their effect depends on the program; for loop unrolling the manual says it “may or may not make it run faster” [1].</a:t>
            </a:r>
          </a:p>
          <a:p>
            <a:pPr marL="201168" indent="-201168" algn="l">
              <a:spcAft>
                <a:spcPts val="900"/>
              </a:spcAft>
              <a:buChar char="•"/>
            </a:pPr>
            <a:r>
              <a:rPr sz="1600" b="0" i="0">
                <a:solidFill>
                  <a:srgbClr val="1A1A1A"/>
                </a:solidFill>
                <a:latin typeface="Arial"/>
              </a:rPr>
              <a:t>Every candidate costs one compile and one run to test.</a:t>
            </a:r>
          </a:p>
        </p:txBody>
      </p:sp>
      <p:sp>
        <p:nvSpPr>
          <p:cNvPr id="8" name="Card 2"/>
          <p:cNvSpPr/>
          <p:nvPr/>
        </p:nvSpPr>
        <p:spPr>
          <a:xfrm>
            <a:off x="4320540" y="1371600"/>
            <a:ext cx="3547872" cy="3657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4411979" y="1463040"/>
            <a:ext cx="3364991" cy="45720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2. Still correct?</a:t>
            </a:r>
          </a:p>
        </p:txBody>
      </p:sp>
      <p:sp>
        <p:nvSpPr>
          <p:cNvPr id="10" name="TextBox 9"/>
          <p:cNvSpPr txBox="1"/>
          <p:nvPr/>
        </p:nvSpPr>
        <p:spPr>
          <a:xfrm>
            <a:off x="4411979" y="2011680"/>
            <a:ext cx="3364991" cy="2926080"/>
          </a:xfrm>
          <a:prstGeom prst="rect">
            <a:avLst/>
          </a:prstGeom>
          <a:noFill/>
        </p:spPr>
        <p:txBody>
          <a:bodyPr wrap="square" lIns="45720" tIns="36576" rIns="45720" bIns="36576">
            <a:spAutoFit/>
          </a:bodyPr>
          <a:lstStyle/>
          <a:p>
            <a:pPr marL="201168" indent="-201168" algn="l">
              <a:spcAft>
                <a:spcPts val="900"/>
              </a:spcAft>
              <a:buChar char="•"/>
            </a:pPr>
            <a:r>
              <a:rPr sz="1600" b="0" i="0">
                <a:solidFill>
                  <a:srgbClr val="1A1A1A"/>
                </a:solidFill>
                <a:latin typeface="Arial"/>
              </a:rPr>
              <a:t>A faster binary is useless if its answer changes.</a:t>
            </a:r>
          </a:p>
          <a:p>
            <a:pPr marL="201168" indent="-201168" algn="l">
              <a:spcAft>
                <a:spcPts val="900"/>
              </a:spcAft>
              <a:buChar char="•"/>
            </a:pPr>
            <a:r>
              <a:rPr sz="1600" b="0" i="0">
                <a:solidFill>
                  <a:srgbClr val="1A1A1A"/>
                </a:solidFill>
                <a:latin typeface="Courier New"/>
              </a:rPr>
              <a:t>-Ofast</a:t>
            </a:r>
            <a:r>
              <a:rPr sz="1600" b="0" i="0">
                <a:solidFill>
                  <a:srgbClr val="1A1A1A"/>
                </a:solidFill>
                <a:latin typeface="Arial"/>
              </a:rPr>
              <a:t> enables transformations “not valid for all standard-compliant programs” [1].</a:t>
            </a:r>
          </a:p>
          <a:p>
            <a:pPr marL="201168" indent="-201168" algn="l">
              <a:spcAft>
                <a:spcPts val="900"/>
              </a:spcAft>
              <a:buChar char="•"/>
            </a:pPr>
            <a:r>
              <a:rPr sz="1600" b="0" i="0">
                <a:solidFill>
                  <a:srgbClr val="1A1A1A"/>
                </a:solidFill>
                <a:latin typeface="Arial"/>
              </a:rPr>
              <a:t>So each candidate must be checked against a reference.</a:t>
            </a:r>
          </a:p>
        </p:txBody>
      </p:sp>
      <p:sp>
        <p:nvSpPr>
          <p:cNvPr id="11" name="Card 3"/>
          <p:cNvSpPr/>
          <p:nvPr/>
        </p:nvSpPr>
        <p:spPr>
          <a:xfrm>
            <a:off x="8092440" y="1371600"/>
            <a:ext cx="3547872" cy="3657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8183879" y="1463040"/>
            <a:ext cx="3364991" cy="45720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3. Speedup real?</a:t>
            </a:r>
          </a:p>
        </p:txBody>
      </p:sp>
      <p:sp>
        <p:nvSpPr>
          <p:cNvPr id="13" name="TextBox 12"/>
          <p:cNvSpPr txBox="1"/>
          <p:nvPr/>
        </p:nvSpPr>
        <p:spPr>
          <a:xfrm>
            <a:off x="8183879" y="2011680"/>
            <a:ext cx="3364991" cy="2926080"/>
          </a:xfrm>
          <a:prstGeom prst="rect">
            <a:avLst/>
          </a:prstGeom>
          <a:noFill/>
        </p:spPr>
        <p:txBody>
          <a:bodyPr wrap="square" lIns="45720" tIns="36576" rIns="45720" bIns="36576">
            <a:spAutoFit/>
          </a:bodyPr>
          <a:lstStyle/>
          <a:p>
            <a:pPr marL="201168" indent="-201168" algn="l">
              <a:spcAft>
                <a:spcPts val="900"/>
              </a:spcAft>
              <a:buChar char="•"/>
            </a:pPr>
            <a:r>
              <a:rPr sz="1600" b="0" i="0">
                <a:solidFill>
                  <a:srgbClr val="1A1A1A"/>
                </a:solidFill>
                <a:latin typeface="Arial"/>
              </a:rPr>
              <a:t>Run times vary: on our machine the baseline spread (IQR) reached about 7% pinned and about 25% unpinned.</a:t>
            </a:r>
          </a:p>
          <a:p>
            <a:pPr marL="201168" indent="-201168" algn="l">
              <a:spcAft>
                <a:spcPts val="900"/>
              </a:spcAft>
              <a:buChar char="•"/>
            </a:pPr>
            <a:r>
              <a:rPr sz="1600" b="0" i="0">
                <a:solidFill>
                  <a:srgbClr val="1A1A1A"/>
                </a:solidFill>
                <a:latin typeface="Arial"/>
              </a:rPr>
              <a:t>So we need repeated runs, medians and saved raw samples [3, 4].</a:t>
            </a:r>
          </a:p>
          <a:p>
            <a:pPr marL="201168" indent="-201168" algn="l">
              <a:spcAft>
                <a:spcPts val="900"/>
              </a:spcAft>
              <a:buChar char="•"/>
            </a:pPr>
            <a:r>
              <a:rPr sz="1600" b="0" i="0">
                <a:solidFill>
                  <a:srgbClr val="1A1A1A"/>
                </a:solidFill>
                <a:latin typeface="Arial"/>
              </a:rPr>
              <a:t>A choice tuned on one input size may not hold on others.</a:t>
            </a:r>
          </a:p>
        </p:txBody>
      </p:sp>
      <p:sp>
        <p:nvSpPr>
          <p:cNvPr id="14" name="TextBox 13"/>
          <p:cNvSpPr txBox="1"/>
          <p:nvPr/>
        </p:nvSpPr>
        <p:spPr>
          <a:xfrm>
            <a:off x="548640" y="5257800"/>
            <a:ext cx="11091672" cy="822960"/>
          </a:xfrm>
          <a:prstGeom prst="rect">
            <a:avLst/>
          </a:prstGeom>
          <a:noFill/>
        </p:spPr>
        <p:txBody>
          <a:bodyPr wrap="square" lIns="45720" tIns="36576" rIns="45720" bIns="36576">
            <a:spAutoFit/>
          </a:bodyPr>
          <a:lstStyle/>
          <a:p>
            <a:pPr algn="l">
              <a:spcAft>
                <a:spcPts val="600"/>
              </a:spcAft>
            </a:pPr>
            <a:r>
              <a:rPr sz="1500" b="1" i="0">
                <a:solidFill>
                  <a:srgbClr val="1A1A1A"/>
                </a:solidFill>
                <a:latin typeface="Arial"/>
              </a:rPr>
              <a:t>Scope of NOVA:</a:t>
            </a:r>
            <a:r>
              <a:rPr sz="1500" b="0" i="0">
                <a:solidFill>
                  <a:srgbClr val="1A1A1A"/>
                </a:solidFill>
                <a:latin typeface="Arial"/>
              </a:rPr>
              <a:t> three small numerical C++ kernels (matmul, vector_add, stencil) and GCC flags only. It does not claim that every developer has this problem; no survey was done.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Proposed solution: two parts of NOVA</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3 / 15</a:t>
            </a:r>
          </a:p>
        </p:txBody>
      </p:sp>
      <p:sp>
        <p:nvSpPr>
          <p:cNvPr id="5" name="nova CLI"/>
          <p:cNvSpPr/>
          <p:nvPr/>
        </p:nvSpPr>
        <p:spPr>
          <a:xfrm>
            <a:off x="2011680" y="1280160"/>
            <a:ext cx="8165592" cy="548640"/>
          </a:xfrm>
          <a:prstGeom prst="rect">
            <a:avLst/>
          </a:prstGeom>
          <a:solidFill>
            <a:srgbClr val="1F3A5F"/>
          </a:solidFill>
          <a:ln>
            <a:no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ctr">
              <a:spcAft>
                <a:spcPts val="600"/>
              </a:spcAft>
            </a:pPr>
            <a:r>
              <a:rPr sz="1600" b="1" i="0">
                <a:solidFill>
                  <a:srgbClr val="FFFFFF"/>
                </a:solidFill>
                <a:latin typeface="Arial"/>
              </a:rPr>
              <a:t>nova  (one command-line tool, C++17)</a:t>
            </a:r>
          </a:p>
        </p:txBody>
      </p:sp>
      <p:cxnSp>
        <p:nvCxnSpPr>
          <p:cNvPr id="6" name="Connector 5"/>
          <p:cNvCxnSpPr/>
          <p:nvPr/>
        </p:nvCxnSpPr>
        <p:spPr>
          <a:xfrm>
            <a:off x="3246120" y="1828800"/>
            <a:ext cx="0" cy="4114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942832" y="1828800"/>
            <a:ext cx="0" cy="4114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8" name="NOVA Compiler"/>
          <p:cNvSpPr/>
          <p:nvPr/>
        </p:nvSpPr>
        <p:spPr>
          <a:xfrm>
            <a:off x="548640" y="2286000"/>
            <a:ext cx="5394960" cy="3246120"/>
          </a:xfrm>
          <a:prstGeom prst="rect">
            <a:avLst/>
          </a:prstGeom>
          <a:solidFill>
            <a:srgbClr val="FFFFFF"/>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685800" y="2359152"/>
            <a:ext cx="5120640" cy="41148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NOVA Compiler  </a:t>
            </a:r>
          </a:p>
        </p:txBody>
      </p:sp>
      <p:sp>
        <p:nvSpPr>
          <p:cNvPr id="10" name="TextBox 9"/>
          <p:cNvSpPr txBox="1"/>
          <p:nvPr/>
        </p:nvSpPr>
        <p:spPr>
          <a:xfrm>
            <a:off x="685800" y="2761488"/>
            <a:ext cx="5120640" cy="320040"/>
          </a:xfrm>
          <a:prstGeom prst="rect">
            <a:avLst/>
          </a:prstGeom>
          <a:noFill/>
        </p:spPr>
        <p:txBody>
          <a:bodyPr wrap="square" lIns="45720" tIns="36576" rIns="45720" bIns="36576">
            <a:spAutoFit/>
          </a:bodyPr>
          <a:lstStyle/>
          <a:p>
            <a:pPr algn="l">
              <a:spcAft>
                <a:spcPts val="600"/>
              </a:spcAft>
            </a:pPr>
            <a:r>
              <a:rPr sz="1400" b="0" i="1">
                <a:solidFill>
                  <a:srgbClr val="5A6270"/>
                </a:solidFill>
                <a:latin typeface="Arial"/>
              </a:rPr>
              <a:t>educational track</a:t>
            </a:r>
          </a:p>
        </p:txBody>
      </p:sp>
      <p:sp>
        <p:nvSpPr>
          <p:cNvPr id="11" name="NOVA Compiler step 1"/>
          <p:cNvSpPr/>
          <p:nvPr/>
        </p:nvSpPr>
        <p:spPr>
          <a:xfrm>
            <a:off x="731520"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NOVA Script (.nova)</a:t>
            </a:r>
          </a:p>
        </p:txBody>
      </p:sp>
      <p:cxnSp>
        <p:nvCxnSpPr>
          <p:cNvPr id="12" name="Connector 11"/>
          <p:cNvCxnSpPr/>
          <p:nvPr/>
        </p:nvCxnSpPr>
        <p:spPr>
          <a:xfrm>
            <a:off x="1828800"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NOVA Compiler step 2"/>
          <p:cNvSpPr/>
          <p:nvPr/>
        </p:nvSpPr>
        <p:spPr>
          <a:xfrm>
            <a:off x="2020824"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TAC</a:t>
            </a:r>
          </a:p>
        </p:txBody>
      </p:sp>
      <p:cxnSp>
        <p:nvCxnSpPr>
          <p:cNvPr id="14" name="Connector 13"/>
          <p:cNvCxnSpPr/>
          <p:nvPr/>
        </p:nvCxnSpPr>
        <p:spPr>
          <a:xfrm>
            <a:off x="3118104"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NOVA Compiler step 3"/>
          <p:cNvSpPr/>
          <p:nvPr/>
        </p:nvSpPr>
        <p:spPr>
          <a:xfrm>
            <a:off x="3310128"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Optimized TAC</a:t>
            </a:r>
          </a:p>
        </p:txBody>
      </p:sp>
      <p:cxnSp>
        <p:nvCxnSpPr>
          <p:cNvPr id="16" name="Connector 15"/>
          <p:cNvCxnSpPr/>
          <p:nvPr/>
        </p:nvCxnSpPr>
        <p:spPr>
          <a:xfrm>
            <a:off x="4407408"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7" name="NOVA Compiler step 4"/>
          <p:cNvSpPr/>
          <p:nvPr/>
        </p:nvSpPr>
        <p:spPr>
          <a:xfrm>
            <a:off x="4599431"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Run (interpreter)</a:t>
            </a:r>
          </a:p>
        </p:txBody>
      </p:sp>
      <p:sp>
        <p:nvSpPr>
          <p:cNvPr id="18" name="TextBox 17"/>
          <p:cNvSpPr txBox="1"/>
          <p:nvPr/>
        </p:nvSpPr>
        <p:spPr>
          <a:xfrm>
            <a:off x="685800" y="4160520"/>
            <a:ext cx="5120640" cy="1325880"/>
          </a:xfrm>
          <a:prstGeom prst="rect">
            <a:avLst/>
          </a:prstGeom>
          <a:noFill/>
        </p:spPr>
        <p:txBody>
          <a:bodyPr wrap="square" lIns="45720" tIns="36576" rIns="45720" bIns="36576">
            <a:spAutoFit/>
          </a:bodyPr>
          <a:lstStyle/>
          <a:p>
            <a:pPr algn="l">
              <a:spcAft>
                <a:spcPts val="600"/>
              </a:spcAft>
            </a:pPr>
            <a:r>
              <a:rPr sz="1400" b="0" i="0">
                <a:solidFill>
                  <a:srgbClr val="1A1A1A"/>
                </a:solidFill>
                <a:latin typeface="Arial"/>
              </a:rPr>
              <a:t>Shows how a compiler works inside: tokens, syntax tree, simple intermediate code, and four safe optimizations. Runs programs on reference interpreters.</a:t>
            </a:r>
          </a:p>
        </p:txBody>
      </p:sp>
      <p:sp>
        <p:nvSpPr>
          <p:cNvPr id="19" name="NOVA SmartPass"/>
          <p:cNvSpPr/>
          <p:nvPr/>
        </p:nvSpPr>
        <p:spPr>
          <a:xfrm>
            <a:off x="6245352" y="2286000"/>
            <a:ext cx="5394960" cy="3246120"/>
          </a:xfrm>
          <a:prstGeom prst="rect">
            <a:avLst/>
          </a:prstGeom>
          <a:solidFill>
            <a:srgbClr val="FFFFFF"/>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6382512" y="2359152"/>
            <a:ext cx="5120640" cy="41148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NOVA SmartPass  </a:t>
            </a:r>
          </a:p>
        </p:txBody>
      </p:sp>
      <p:sp>
        <p:nvSpPr>
          <p:cNvPr id="21" name="TextBox 20"/>
          <p:cNvSpPr txBox="1"/>
          <p:nvPr/>
        </p:nvSpPr>
        <p:spPr>
          <a:xfrm>
            <a:off x="6382512" y="2761488"/>
            <a:ext cx="5120640" cy="320040"/>
          </a:xfrm>
          <a:prstGeom prst="rect">
            <a:avLst/>
          </a:prstGeom>
          <a:noFill/>
        </p:spPr>
        <p:txBody>
          <a:bodyPr wrap="square" lIns="45720" tIns="36576" rIns="45720" bIns="36576">
            <a:spAutoFit/>
          </a:bodyPr>
          <a:lstStyle/>
          <a:p>
            <a:pPr algn="l">
              <a:spcAft>
                <a:spcPts val="600"/>
              </a:spcAft>
            </a:pPr>
            <a:r>
              <a:rPr sz="1400" b="0" i="1">
                <a:solidFill>
                  <a:srgbClr val="5A6270"/>
                </a:solidFill>
                <a:latin typeface="Arial"/>
              </a:rPr>
              <a:t>research track</a:t>
            </a:r>
          </a:p>
        </p:txBody>
      </p:sp>
      <p:sp>
        <p:nvSpPr>
          <p:cNvPr id="22" name="NOVA SmartPass step 1"/>
          <p:cNvSpPr/>
          <p:nvPr/>
        </p:nvSpPr>
        <p:spPr>
          <a:xfrm>
            <a:off x="6428232"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C++ kernel</a:t>
            </a:r>
          </a:p>
        </p:txBody>
      </p:sp>
      <p:cxnSp>
        <p:nvCxnSpPr>
          <p:cNvPr id="23" name="Connector 22"/>
          <p:cNvCxnSpPr/>
          <p:nvPr/>
        </p:nvCxnSpPr>
        <p:spPr>
          <a:xfrm>
            <a:off x="7525512"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4" name="NOVA SmartPass step 2"/>
          <p:cNvSpPr/>
          <p:nvPr/>
        </p:nvSpPr>
        <p:spPr>
          <a:xfrm>
            <a:off x="7717536"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GCC (g++)</a:t>
            </a:r>
          </a:p>
        </p:txBody>
      </p:sp>
      <p:cxnSp>
        <p:nvCxnSpPr>
          <p:cNvPr id="25" name="Connector 24"/>
          <p:cNvCxnSpPr/>
          <p:nvPr/>
        </p:nvCxnSpPr>
        <p:spPr>
          <a:xfrm>
            <a:off x="8814815" y="3589020"/>
            <a:ext cx="19202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6" name="NOVA SmartPass step 3"/>
          <p:cNvSpPr/>
          <p:nvPr/>
        </p:nvSpPr>
        <p:spPr>
          <a:xfrm>
            <a:off x="9006840"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Check + time</a:t>
            </a:r>
          </a:p>
        </p:txBody>
      </p:sp>
      <p:cxnSp>
        <p:nvCxnSpPr>
          <p:cNvPr id="27" name="Connector 26"/>
          <p:cNvCxnSpPr/>
          <p:nvPr/>
        </p:nvCxnSpPr>
        <p:spPr>
          <a:xfrm>
            <a:off x="10104119" y="3589020"/>
            <a:ext cx="19202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8" name="NOVA SmartPass step 4"/>
          <p:cNvSpPr/>
          <p:nvPr/>
        </p:nvSpPr>
        <p:spPr>
          <a:xfrm>
            <a:off x="10296144"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Explain</a:t>
            </a:r>
          </a:p>
        </p:txBody>
      </p:sp>
      <p:sp>
        <p:nvSpPr>
          <p:cNvPr id="29" name="TextBox 28"/>
          <p:cNvSpPr txBox="1"/>
          <p:nvPr/>
        </p:nvSpPr>
        <p:spPr>
          <a:xfrm>
            <a:off x="6382512" y="4160520"/>
            <a:ext cx="5120640" cy="1325880"/>
          </a:xfrm>
          <a:prstGeom prst="rect">
            <a:avLst/>
          </a:prstGeom>
          <a:noFill/>
        </p:spPr>
        <p:txBody>
          <a:bodyPr wrap="square" lIns="45720" tIns="36576" rIns="45720" bIns="36576">
            <a:spAutoFit/>
          </a:bodyPr>
          <a:lstStyle/>
          <a:p>
            <a:pPr algn="l">
              <a:spcAft>
                <a:spcPts val="600"/>
              </a:spcAft>
            </a:pPr>
            <a:r>
              <a:rPr sz="1400" b="0" i="0">
                <a:solidFill>
                  <a:srgbClr val="1A1A1A"/>
                </a:solidFill>
                <a:latin typeface="Arial"/>
              </a:rPr>
              <a:t>Asks GCC to build a numerical kernel with chosen flags, checks the output, measures, and records why a configuration won. </a:t>
            </a:r>
            <a:r>
              <a:rPr sz="1400" b="1" i="0">
                <a:solidFill>
                  <a:srgbClr val="1A1A1A"/>
                </a:solidFill>
                <a:latin typeface="Arial"/>
              </a:rPr>
              <a:t>GCC does all the compiling.</a:t>
            </a:r>
          </a:p>
        </p:txBody>
      </p:sp>
      <p:sp>
        <p:nvSpPr>
          <p:cNvPr id="30" name="TextBox 29"/>
          <p:cNvSpPr txBox="1"/>
          <p:nvPr/>
        </p:nvSpPr>
        <p:spPr>
          <a:xfrm>
            <a:off x="548640" y="5715000"/>
            <a:ext cx="11091672" cy="548640"/>
          </a:xfrm>
          <a:prstGeom prst="rect">
            <a:avLst/>
          </a:prstGeom>
          <a:noFill/>
        </p:spPr>
        <p:txBody>
          <a:bodyPr wrap="square" lIns="45720" tIns="36576" rIns="45720" bIns="36576">
            <a:spAutoFit/>
          </a:bodyPr>
          <a:lstStyle/>
          <a:p>
            <a:pPr algn="l">
              <a:spcAft>
                <a:spcPts val="600"/>
              </a:spcAft>
            </a:pPr>
            <a:r>
              <a:rPr sz="1400" b="1" i="0">
                <a:solidFill>
                  <a:srgbClr val="5A6270"/>
                </a:solidFill>
                <a:latin typeface="Arial"/>
              </a:rPr>
              <a:t>Objectives:</a:t>
            </a:r>
            <a:r>
              <a:rPr sz="1400" b="0" i="0">
                <a:solidFill>
                  <a:srgbClr val="5A6270"/>
                </a:solidFill>
                <a:latin typeface="Arial"/>
              </a:rPr>
              <a:t> (A) show every compiler stage working on a small language; (B) test a bounded, workload-aware, correctness-checked search over GCC flags and keep the evidence. The two parts are kept separate on purpose.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NOVA Compiler: pipeline</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4 / 15</a:t>
            </a:r>
          </a:p>
        </p:txBody>
      </p:sp>
      <p:sp>
        <p:nvSpPr>
          <p:cNvPr id="5" name="Stage Source (.nova)"/>
          <p:cNvSpPr/>
          <p:nvPr/>
        </p:nvSpPr>
        <p:spPr>
          <a:xfrm>
            <a:off x="548640" y="1280160"/>
            <a:ext cx="1143000" cy="731520"/>
          </a:xfrm>
          <a:prstGeom prst="rect">
            <a:avLst/>
          </a:prstGeom>
          <a:solidFill>
            <a:srgbClr val="FFFFFF"/>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0" i="0">
                <a:solidFill>
                  <a:srgbClr val="1A1A1A"/>
                </a:solidFill>
                <a:latin typeface="Arial"/>
              </a:rPr>
              <a:t>Source (.nova)</a:t>
            </a:r>
          </a:p>
        </p:txBody>
      </p:sp>
      <p:cxnSp>
        <p:nvCxnSpPr>
          <p:cNvPr id="6" name="Connector 5"/>
          <p:cNvCxnSpPr/>
          <p:nvPr/>
        </p:nvCxnSpPr>
        <p:spPr>
          <a:xfrm>
            <a:off x="169164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7" name="Stage Lexer"/>
          <p:cNvSpPr/>
          <p:nvPr/>
        </p:nvSpPr>
        <p:spPr>
          <a:xfrm>
            <a:off x="196596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Lexer</a:t>
            </a:r>
          </a:p>
        </p:txBody>
      </p:sp>
      <p:cxnSp>
        <p:nvCxnSpPr>
          <p:cNvPr id="8" name="Connector 7"/>
          <p:cNvCxnSpPr/>
          <p:nvPr/>
        </p:nvCxnSpPr>
        <p:spPr>
          <a:xfrm>
            <a:off x="3108960" y="1645920"/>
            <a:ext cx="274319"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Stage Parser"/>
          <p:cNvSpPr/>
          <p:nvPr/>
        </p:nvSpPr>
        <p:spPr>
          <a:xfrm>
            <a:off x="338328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Parser</a:t>
            </a:r>
          </a:p>
        </p:txBody>
      </p:sp>
      <p:cxnSp>
        <p:nvCxnSpPr>
          <p:cNvPr id="10" name="Connector 9"/>
          <p:cNvCxnSpPr/>
          <p:nvPr/>
        </p:nvCxnSpPr>
        <p:spPr>
          <a:xfrm>
            <a:off x="452628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Stage AST"/>
          <p:cNvSpPr/>
          <p:nvPr/>
        </p:nvSpPr>
        <p:spPr>
          <a:xfrm>
            <a:off x="480060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AST</a:t>
            </a:r>
          </a:p>
        </p:txBody>
      </p:sp>
      <p:cxnSp>
        <p:nvCxnSpPr>
          <p:cNvPr id="12" name="Connector 11"/>
          <p:cNvCxnSpPr/>
          <p:nvPr/>
        </p:nvCxnSpPr>
        <p:spPr>
          <a:xfrm>
            <a:off x="594360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Stage Semantic analysis"/>
          <p:cNvSpPr/>
          <p:nvPr/>
        </p:nvSpPr>
        <p:spPr>
          <a:xfrm>
            <a:off x="621792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Semantic analysis</a:t>
            </a:r>
          </a:p>
        </p:txBody>
      </p:sp>
      <p:cxnSp>
        <p:nvCxnSpPr>
          <p:cNvPr id="14" name="Connector 13"/>
          <p:cNvCxnSpPr/>
          <p:nvPr/>
        </p:nvCxnSpPr>
        <p:spPr>
          <a:xfrm>
            <a:off x="736092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Stage TAC"/>
          <p:cNvSpPr/>
          <p:nvPr/>
        </p:nvSpPr>
        <p:spPr>
          <a:xfrm>
            <a:off x="763524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TAC</a:t>
            </a:r>
          </a:p>
        </p:txBody>
      </p:sp>
      <p:cxnSp>
        <p:nvCxnSpPr>
          <p:cNvPr id="16" name="Connector 15"/>
          <p:cNvCxnSpPr/>
          <p:nvPr/>
        </p:nvCxnSpPr>
        <p:spPr>
          <a:xfrm>
            <a:off x="877824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7" name="Stage Optimizer"/>
          <p:cNvSpPr/>
          <p:nvPr/>
        </p:nvSpPr>
        <p:spPr>
          <a:xfrm>
            <a:off x="905256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Optimizer</a:t>
            </a:r>
          </a:p>
        </p:txBody>
      </p:sp>
      <p:cxnSp>
        <p:nvCxnSpPr>
          <p:cNvPr id="18" name="Connector 17"/>
          <p:cNvCxnSpPr/>
          <p:nvPr/>
        </p:nvCxnSpPr>
        <p:spPr>
          <a:xfrm>
            <a:off x="1019556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9" name="Stage Interpreter"/>
          <p:cNvSpPr/>
          <p:nvPr/>
        </p:nvSpPr>
        <p:spPr>
          <a:xfrm>
            <a:off x="1046988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Interpreter</a:t>
            </a:r>
          </a:p>
        </p:txBody>
      </p:sp>
      <p:sp>
        <p:nvSpPr>
          <p:cNvPr id="20" name="TextBox 19"/>
          <p:cNvSpPr txBox="1"/>
          <p:nvPr/>
        </p:nvSpPr>
        <p:spPr>
          <a:xfrm>
            <a:off x="548640" y="2057400"/>
            <a:ext cx="11091672" cy="320040"/>
          </a:xfrm>
          <a:prstGeom prst="rect">
            <a:avLst/>
          </a:prstGeom>
          <a:noFill/>
        </p:spPr>
        <p:txBody>
          <a:bodyPr wrap="square" lIns="45720" tIns="36576" rIns="45720" bIns="36576">
            <a:spAutoFit/>
          </a:bodyPr>
          <a:lstStyle/>
          <a:p>
            <a:pPr algn="l">
              <a:spcAft>
                <a:spcPts val="600"/>
              </a:spcAft>
            </a:pPr>
            <a:r>
              <a:rPr sz="1300" b="0" i="1">
                <a:solidFill>
                  <a:srgbClr val="5A6270"/>
                </a:solidFill>
                <a:latin typeface="Arial"/>
              </a:rPr>
              <a:t>All stages shown are implemented. No machine-code backend: programs run on the AST and TAC interpreters.</a:t>
            </a:r>
          </a:p>
        </p:txBody>
      </p:sp>
      <p:graphicFrame>
        <p:nvGraphicFramePr>
          <p:cNvPr id="21" name="Stage descriptions"/>
          <p:cNvGraphicFramePr>
            <a:graphicFrameLocks noGrp="1"/>
          </p:cNvGraphicFramePr>
          <p:nvPr/>
        </p:nvGraphicFramePr>
        <p:xfrm>
          <a:off x="548640" y="2468880"/>
          <a:ext cx="11091672" cy="3145536"/>
        </p:xfrm>
        <a:graphic>
          <a:graphicData uri="http://schemas.openxmlformats.org/drawingml/2006/table">
            <a:tbl>
              <a:tblPr firstRow="1">
                <a:tableStyleId>{5C22544A-7EE6-4342-B048-85BDC9FD1C3A}</a:tableStyleId>
              </a:tblPr>
              <a:tblGrid>
                <a:gridCol w="2011680">
                  <a:extLst>
                    <a:ext uri="{9D8B030D-6E8A-4147-A177-3AD203B41FA5}">
                      <a16:colId xmlns:a16="http://schemas.microsoft.com/office/drawing/2014/main" val="20000"/>
                    </a:ext>
                  </a:extLst>
                </a:gridCol>
                <a:gridCol w="9079992">
                  <a:extLst>
                    <a:ext uri="{9D8B030D-6E8A-4147-A177-3AD203B41FA5}">
                      <a16:colId xmlns:a16="http://schemas.microsoft.com/office/drawing/2014/main" val="20001"/>
                    </a:ext>
                  </a:extLst>
                </a:gridCol>
              </a:tblGrid>
              <a:tr h="393192">
                <a:tc>
                  <a:txBody>
                    <a:bodyPr/>
                    <a:lstStyle/>
                    <a:p>
                      <a:r>
                        <a:rPr sz="1300" b="1">
                          <a:solidFill>
                            <a:srgbClr val="FFFFFF"/>
                          </a:solidFill>
                          <a:latin typeface="Arial"/>
                        </a:rPr>
                        <a:t>Stage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300" b="1">
                          <a:solidFill>
                            <a:srgbClr val="FFFFFF"/>
                          </a:solidFill>
                          <a:latin typeface="Arial"/>
                        </a:rPr>
                        <a:t>What it does and why it matters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393192">
                <a:tc>
                  <a:txBody>
                    <a:bodyPr/>
                    <a:lstStyle/>
                    <a:p>
                      <a:r>
                        <a:rPr sz="1300" b="1">
                          <a:solidFill>
                            <a:srgbClr val="1A1A1A"/>
                          </a:solidFill>
                          <a:latin typeface="Arial"/>
                        </a:rPr>
                        <a:t>Lexer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Splits text into tokens (keyword, identifier, integer, operator) with line:column for error messages.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393192">
                <a:tc>
                  <a:txBody>
                    <a:bodyPr/>
                    <a:lstStyle/>
                    <a:p>
                      <a:r>
                        <a:rPr sz="1300" b="1">
                          <a:solidFill>
                            <a:srgbClr val="1A1A1A"/>
                          </a:solidFill>
                          <a:latin typeface="Arial"/>
                        </a:rPr>
                        <a:t>Parser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dirty="0">
                          <a:solidFill>
                            <a:srgbClr val="1A1A1A"/>
                          </a:solidFill>
                          <a:latin typeface="Arial"/>
                        </a:rPr>
                        <a:t>Recursive descent, one function per precedence level; reports the first syntax error with its location.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393192">
                <a:tc>
                  <a:txBody>
                    <a:bodyPr/>
                    <a:lstStyle/>
                    <a:p>
                      <a:r>
                        <a:rPr sz="1300" b="1">
                          <a:solidFill>
                            <a:srgbClr val="1A1A1A"/>
                          </a:solidFill>
                          <a:latin typeface="Arial"/>
                        </a:rPr>
                        <a:t>AST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dirty="0">
                          <a:solidFill>
                            <a:srgbClr val="1A1A1A"/>
                          </a:solidFill>
                          <a:latin typeface="Arial"/>
                        </a:rPr>
                        <a:t>Tree of the program (Let, Print, Binary…), independent of how the text was laid out.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r h="393192">
                <a:tc>
                  <a:txBody>
                    <a:bodyPr/>
                    <a:lstStyle/>
                    <a:p>
                      <a:r>
                        <a:rPr sz="1300" b="1">
                          <a:solidFill>
                            <a:srgbClr val="1A1A1A"/>
                          </a:solidFill>
                          <a:latin typeface="Arial"/>
                        </a:rPr>
                        <a:t>Semantic analysis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Symbol table: rejects use of an undeclared variable and duplicate declarations.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4"/>
                  </a:ext>
                </a:extLst>
              </a:tr>
              <a:tr h="393192">
                <a:tc>
                  <a:txBody>
                    <a:bodyPr/>
                    <a:lstStyle/>
                    <a:p>
                      <a:r>
                        <a:rPr sz="1300" b="1">
                          <a:solidFill>
                            <a:srgbClr val="1A1A1A"/>
                          </a:solidFill>
                          <a:latin typeface="Arial"/>
                        </a:rPr>
                        <a:t>TAC</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Each instruction has at most one operator, e.g. </a:t>
                      </a:r>
                      <a:r>
                        <a:rPr sz="1300" b="0">
                          <a:solidFill>
                            <a:srgbClr val="1A1A1A"/>
                          </a:solidFill>
                          <a:latin typeface="Courier New"/>
                        </a:rPr>
                        <a:t>$t1 = x * 2</a:t>
                      </a:r>
                      <a:r>
                        <a:rPr sz="1300" b="0">
                          <a:solidFill>
                            <a:srgbClr val="1A1A1A"/>
                          </a:solidFill>
                          <a:latin typeface="Arial"/>
                        </a:rPr>
                        <a:t>: simple enough to analyze and optimize.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5"/>
                  </a:ext>
                </a:extLst>
              </a:tr>
              <a:tr h="393192">
                <a:tc>
                  <a:txBody>
                    <a:bodyPr/>
                    <a:lstStyle/>
                    <a:p>
                      <a:r>
                        <a:rPr sz="1300" b="1">
                          <a:solidFill>
                            <a:srgbClr val="1A1A1A"/>
                          </a:solidFill>
                          <a:latin typeface="Arial"/>
                        </a:rPr>
                        <a:t>Optimizer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Four passes repeated until nothing changes (a fixed point); see slide 10.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6"/>
                  </a:ext>
                </a:extLst>
              </a:tr>
              <a:tr h="393192">
                <a:tc>
                  <a:txBody>
                    <a:bodyPr/>
                    <a:lstStyle/>
                    <a:p>
                      <a:r>
                        <a:rPr sz="1300" b="1">
                          <a:solidFill>
                            <a:srgbClr val="1A1A1A"/>
                          </a:solidFill>
                          <a:latin typeface="Arial"/>
                        </a:rPr>
                        <a:t>Interpreter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dirty="0">
                          <a:solidFill>
                            <a:srgbClr val="1A1A1A"/>
                          </a:solidFill>
                          <a:latin typeface="Arial"/>
                        </a:rPr>
                        <a:t>Runs the AST or the TAC; division by zero is a runtime error with a location.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7"/>
                  </a:ext>
                </a:extLst>
              </a:tr>
            </a:tbl>
          </a:graphicData>
        </a:graphic>
      </p:graphicFrame>
      <p:sp>
        <p:nvSpPr>
          <p:cNvPr id="22" name="TextBox 21"/>
          <p:cNvSpPr txBox="1"/>
          <p:nvPr/>
        </p:nvSpPr>
        <p:spPr>
          <a:xfrm>
            <a:off x="548640" y="5669280"/>
            <a:ext cx="11091672" cy="548640"/>
          </a:xfrm>
          <a:prstGeom prst="rect">
            <a:avLst/>
          </a:prstGeom>
          <a:noFill/>
        </p:spPr>
        <p:txBody>
          <a:bodyPr wrap="square" lIns="45720" tIns="36576" rIns="45720" bIns="36576">
            <a:spAutoFit/>
          </a:bodyPr>
          <a:lstStyle/>
          <a:p>
            <a:pPr algn="l">
              <a:spcAft>
                <a:spcPts val="600"/>
              </a:spcAft>
            </a:pPr>
            <a:r>
              <a:rPr sz="1300" b="0" i="0">
                <a:solidFill>
                  <a:srgbClr val="5A6270"/>
                </a:solidFill>
                <a:latin typeface="Arial"/>
              </a:rPr>
              <a:t>NOVA Script: integers only (64-bit wrapping), </a:t>
            </a:r>
            <a:r>
              <a:rPr sz="1300" b="0" i="0">
                <a:solidFill>
                  <a:srgbClr val="5A6270"/>
                </a:solidFill>
                <a:latin typeface="Courier New"/>
              </a:rPr>
              <a:t>let</a:t>
            </a:r>
            <a:r>
              <a:rPr sz="1300" b="0" i="0">
                <a:solidFill>
                  <a:srgbClr val="5A6270"/>
                </a:solidFill>
                <a:latin typeface="Arial"/>
              </a:rPr>
              <a:t>, assignment, </a:t>
            </a:r>
            <a:r>
              <a:rPr sz="1300" b="0" i="0">
                <a:solidFill>
                  <a:srgbClr val="5A6270"/>
                </a:solidFill>
                <a:latin typeface="Courier New"/>
              </a:rPr>
              <a:t>print</a:t>
            </a:r>
            <a:r>
              <a:rPr sz="1300" b="0" i="0">
                <a:solidFill>
                  <a:srgbClr val="5A6270"/>
                </a:solidFill>
                <a:latin typeface="Arial"/>
              </a:rPr>
              <a:t>, </a:t>
            </a:r>
            <a:r>
              <a:rPr sz="1300" b="0" i="0">
                <a:solidFill>
                  <a:srgbClr val="5A6270"/>
                </a:solidFill>
                <a:latin typeface="Courier New"/>
              </a:rPr>
              <a:t>+ - * /</a:t>
            </a:r>
            <a:r>
              <a:rPr sz="1300" b="0" i="0">
                <a:solidFill>
                  <a:srgbClr val="5A6270"/>
                </a:solidFill>
                <a:latin typeface="Arial"/>
              </a:rPr>
              <a:t>, parentheses; no loops or branches yet.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Running NOVA on a Program (A): NOVA Compiler</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10 / 15</a:t>
            </a:r>
          </a:p>
        </p:txBody>
      </p:sp>
      <p:sp>
        <p:nvSpPr>
          <p:cNvPr id="5" name="TextBox 4"/>
          <p:cNvSpPr txBox="1"/>
          <p:nvPr/>
        </p:nvSpPr>
        <p:spPr>
          <a:xfrm>
            <a:off x="548640" y="1188720"/>
            <a:ext cx="3520440" cy="274320"/>
          </a:xfrm>
          <a:prstGeom prst="rect">
            <a:avLst/>
          </a:prstGeom>
          <a:noFill/>
        </p:spPr>
        <p:txBody>
          <a:bodyPr wrap="square" lIns="45720" tIns="36576" rIns="45720" bIns="36576">
            <a:spAutoFit/>
          </a:bodyPr>
          <a:lstStyle/>
          <a:p>
            <a:pPr algn="l">
              <a:spcAft>
                <a:spcPts val="600"/>
              </a:spcAft>
            </a:pPr>
            <a:r>
              <a:rPr sz="1400" b="1" i="0">
                <a:solidFill>
                  <a:srgbClr val="1F3A5F"/>
                </a:solidFill>
                <a:latin typeface="Arial"/>
              </a:rPr>
              <a:t>1. Build once</a:t>
            </a:r>
          </a:p>
        </p:txBody>
      </p:sp>
      <p:sp>
        <p:nvSpPr>
          <p:cNvPr id="6" name="Build commands"/>
          <p:cNvSpPr/>
          <p:nvPr/>
        </p:nvSpPr>
        <p:spPr>
          <a:xfrm>
            <a:off x="548640" y="1508760"/>
            <a:ext cx="3520440" cy="9144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200">
                <a:solidFill>
                  <a:srgbClr val="1A1A1A"/>
                </a:solidFill>
                <a:latin typeface="Courier New"/>
              </a:rPr>
              <a:t>cmake -S . -B build \</a:t>
            </a:r>
          </a:p>
          <a:p>
            <a:pPr algn="l">
              <a:spcAft>
                <a:spcPts val="0"/>
              </a:spcAft>
            </a:pPr>
            <a:r>
              <a:rPr sz="1200">
                <a:solidFill>
                  <a:srgbClr val="1A1A1A"/>
                </a:solidFill>
                <a:latin typeface="Courier New"/>
              </a:rPr>
              <a:t>      -G "MinGW Makefiles"</a:t>
            </a:r>
          </a:p>
          <a:p>
            <a:pPr algn="l">
              <a:spcAft>
                <a:spcPts val="0"/>
              </a:spcAft>
            </a:pPr>
            <a:r>
              <a:rPr sz="1200">
                <a:solidFill>
                  <a:srgbClr val="1A1A1A"/>
                </a:solidFill>
                <a:latin typeface="Courier New"/>
              </a:rPr>
              <a:t>cmake --build build</a:t>
            </a:r>
          </a:p>
        </p:txBody>
      </p:sp>
      <p:sp>
        <p:nvSpPr>
          <p:cNvPr id="7" name="TextBox 6"/>
          <p:cNvSpPr txBox="1"/>
          <p:nvPr/>
        </p:nvSpPr>
        <p:spPr>
          <a:xfrm>
            <a:off x="548640" y="2606040"/>
            <a:ext cx="3520440" cy="274320"/>
          </a:xfrm>
          <a:prstGeom prst="rect">
            <a:avLst/>
          </a:prstGeom>
          <a:noFill/>
        </p:spPr>
        <p:txBody>
          <a:bodyPr wrap="square" lIns="45720" tIns="36576" rIns="45720" bIns="36576">
            <a:spAutoFit/>
          </a:bodyPr>
          <a:lstStyle/>
          <a:p>
            <a:pPr algn="l">
              <a:spcAft>
                <a:spcPts val="600"/>
              </a:spcAft>
            </a:pPr>
            <a:r>
              <a:rPr sz="1400" b="1" i="0">
                <a:solidFill>
                  <a:srgbClr val="1F3A5F"/>
                </a:solidFill>
                <a:latin typeface="Arial"/>
              </a:rPr>
              <a:t>2. A NOVA Script program (not C++)</a:t>
            </a:r>
          </a:p>
        </p:txBody>
      </p:sp>
      <p:sp>
        <p:nvSpPr>
          <p:cNvPr id="8" name="TextBox 7"/>
          <p:cNvSpPr txBox="1"/>
          <p:nvPr/>
        </p:nvSpPr>
        <p:spPr>
          <a:xfrm>
            <a:off x="548640" y="2862072"/>
            <a:ext cx="3520440" cy="274320"/>
          </a:xfrm>
          <a:prstGeom prst="rect">
            <a:avLst/>
          </a:prstGeom>
          <a:noFill/>
        </p:spPr>
        <p:txBody>
          <a:bodyPr wrap="square" lIns="45720" tIns="36576" rIns="45720" bIns="36576">
            <a:spAutoFit/>
          </a:bodyPr>
          <a:lstStyle/>
          <a:p>
            <a:pPr algn="l">
              <a:spcAft>
                <a:spcPts val="600"/>
              </a:spcAft>
            </a:pPr>
            <a:r>
              <a:rPr sz="1150" b="0" i="0">
                <a:solidFill>
                  <a:srgbClr val="5A6270"/>
                </a:solidFill>
                <a:latin typeface="Arial"/>
              </a:rPr>
              <a:t>examples/basic.nova</a:t>
            </a:r>
          </a:p>
        </p:txBody>
      </p:sp>
      <p:sp>
        <p:nvSpPr>
          <p:cNvPr id="9" name="basic.nova"/>
          <p:cNvSpPr/>
          <p:nvPr/>
        </p:nvSpPr>
        <p:spPr>
          <a:xfrm>
            <a:off x="548640" y="3154680"/>
            <a:ext cx="3520440" cy="105156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300">
                <a:solidFill>
                  <a:srgbClr val="1A1A1A"/>
                </a:solidFill>
                <a:latin typeface="Courier New"/>
              </a:rPr>
              <a:t>let x = 10;</a:t>
            </a:r>
          </a:p>
          <a:p>
            <a:pPr algn="l">
              <a:spcAft>
                <a:spcPts val="0"/>
              </a:spcAft>
            </a:pPr>
            <a:r>
              <a:rPr sz="1300">
                <a:solidFill>
                  <a:srgbClr val="1A1A1A"/>
                </a:solidFill>
                <a:latin typeface="Courier New"/>
              </a:rPr>
              <a:t>let y = 20;</a:t>
            </a:r>
          </a:p>
          <a:p>
            <a:pPr algn="l">
              <a:spcAft>
                <a:spcPts val="0"/>
              </a:spcAft>
            </a:pPr>
            <a:r>
              <a:rPr sz="1300">
                <a:solidFill>
                  <a:srgbClr val="1A1A1A"/>
                </a:solidFill>
                <a:latin typeface="Courier New"/>
              </a:rPr>
              <a:t>let z = x * 2 + y;</a:t>
            </a:r>
          </a:p>
          <a:p>
            <a:pPr algn="l">
              <a:spcAft>
                <a:spcPts val="0"/>
              </a:spcAft>
            </a:pPr>
            <a:r>
              <a:rPr sz="1300">
                <a:solidFill>
                  <a:srgbClr val="1A1A1A"/>
                </a:solidFill>
                <a:latin typeface="Courier New"/>
              </a:rPr>
              <a:t>print z;</a:t>
            </a:r>
          </a:p>
        </p:txBody>
      </p:sp>
      <p:sp>
        <p:nvSpPr>
          <p:cNvPr id="10" name="TextBox 9"/>
          <p:cNvSpPr txBox="1"/>
          <p:nvPr/>
        </p:nvSpPr>
        <p:spPr>
          <a:xfrm>
            <a:off x="548640" y="4389120"/>
            <a:ext cx="3520440" cy="1371600"/>
          </a:xfrm>
          <a:prstGeom prst="rect">
            <a:avLst/>
          </a:prstGeom>
          <a:noFill/>
        </p:spPr>
        <p:txBody>
          <a:bodyPr wrap="square" lIns="45720" tIns="36576" rIns="45720" bIns="36576">
            <a:spAutoFit/>
          </a:bodyPr>
          <a:lstStyle/>
          <a:p>
            <a:pPr algn="l">
              <a:spcAft>
                <a:spcPts val="600"/>
              </a:spcAft>
            </a:pPr>
            <a:r>
              <a:rPr sz="1300" b="0" i="0">
                <a:solidFill>
                  <a:srgbClr val="1A1A1A"/>
                </a:solidFill>
                <a:latin typeface="Arial"/>
              </a:rPr>
              <a:t>NOVA Script has integers, </a:t>
            </a:r>
            <a:r>
              <a:rPr sz="1300" b="0" i="0">
                <a:solidFill>
                  <a:srgbClr val="1A1A1A"/>
                </a:solidFill>
                <a:latin typeface="Courier New"/>
              </a:rPr>
              <a:t>let</a:t>
            </a:r>
            <a:r>
              <a:rPr sz="1300" b="0" i="0">
                <a:solidFill>
                  <a:srgbClr val="1A1A1A"/>
                </a:solidFill>
                <a:latin typeface="Arial"/>
              </a:rPr>
              <a:t>, </a:t>
            </a:r>
            <a:r>
              <a:rPr sz="1300" b="0" i="0">
                <a:solidFill>
                  <a:srgbClr val="1A1A1A"/>
                </a:solidFill>
                <a:latin typeface="Courier New"/>
              </a:rPr>
              <a:t>print</a:t>
            </a:r>
            <a:r>
              <a:rPr sz="1300" b="0" i="0">
                <a:solidFill>
                  <a:srgbClr val="1A1A1A"/>
                </a:solidFill>
                <a:latin typeface="Arial"/>
              </a:rPr>
              <a:t> and </a:t>
            </a:r>
            <a:r>
              <a:rPr sz="1300" b="0" i="0">
                <a:solidFill>
                  <a:srgbClr val="1A1A1A"/>
                </a:solidFill>
                <a:latin typeface="Courier New"/>
              </a:rPr>
              <a:t>+ - * /</a:t>
            </a:r>
            <a:r>
              <a:rPr sz="1300" b="0" i="0">
                <a:solidFill>
                  <a:srgbClr val="1A1A1A"/>
                </a:solidFill>
                <a:latin typeface="Arial"/>
              </a:rPr>
              <a:t> only. GCC and C++ are not involved in this part.</a:t>
            </a:r>
          </a:p>
        </p:txBody>
      </p:sp>
      <p:sp>
        <p:nvSpPr>
          <p:cNvPr id="11" name="TextBox 10"/>
          <p:cNvSpPr txBox="1"/>
          <p:nvPr/>
        </p:nvSpPr>
        <p:spPr>
          <a:xfrm>
            <a:off x="4297680" y="1188720"/>
            <a:ext cx="3520440" cy="274320"/>
          </a:xfrm>
          <a:prstGeom prst="rect">
            <a:avLst/>
          </a:prstGeom>
          <a:noFill/>
        </p:spPr>
        <p:txBody>
          <a:bodyPr wrap="square" lIns="45720" tIns="36576" rIns="45720" bIns="36576">
            <a:spAutoFit/>
          </a:bodyPr>
          <a:lstStyle/>
          <a:p>
            <a:pPr algn="l">
              <a:spcAft>
                <a:spcPts val="600"/>
              </a:spcAft>
            </a:pPr>
            <a:r>
              <a:rPr sz="1400" b="1" i="0">
                <a:solidFill>
                  <a:srgbClr val="1F3A5F"/>
                </a:solidFill>
                <a:latin typeface="Arial"/>
              </a:rPr>
              <a:t>3. Compile to TAC, then run</a:t>
            </a:r>
          </a:p>
        </p:txBody>
      </p:sp>
      <p:sp>
        <p:nvSpPr>
          <p:cNvPr id="12" name="tac and run"/>
          <p:cNvSpPr/>
          <p:nvPr/>
        </p:nvSpPr>
        <p:spPr>
          <a:xfrm>
            <a:off x="4297680" y="1508760"/>
            <a:ext cx="3520440" cy="27432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200">
                <a:solidFill>
                  <a:srgbClr val="1A1A1A"/>
                </a:solidFill>
                <a:latin typeface="Courier New"/>
              </a:rPr>
              <a:t>$ build/nova tac examples/basic.nova</a:t>
            </a:r>
          </a:p>
          <a:p>
            <a:pPr algn="l">
              <a:spcAft>
                <a:spcPts val="0"/>
              </a:spcAft>
            </a:pPr>
            <a:r>
              <a:rPr sz="1200">
                <a:solidFill>
                  <a:srgbClr val="1A1A1A"/>
                </a:solidFill>
                <a:latin typeface="Courier New"/>
              </a:rPr>
              <a:t>x = 10</a:t>
            </a:r>
          </a:p>
          <a:p>
            <a:pPr algn="l">
              <a:spcAft>
                <a:spcPts val="0"/>
              </a:spcAft>
            </a:pPr>
            <a:r>
              <a:rPr sz="1200">
                <a:solidFill>
                  <a:srgbClr val="1A1A1A"/>
                </a:solidFill>
                <a:latin typeface="Courier New"/>
              </a:rPr>
              <a:t>y = 20</a:t>
            </a:r>
          </a:p>
          <a:p>
            <a:pPr algn="l">
              <a:spcAft>
                <a:spcPts val="0"/>
              </a:spcAft>
            </a:pPr>
            <a:r>
              <a:rPr sz="1200">
                <a:solidFill>
                  <a:srgbClr val="1A1A1A"/>
                </a:solidFill>
                <a:latin typeface="Courier New"/>
              </a:rPr>
              <a:t>$t1 = x * 2</a:t>
            </a:r>
          </a:p>
          <a:p>
            <a:pPr algn="l">
              <a:spcAft>
                <a:spcPts val="0"/>
              </a:spcAft>
            </a:pPr>
            <a:r>
              <a:rPr sz="1200">
                <a:solidFill>
                  <a:srgbClr val="1A1A1A"/>
                </a:solidFill>
                <a:latin typeface="Courier New"/>
              </a:rPr>
              <a:t>z = $t1 + y</a:t>
            </a:r>
          </a:p>
          <a:p>
            <a:pPr algn="l">
              <a:spcAft>
                <a:spcPts val="0"/>
              </a:spcAft>
            </a:pPr>
            <a:r>
              <a:rPr sz="1200">
                <a:solidFill>
                  <a:srgbClr val="1A1A1A"/>
                </a:solidFill>
                <a:latin typeface="Courier New"/>
              </a:rPr>
              <a:t>print z</a:t>
            </a:r>
          </a:p>
          <a:p>
            <a:pPr algn="l">
              <a:spcAft>
                <a:spcPts val="0"/>
              </a:spcAft>
            </a:pPr>
            <a:endParaRPr sz="1200">
              <a:solidFill>
                <a:srgbClr val="1A1A1A"/>
              </a:solidFill>
              <a:latin typeface="Courier New"/>
            </a:endParaRPr>
          </a:p>
          <a:p>
            <a:pPr algn="l">
              <a:spcAft>
                <a:spcPts val="0"/>
              </a:spcAft>
            </a:pPr>
            <a:r>
              <a:rPr sz="1200">
                <a:solidFill>
                  <a:srgbClr val="1A1A1A"/>
                </a:solidFill>
                <a:latin typeface="Courier New"/>
              </a:rPr>
              <a:t>$ build/nova run examples/basic.nova</a:t>
            </a:r>
          </a:p>
          <a:p>
            <a:pPr algn="l">
              <a:spcAft>
                <a:spcPts val="0"/>
              </a:spcAft>
            </a:pPr>
            <a:r>
              <a:rPr sz="1200">
                <a:solidFill>
                  <a:srgbClr val="1A1A1A"/>
                </a:solidFill>
                <a:latin typeface="Courier New"/>
              </a:rPr>
              <a:t>40</a:t>
            </a:r>
          </a:p>
        </p:txBody>
      </p:sp>
      <p:sp>
        <p:nvSpPr>
          <p:cNvPr id="13" name="TextBox 12"/>
          <p:cNvSpPr txBox="1"/>
          <p:nvPr/>
        </p:nvSpPr>
        <p:spPr>
          <a:xfrm>
            <a:off x="4297680" y="4434840"/>
            <a:ext cx="3520440" cy="1280160"/>
          </a:xfrm>
          <a:prstGeom prst="rect">
            <a:avLst/>
          </a:prstGeom>
          <a:noFill/>
        </p:spPr>
        <p:txBody>
          <a:bodyPr wrap="square" lIns="45720" tIns="36576" rIns="45720" bIns="36576">
            <a:spAutoFit/>
          </a:bodyPr>
          <a:lstStyle/>
          <a:p>
            <a:pPr algn="l">
              <a:spcAft>
                <a:spcPts val="600"/>
              </a:spcAft>
            </a:pPr>
            <a:r>
              <a:rPr sz="1300" b="0" i="0">
                <a:solidFill>
                  <a:srgbClr val="1A1A1A"/>
                </a:solidFill>
                <a:latin typeface="Arial"/>
              </a:rPr>
              <a:t>TAC = three-address code: at most one operator per line; </a:t>
            </a:r>
            <a:r>
              <a:rPr sz="1300" b="0" i="0">
                <a:solidFill>
                  <a:srgbClr val="1A1A1A"/>
                </a:solidFill>
                <a:latin typeface="Courier New"/>
              </a:rPr>
              <a:t>$t1</a:t>
            </a:r>
            <a:r>
              <a:rPr sz="1300" b="0" i="0">
                <a:solidFill>
                  <a:srgbClr val="1A1A1A"/>
                </a:solidFill>
                <a:latin typeface="Arial"/>
              </a:rPr>
              <a:t> is a compiler temporary.</a:t>
            </a:r>
          </a:p>
        </p:txBody>
      </p:sp>
      <p:sp>
        <p:nvSpPr>
          <p:cNvPr id="14" name="TextBox 13"/>
          <p:cNvSpPr txBox="1"/>
          <p:nvPr/>
        </p:nvSpPr>
        <p:spPr>
          <a:xfrm>
            <a:off x="8001000" y="1188720"/>
            <a:ext cx="3639312" cy="274320"/>
          </a:xfrm>
          <a:prstGeom prst="rect">
            <a:avLst/>
          </a:prstGeom>
          <a:noFill/>
        </p:spPr>
        <p:txBody>
          <a:bodyPr wrap="square" lIns="45720" tIns="36576" rIns="45720" bIns="36576">
            <a:spAutoFit/>
          </a:bodyPr>
          <a:lstStyle/>
          <a:p>
            <a:pPr algn="l">
              <a:spcAft>
                <a:spcPts val="600"/>
              </a:spcAft>
            </a:pPr>
            <a:r>
              <a:rPr sz="1400" b="1" i="0">
                <a:solidFill>
                  <a:srgbClr val="1F3A5F"/>
                </a:solidFill>
                <a:latin typeface="Arial"/>
              </a:rPr>
              <a:t>4. Optimize</a:t>
            </a:r>
          </a:p>
        </p:txBody>
      </p:sp>
      <p:sp>
        <p:nvSpPr>
          <p:cNvPr id="15" name="optimize_demo.nova"/>
          <p:cNvSpPr/>
          <p:nvPr/>
        </p:nvSpPr>
        <p:spPr>
          <a:xfrm>
            <a:off x="8001000" y="1508760"/>
            <a:ext cx="3639312" cy="164592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200">
                <a:solidFill>
                  <a:srgbClr val="1A1A1A"/>
                </a:solidFill>
                <a:latin typeface="Courier New"/>
              </a:rPr>
              <a:t>// examples/optimize_demo.nova</a:t>
            </a:r>
          </a:p>
          <a:p>
            <a:pPr algn="l">
              <a:spcAft>
                <a:spcPts val="0"/>
              </a:spcAft>
            </a:pPr>
            <a:r>
              <a:rPr sz="1200">
                <a:solidFill>
                  <a:srgbClr val="1A1A1A"/>
                </a:solidFill>
                <a:latin typeface="Courier New"/>
              </a:rPr>
              <a:t>let a = 4;</a:t>
            </a:r>
          </a:p>
          <a:p>
            <a:pPr algn="l">
              <a:spcAft>
                <a:spcPts val="0"/>
              </a:spcAft>
            </a:pPr>
            <a:r>
              <a:rPr sz="1200">
                <a:solidFill>
                  <a:srgbClr val="1A1A1A"/>
                </a:solidFill>
                <a:latin typeface="Courier New"/>
              </a:rPr>
              <a:t>let b = a * 2 + 0;</a:t>
            </a:r>
          </a:p>
          <a:p>
            <a:pPr algn="l">
              <a:spcAft>
                <a:spcPts val="0"/>
              </a:spcAft>
            </a:pPr>
            <a:r>
              <a:rPr sz="1200">
                <a:solidFill>
                  <a:srgbClr val="1A1A1A"/>
                </a:solidFill>
                <a:latin typeface="Courier New"/>
              </a:rPr>
              <a:t>let unused = b - b;</a:t>
            </a:r>
          </a:p>
          <a:p>
            <a:pPr algn="l">
              <a:spcAft>
                <a:spcPts val="0"/>
              </a:spcAft>
            </a:pPr>
            <a:r>
              <a:rPr sz="1200">
                <a:solidFill>
                  <a:srgbClr val="1A1A1A"/>
                </a:solidFill>
                <a:latin typeface="Courier New"/>
              </a:rPr>
              <a:t>let z = 1 - 1;</a:t>
            </a:r>
          </a:p>
          <a:p>
            <a:pPr algn="l">
              <a:spcAft>
                <a:spcPts val="0"/>
              </a:spcAft>
            </a:pPr>
            <a:r>
              <a:rPr sz="1200">
                <a:solidFill>
                  <a:srgbClr val="1A1A1A"/>
                </a:solidFill>
                <a:latin typeface="Courier New"/>
              </a:rPr>
              <a:t>print b * 1;</a:t>
            </a:r>
          </a:p>
          <a:p>
            <a:pPr algn="l">
              <a:spcAft>
                <a:spcPts val="0"/>
              </a:spcAft>
            </a:pPr>
            <a:r>
              <a:rPr sz="1200">
                <a:solidFill>
                  <a:srgbClr val="1A1A1A"/>
                </a:solidFill>
                <a:latin typeface="Courier New"/>
              </a:rPr>
              <a:t>print a * (3 + 4);</a:t>
            </a:r>
          </a:p>
        </p:txBody>
      </p:sp>
      <p:sp>
        <p:nvSpPr>
          <p:cNvPr id="16" name="opt result"/>
          <p:cNvSpPr/>
          <p:nvPr/>
        </p:nvSpPr>
        <p:spPr>
          <a:xfrm>
            <a:off x="8001000" y="3291840"/>
            <a:ext cx="3639312" cy="16002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100">
                <a:solidFill>
                  <a:srgbClr val="1A1A1A"/>
                </a:solidFill>
                <a:latin typeface="Courier New"/>
              </a:rPr>
              <a:t>$ build/nova opt \</a:t>
            </a:r>
          </a:p>
          <a:p>
            <a:pPr algn="l">
              <a:spcAft>
                <a:spcPts val="0"/>
              </a:spcAft>
            </a:pPr>
            <a:r>
              <a:rPr sz="1100">
                <a:solidFill>
                  <a:srgbClr val="1A1A1A"/>
                </a:solidFill>
                <a:latin typeface="Courier New"/>
              </a:rPr>
              <a:t>    examples/optimize_demo.nova \</a:t>
            </a:r>
          </a:p>
          <a:p>
            <a:pPr algn="l">
              <a:spcAft>
                <a:spcPts val="0"/>
              </a:spcAft>
            </a:pPr>
            <a:r>
              <a:rPr sz="1100">
                <a:solidFill>
                  <a:srgbClr val="1A1A1A"/>
                </a:solidFill>
                <a:latin typeface="Courier New"/>
              </a:rPr>
              <a:t>    --show-all</a:t>
            </a:r>
          </a:p>
          <a:p>
            <a:pPr algn="l">
              <a:spcAft>
                <a:spcPts val="0"/>
              </a:spcAft>
            </a:pPr>
            <a:r>
              <a:rPr sz="1100">
                <a:solidFill>
                  <a:srgbClr val="1A1A1A"/>
                </a:solidFill>
                <a:latin typeface="Courier New"/>
              </a:rPr>
              <a:t>... (every pass)</a:t>
            </a:r>
          </a:p>
          <a:p>
            <a:pPr algn="l">
              <a:spcAft>
                <a:spcPts val="0"/>
              </a:spcAft>
            </a:pPr>
            <a:r>
              <a:rPr sz="1100">
                <a:solidFill>
                  <a:srgbClr val="1A1A1A"/>
                </a:solidFill>
                <a:latin typeface="Courier New"/>
              </a:rPr>
              <a:t>== final (fixed point after</a:t>
            </a:r>
          </a:p>
          <a:p>
            <a:pPr algn="l">
              <a:spcAft>
                <a:spcPts val="0"/>
              </a:spcAft>
            </a:pPr>
            <a:r>
              <a:rPr sz="1100">
                <a:solidFill>
                  <a:srgbClr val="1A1A1A"/>
                </a:solidFill>
                <a:latin typeface="Courier New"/>
              </a:rPr>
              <a:t>   3 iterations) ==</a:t>
            </a:r>
          </a:p>
          <a:p>
            <a:pPr algn="l">
              <a:spcAft>
                <a:spcPts val="0"/>
              </a:spcAft>
            </a:pPr>
            <a:r>
              <a:rPr sz="1100">
                <a:solidFill>
                  <a:srgbClr val="1A1A1A"/>
                </a:solidFill>
                <a:latin typeface="Courier New"/>
              </a:rPr>
              <a:t>print 8</a:t>
            </a:r>
          </a:p>
          <a:p>
            <a:pPr algn="l">
              <a:spcAft>
                <a:spcPts val="0"/>
              </a:spcAft>
            </a:pPr>
            <a:r>
              <a:rPr sz="1100">
                <a:solidFill>
                  <a:srgbClr val="1A1A1A"/>
                </a:solidFill>
                <a:latin typeface="Courier New"/>
              </a:rPr>
              <a:t>print 28</a:t>
            </a:r>
          </a:p>
        </p:txBody>
      </p:sp>
      <p:sp>
        <p:nvSpPr>
          <p:cNvPr id="17" name="TextBox 16"/>
          <p:cNvSpPr txBox="1"/>
          <p:nvPr/>
        </p:nvSpPr>
        <p:spPr>
          <a:xfrm>
            <a:off x="8001000" y="4983480"/>
            <a:ext cx="3639312" cy="914400"/>
          </a:xfrm>
          <a:prstGeom prst="rect">
            <a:avLst/>
          </a:prstGeom>
          <a:noFill/>
        </p:spPr>
        <p:txBody>
          <a:bodyPr wrap="square" lIns="45720" tIns="36576" rIns="45720" bIns="36576">
            <a:spAutoFit/>
          </a:bodyPr>
          <a:lstStyle/>
          <a:p>
            <a:pPr algn="l">
              <a:spcAft>
                <a:spcPts val="600"/>
              </a:spcAft>
            </a:pPr>
            <a:r>
              <a:rPr sz="1300" b="0" i="0">
                <a:solidFill>
                  <a:srgbClr val="1A1A1A"/>
                </a:solidFill>
                <a:latin typeface="Arial"/>
              </a:rPr>
              <a:t>Four passes (fold, propagate, simplify, dce) repeat to a fixed point. Output is unchanged: 8 and 28.</a:t>
            </a:r>
          </a:p>
        </p:txBody>
      </p:sp>
      <p:sp>
        <p:nvSpPr>
          <p:cNvPr id="18" name="TextBox 17"/>
          <p:cNvSpPr txBox="1"/>
          <p:nvPr/>
        </p:nvSpPr>
        <p:spPr>
          <a:xfrm>
            <a:off x="548640" y="5897880"/>
            <a:ext cx="11091672" cy="411480"/>
          </a:xfrm>
          <a:prstGeom prst="rect">
            <a:avLst/>
          </a:prstGeom>
          <a:noFill/>
        </p:spPr>
        <p:txBody>
          <a:bodyPr wrap="square" lIns="45720" tIns="36576" rIns="45720" bIns="36576">
            <a:spAutoFit/>
          </a:bodyPr>
          <a:lstStyle/>
          <a:p>
            <a:pPr algn="l">
              <a:spcAft>
                <a:spcPts val="600"/>
              </a:spcAft>
            </a:pPr>
            <a:r>
              <a:rPr sz="1150" b="0" i="0">
                <a:solidFill>
                  <a:srgbClr val="5A6270"/>
                </a:solidFill>
                <a:latin typeface="Arial"/>
              </a:rPr>
              <a:t>Output copied from docs/DEMO.md (scripts/make_demo.sh, 2026-10-14). </a:t>
            </a:r>
            <a:r>
              <a:rPr sz="1150" b="0" i="0">
                <a:solidFill>
                  <a:srgbClr val="5A6270"/>
                </a:solidFill>
                <a:latin typeface="Courier New"/>
              </a:rPr>
              <a:t>--show-all</a:t>
            </a:r>
            <a:r>
              <a:rPr sz="1150" b="0" i="0">
                <a:solidFill>
                  <a:srgbClr val="5A6270"/>
                </a:solidFill>
                <a:latin typeface="Arial"/>
              </a:rPr>
              <a:t> prints every pass. No machine-code backend: programs run on interpreters.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How NOVA SmartPass Chooses Compiler Flags</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5 / 15</a:t>
            </a:r>
          </a:p>
        </p:txBody>
      </p:sp>
      <p:sp>
        <p:nvSpPr>
          <p:cNvPr id="5" name="Flow 1"/>
          <p:cNvSpPr/>
          <p:nvPr/>
        </p:nvSpPr>
        <p:spPr>
          <a:xfrm>
            <a:off x="548640"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50" b="1" i="0">
                <a:solidFill>
                  <a:srgbClr val="1F3A5F"/>
                </a:solidFill>
                <a:latin typeface="Arial"/>
              </a:rPr>
              <a:t>1 Examine the workload</a:t>
            </a:r>
          </a:p>
        </p:txBody>
      </p:sp>
      <p:cxnSp>
        <p:nvCxnSpPr>
          <p:cNvPr id="6" name="Connector 5"/>
          <p:cNvCxnSpPr/>
          <p:nvPr/>
        </p:nvCxnSpPr>
        <p:spPr>
          <a:xfrm>
            <a:off x="2212848" y="1472184"/>
            <a:ext cx="22128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7" name="Flow 2"/>
          <p:cNvSpPr/>
          <p:nvPr/>
        </p:nvSpPr>
        <p:spPr>
          <a:xfrm>
            <a:off x="2434132"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50" b="1" i="0">
                <a:solidFill>
                  <a:srgbClr val="1F3A5F"/>
                </a:solidFill>
                <a:latin typeface="Arial"/>
              </a:rPr>
              <a:t>2 Select a candidate</a:t>
            </a:r>
          </a:p>
        </p:txBody>
      </p:sp>
      <p:cxnSp>
        <p:nvCxnSpPr>
          <p:cNvPr id="8" name="Connector 7"/>
          <p:cNvCxnSpPr/>
          <p:nvPr/>
        </p:nvCxnSpPr>
        <p:spPr>
          <a:xfrm>
            <a:off x="4098340" y="1472184"/>
            <a:ext cx="22128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Flow 3"/>
          <p:cNvSpPr/>
          <p:nvPr/>
        </p:nvSpPr>
        <p:spPr>
          <a:xfrm>
            <a:off x="4319625"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50" b="1" i="0">
                <a:solidFill>
                  <a:srgbClr val="1F3A5F"/>
                </a:solidFill>
                <a:latin typeface="Arial"/>
              </a:rPr>
              <a:t>3 Compile with GCC</a:t>
            </a:r>
          </a:p>
        </p:txBody>
      </p:sp>
      <p:cxnSp>
        <p:nvCxnSpPr>
          <p:cNvPr id="10" name="Connector 9"/>
          <p:cNvCxnSpPr/>
          <p:nvPr/>
        </p:nvCxnSpPr>
        <p:spPr>
          <a:xfrm>
            <a:off x="5983833" y="1472184"/>
            <a:ext cx="22128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Flow 4"/>
          <p:cNvSpPr/>
          <p:nvPr/>
        </p:nvSpPr>
        <p:spPr>
          <a:xfrm>
            <a:off x="6205118"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50" b="1" i="0">
                <a:solidFill>
                  <a:srgbClr val="1F3A5F"/>
                </a:solidFill>
                <a:latin typeface="Arial"/>
              </a:rPr>
              <a:t>4 Check correctness</a:t>
            </a:r>
          </a:p>
        </p:txBody>
      </p:sp>
      <p:cxnSp>
        <p:nvCxnSpPr>
          <p:cNvPr id="12" name="Connector 11"/>
          <p:cNvCxnSpPr/>
          <p:nvPr/>
        </p:nvCxnSpPr>
        <p:spPr>
          <a:xfrm>
            <a:off x="7869326" y="1472184"/>
            <a:ext cx="22128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Flow 5"/>
          <p:cNvSpPr/>
          <p:nvPr/>
        </p:nvSpPr>
        <p:spPr>
          <a:xfrm>
            <a:off x="8090611"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50" b="1" i="0">
                <a:solidFill>
                  <a:srgbClr val="1F3A5F"/>
                </a:solidFill>
                <a:latin typeface="Arial"/>
              </a:rPr>
              <a:t>5 Measure</a:t>
            </a:r>
          </a:p>
        </p:txBody>
      </p:sp>
      <p:cxnSp>
        <p:nvCxnSpPr>
          <p:cNvPr id="14" name="Connector 13"/>
          <p:cNvCxnSpPr/>
          <p:nvPr/>
        </p:nvCxnSpPr>
        <p:spPr>
          <a:xfrm>
            <a:off x="9754819" y="1472184"/>
            <a:ext cx="22128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Flow 6"/>
          <p:cNvSpPr/>
          <p:nvPr/>
        </p:nvSpPr>
        <p:spPr>
          <a:xfrm>
            <a:off x="9976104" y="1188720"/>
            <a:ext cx="1664208" cy="566928"/>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50" b="1" i="0">
                <a:solidFill>
                  <a:srgbClr val="1F3A5F"/>
                </a:solidFill>
                <a:latin typeface="Arial"/>
              </a:rPr>
              <a:t>6 Record evidence</a:t>
            </a:r>
          </a:p>
        </p:txBody>
      </p:sp>
      <p:sp>
        <p:nvSpPr>
          <p:cNvPr id="16" name="TextBox 15"/>
          <p:cNvSpPr txBox="1"/>
          <p:nvPr/>
        </p:nvSpPr>
        <p:spPr>
          <a:xfrm>
            <a:off x="548640" y="1783080"/>
            <a:ext cx="11091672" cy="274320"/>
          </a:xfrm>
          <a:prstGeom prst="rect">
            <a:avLst/>
          </a:prstGeom>
          <a:noFill/>
        </p:spPr>
        <p:txBody>
          <a:bodyPr wrap="square" lIns="45720" tIns="36576" rIns="45720" bIns="36576">
            <a:spAutoFit/>
          </a:bodyPr>
          <a:lstStyle/>
          <a:p>
            <a:pPr algn="l">
              <a:spcAft>
                <a:spcPts val="600"/>
              </a:spcAft>
            </a:pPr>
            <a:r>
              <a:rPr sz="1250" b="0" i="1">
                <a:solidFill>
                  <a:srgbClr val="5A6270"/>
                </a:solidFill>
                <a:latin typeface="Arial"/>
              </a:rPr>
              <a:t>Repeat until the search budget is used (demonstration setting: at most 4 searched candidates).</a:t>
            </a:r>
          </a:p>
        </p:txBody>
      </p:sp>
      <p:sp>
        <p:nvSpPr>
          <p:cNvPr id="17" name="TextBox 16"/>
          <p:cNvSpPr txBox="1"/>
          <p:nvPr/>
        </p:nvSpPr>
        <p:spPr>
          <a:xfrm>
            <a:off x="548640" y="2103120"/>
            <a:ext cx="11091672" cy="320040"/>
          </a:xfrm>
          <a:prstGeom prst="rect">
            <a:avLst/>
          </a:prstGeom>
          <a:noFill/>
        </p:spPr>
        <p:txBody>
          <a:bodyPr wrap="square" lIns="45720" tIns="36576" rIns="45720" bIns="36576">
            <a:spAutoFit/>
          </a:bodyPr>
          <a:lstStyle/>
          <a:p>
            <a:pPr algn="l">
              <a:spcAft>
                <a:spcPts val="600"/>
              </a:spcAft>
            </a:pPr>
            <a:r>
              <a:rPr sz="1600" b="1" i="0">
                <a:solidFill>
                  <a:srgbClr val="1F3A5F"/>
                </a:solidFill>
                <a:latin typeface="Arial"/>
              </a:rPr>
              <a:t>Five signals used to choose the next candidate, and their real status</a:t>
            </a:r>
          </a:p>
        </p:txBody>
      </p:sp>
      <p:sp>
        <p:nvSpPr>
          <p:cNvPr id="18" name="Signal 1"/>
          <p:cNvSpPr/>
          <p:nvPr/>
        </p:nvSpPr>
        <p:spPr>
          <a:xfrm>
            <a:off x="548640"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t"/>
          <a:lstStyle/>
          <a:p>
            <a:pPr algn="l">
              <a:spcAft>
                <a:spcPts val="500"/>
              </a:spcAft>
            </a:pPr>
            <a:r>
              <a:rPr sz="1400" b="1" i="0">
                <a:solidFill>
                  <a:srgbClr val="1F3A5F"/>
                </a:solidFill>
                <a:latin typeface="Arial"/>
              </a:rPr>
              <a:t>1  Source-code features</a:t>
            </a:r>
          </a:p>
          <a:p>
            <a:pPr algn="l">
              <a:spcAft>
                <a:spcPts val="600"/>
              </a:spcAft>
            </a:pPr>
            <a:r>
              <a:rPr sz="1300" b="0" i="0">
                <a:solidFill>
                  <a:srgbClr val="1A1A1A"/>
                </a:solidFill>
                <a:latin typeface="Arial"/>
              </a:rPr>
              <a:t>Per-kernel facts (size n, working set, streaming?, reduction?) registered for matmul, vector_add, stencil. Not parsed from arbitrary C++.</a:t>
            </a:r>
          </a:p>
          <a:p>
            <a:pPr algn="l">
              <a:spcAft>
                <a:spcPts val="600"/>
              </a:spcAft>
            </a:pPr>
            <a:r>
              <a:rPr sz="1200" b="1" i="0">
                <a:solidFill>
                  <a:srgbClr val="1F3A5F"/>
                </a:solidFill>
                <a:latin typeface="Arial"/>
              </a:rPr>
              <a:t>Used</a:t>
            </a:r>
          </a:p>
        </p:txBody>
      </p:sp>
      <p:sp>
        <p:nvSpPr>
          <p:cNvPr id="19" name="Signal 2"/>
          <p:cNvSpPr/>
          <p:nvPr/>
        </p:nvSpPr>
        <p:spPr>
          <a:xfrm>
            <a:off x="2795778"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t"/>
          <a:lstStyle/>
          <a:p>
            <a:pPr algn="l">
              <a:spcAft>
                <a:spcPts val="500"/>
              </a:spcAft>
            </a:pPr>
            <a:r>
              <a:rPr sz="1400" b="1" i="0">
                <a:solidFill>
                  <a:srgbClr val="1F3A5F"/>
                </a:solidFill>
                <a:latin typeface="Arial"/>
              </a:rPr>
              <a:t>2  Loop depth</a:t>
            </a:r>
          </a:p>
          <a:p>
            <a:pPr algn="l">
              <a:spcAft>
                <a:spcPts val="600"/>
              </a:spcAft>
            </a:pPr>
            <a:r>
              <a:rPr sz="1300" b="0" i="0">
                <a:solidFill>
                  <a:srgbClr val="1A1A1A"/>
                </a:solidFill>
                <a:latin typeface="Arial"/>
              </a:rPr>
              <a:t>How deeply the kernel's loops nest (recorded: matmul 3, stencil 2). Deeper does not mean faster.</a:t>
            </a:r>
          </a:p>
          <a:p>
            <a:pPr algn="l">
              <a:spcAft>
                <a:spcPts val="600"/>
              </a:spcAft>
            </a:pPr>
            <a:r>
              <a:rPr sz="1200" b="1" i="0">
                <a:solidFill>
                  <a:srgbClr val="8A5500"/>
                </a:solidFill>
                <a:latin typeface="Arial"/>
              </a:rPr>
              <a:t>Recorded, not scored</a:t>
            </a:r>
          </a:p>
        </p:txBody>
      </p:sp>
      <p:sp>
        <p:nvSpPr>
          <p:cNvPr id="20" name="Signal 3"/>
          <p:cNvSpPr/>
          <p:nvPr/>
        </p:nvSpPr>
        <p:spPr>
          <a:xfrm>
            <a:off x="5042916"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t"/>
          <a:lstStyle/>
          <a:p>
            <a:pPr algn="l">
              <a:spcAft>
                <a:spcPts val="500"/>
              </a:spcAft>
            </a:pPr>
            <a:r>
              <a:rPr sz="1400" b="1" i="0">
                <a:solidFill>
                  <a:srgbClr val="1F3A5F"/>
                </a:solidFill>
                <a:latin typeface="Arial"/>
              </a:rPr>
              <a:t>3  Arithmetic intensity</a:t>
            </a:r>
          </a:p>
          <a:p>
            <a:pPr algn="l">
              <a:spcAft>
                <a:spcPts val="600"/>
              </a:spcAft>
            </a:pPr>
            <a:r>
              <a:rPr sz="1300" b="0" i="0">
                <a:solidFill>
                  <a:srgbClr val="1A1A1A"/>
                </a:solidFill>
                <a:latin typeface="Arial"/>
              </a:rPr>
              <a:t>FLOPs ÷ bytes moved, estimated from the kernel definition and n.</a:t>
            </a:r>
          </a:p>
          <a:p>
            <a:pPr algn="l">
              <a:spcAft>
                <a:spcPts val="600"/>
              </a:spcAft>
            </a:pPr>
            <a:r>
              <a:rPr sz="1200" b="1" i="0">
                <a:solidFill>
                  <a:srgbClr val="8A5500"/>
                </a:solidFill>
                <a:latin typeface="Arial"/>
              </a:rPr>
              <a:t>Recorded, not scored</a:t>
            </a:r>
          </a:p>
        </p:txBody>
      </p:sp>
      <p:sp>
        <p:nvSpPr>
          <p:cNvPr id="21" name="Signal 4"/>
          <p:cNvSpPr/>
          <p:nvPr/>
        </p:nvSpPr>
        <p:spPr>
          <a:xfrm>
            <a:off x="7290054"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t"/>
          <a:lstStyle/>
          <a:p>
            <a:pPr algn="l">
              <a:spcAft>
                <a:spcPts val="500"/>
              </a:spcAft>
            </a:pPr>
            <a:r>
              <a:rPr sz="1400" b="1" i="0">
                <a:solidFill>
                  <a:srgbClr val="1F3A5F"/>
                </a:solidFill>
                <a:latin typeface="Arial"/>
              </a:rPr>
              <a:t>4  Memory-bandwidth demand</a:t>
            </a:r>
          </a:p>
          <a:p>
            <a:pPr algn="l">
              <a:spcAft>
                <a:spcPts val="600"/>
              </a:spcAft>
            </a:pPr>
            <a:r>
              <a:rPr sz="1300" b="0" i="0">
                <a:solidFill>
                  <a:srgbClr val="1A1A1A"/>
                </a:solidFill>
                <a:latin typeface="Arial"/>
              </a:rPr>
              <a:t>Proxy only: working set above 4 MiB favors prefetch flags. No bandwidth model, no hardware counters.</a:t>
            </a:r>
          </a:p>
          <a:p>
            <a:pPr algn="l">
              <a:spcAft>
                <a:spcPts val="600"/>
              </a:spcAft>
            </a:pPr>
            <a:r>
              <a:rPr sz="1200" b="1" i="0">
                <a:solidFill>
                  <a:srgbClr val="1F3A5F"/>
                </a:solidFill>
                <a:latin typeface="Arial"/>
              </a:rPr>
              <a:t>Proxy used</a:t>
            </a:r>
          </a:p>
        </p:txBody>
      </p:sp>
      <p:sp>
        <p:nvSpPr>
          <p:cNvPr id="22" name="Signal 5"/>
          <p:cNvSpPr/>
          <p:nvPr/>
        </p:nvSpPr>
        <p:spPr>
          <a:xfrm>
            <a:off x="9537192" y="2468880"/>
            <a:ext cx="2103120" cy="2331720"/>
          </a:xfrm>
          <a:prstGeom prst="rect">
            <a:avLst/>
          </a:prstGeom>
          <a:solidFill>
            <a:srgbClr val="FFFFFF"/>
          </a:solidFill>
          <a:ln w="12700">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t"/>
          <a:lstStyle/>
          <a:p>
            <a:pPr algn="l">
              <a:spcAft>
                <a:spcPts val="500"/>
              </a:spcAft>
            </a:pPr>
            <a:r>
              <a:rPr sz="1400" b="1" i="0">
                <a:solidFill>
                  <a:srgbClr val="1F3A5F"/>
                </a:solidFill>
                <a:latin typeface="Arial"/>
              </a:rPr>
              <a:t>5  Historical evidence</a:t>
            </a:r>
          </a:p>
          <a:p>
            <a:pPr algn="l">
              <a:spcAft>
                <a:spcPts val="600"/>
              </a:spcAft>
            </a:pPr>
            <a:r>
              <a:rPr sz="1300" b="0" i="0">
                <a:solidFill>
                  <a:srgbClr val="1A1A1A"/>
                </a:solidFill>
                <a:latin typeface="Arial"/>
              </a:rPr>
              <a:t>Earlier log-gains vs -O2; closer input sizes count more. Needs a history file.</a:t>
            </a:r>
          </a:p>
          <a:p>
            <a:pPr algn="l">
              <a:spcAft>
                <a:spcPts val="600"/>
              </a:spcAft>
            </a:pPr>
            <a:r>
              <a:rPr sz="1200" b="1" i="0">
                <a:solidFill>
                  <a:srgbClr val="1F3A5F"/>
                </a:solidFill>
                <a:latin typeface="Arial"/>
              </a:rPr>
              <a:t>Used if file given</a:t>
            </a:r>
          </a:p>
        </p:txBody>
      </p:sp>
      <p:sp>
        <p:nvSpPr>
          <p:cNvPr id="23" name="TextBox 22"/>
          <p:cNvSpPr txBox="1"/>
          <p:nvPr/>
        </p:nvSpPr>
        <p:spPr>
          <a:xfrm>
            <a:off x="548640" y="4919472"/>
            <a:ext cx="4937760" cy="274320"/>
          </a:xfrm>
          <a:prstGeom prst="rect">
            <a:avLst/>
          </a:prstGeom>
          <a:noFill/>
        </p:spPr>
        <p:txBody>
          <a:bodyPr wrap="square" lIns="45720" tIns="36576" rIns="45720" bIns="36576">
            <a:spAutoFit/>
          </a:bodyPr>
          <a:lstStyle/>
          <a:p>
            <a:pPr algn="l">
              <a:spcAft>
                <a:spcPts val="600"/>
              </a:spcAft>
            </a:pPr>
            <a:r>
              <a:rPr sz="1300" b="1" i="0">
                <a:solidFill>
                  <a:srgbClr val="1F3A5F"/>
                </a:solidFill>
                <a:latin typeface="Arial"/>
              </a:rPr>
              <a:t>Teaching example for signal 2: two nested loop levels</a:t>
            </a:r>
          </a:p>
        </p:txBody>
      </p:sp>
      <p:sp>
        <p:nvSpPr>
          <p:cNvPr id="24" name="Loop depth example"/>
          <p:cNvSpPr/>
          <p:nvPr/>
        </p:nvSpPr>
        <p:spPr>
          <a:xfrm>
            <a:off x="548640" y="5212080"/>
            <a:ext cx="4937760" cy="109728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150">
                <a:solidFill>
                  <a:srgbClr val="1A1A1A"/>
                </a:solidFill>
                <a:latin typeface="Courier New"/>
              </a:rPr>
              <a:t>for (int i = 0; i &lt; n; i++) {</a:t>
            </a:r>
          </a:p>
          <a:p>
            <a:pPr algn="l">
              <a:spcAft>
                <a:spcPts val="0"/>
              </a:spcAft>
            </a:pPr>
            <a:r>
              <a:rPr sz="1150">
                <a:solidFill>
                  <a:srgbClr val="1A1A1A"/>
                </a:solidFill>
                <a:latin typeface="Courier New"/>
              </a:rPr>
              <a:t>  for (int j = 0; j &lt; n; j++) {</a:t>
            </a:r>
          </a:p>
          <a:p>
            <a:pPr algn="l">
              <a:spcAft>
                <a:spcPts val="0"/>
              </a:spcAft>
            </a:pPr>
            <a:r>
              <a:rPr sz="1150">
                <a:solidFill>
                  <a:srgbClr val="1A1A1A"/>
                </a:solidFill>
                <a:latin typeface="Courier New"/>
              </a:rPr>
              <a:t>    result[i] += a[i][j] * x[j];</a:t>
            </a:r>
          </a:p>
          <a:p>
            <a:pPr algn="l">
              <a:spcAft>
                <a:spcPts val="0"/>
              </a:spcAft>
            </a:pPr>
            <a:r>
              <a:rPr sz="1150">
                <a:solidFill>
                  <a:srgbClr val="1A1A1A"/>
                </a:solidFill>
                <a:latin typeface="Courier New"/>
              </a:rPr>
              <a:t>  }</a:t>
            </a:r>
          </a:p>
          <a:p>
            <a:pPr algn="l">
              <a:spcAft>
                <a:spcPts val="0"/>
              </a:spcAft>
            </a:pPr>
            <a:r>
              <a:rPr sz="1150">
                <a:solidFill>
                  <a:srgbClr val="1A1A1A"/>
                </a:solidFill>
                <a:latin typeface="Courier New"/>
              </a:rPr>
              <a:t>}</a:t>
            </a:r>
          </a:p>
        </p:txBody>
      </p:sp>
      <p:sp>
        <p:nvSpPr>
          <p:cNvPr id="25" name="Scoring note"/>
          <p:cNvSpPr/>
          <p:nvPr/>
        </p:nvSpPr>
        <p:spPr>
          <a:xfrm>
            <a:off x="5760720" y="4937760"/>
            <a:ext cx="5879592" cy="1371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137160" tIns="36576" rIns="137160" bIns="36576" rtlCol="0" anchor="ctr"/>
          <a:lstStyle/>
          <a:p>
            <a:pPr algn="l">
              <a:spcAft>
                <a:spcPts val="600"/>
              </a:spcAft>
            </a:pPr>
            <a:r>
              <a:rPr sz="1300" b="1" i="0" dirty="0">
                <a:solidFill>
                  <a:srgbClr val="1A1A1A"/>
                </a:solidFill>
                <a:latin typeface="Arial"/>
              </a:rPr>
              <a:t>Score used today</a:t>
            </a:r>
            <a:r>
              <a:rPr sz="1300" b="0" i="0" dirty="0">
                <a:solidFill>
                  <a:srgbClr val="1A1A1A"/>
                </a:solidFill>
                <a:latin typeface="Arial"/>
              </a:rPr>
              <a:t> = prior (streaming, reduction, working set &gt; 4 MiB) + history + pilot feedback. A hand-written heuristic, not machine learning.</a:t>
            </a:r>
          </a:p>
          <a:p>
            <a:pPr algn="l">
              <a:spcAft>
                <a:spcPts val="600"/>
              </a:spcAft>
            </a:pPr>
            <a:r>
              <a:rPr sz="1300" b="0" i="0" dirty="0">
                <a:solidFill>
                  <a:srgbClr val="1A1A1A"/>
                </a:solidFill>
                <a:latin typeface="Arial"/>
              </a:rPr>
              <a:t>Loop depth and FLOPs/byte are recorded for explanation; they do not change the order yet.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Candidate Lifecycle</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7 / 15</a:t>
            </a:r>
          </a:p>
        </p:txBody>
      </p:sp>
      <p:sp>
        <p:nvSpPr>
          <p:cNvPr id="5" name="Lifecycle 1"/>
          <p:cNvSpPr/>
          <p:nvPr/>
        </p:nvSpPr>
        <p:spPr>
          <a:xfrm>
            <a:off x="548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45720" tIns="36576" rIns="45720" bIns="36576" rtlCol="0" anchor="ctr"/>
          <a:lstStyle/>
          <a:p>
            <a:pPr algn="ctr">
              <a:spcAft>
                <a:spcPts val="200"/>
              </a:spcAft>
            </a:pPr>
            <a:r>
              <a:rPr sz="1400" b="1" i="0">
                <a:solidFill>
                  <a:srgbClr val="1F3A5F"/>
                </a:solidFill>
                <a:latin typeface="Arial"/>
              </a:rPr>
              <a:t>1 Candidate proposed</a:t>
            </a:r>
          </a:p>
          <a:p>
            <a:pPr algn="ctr">
              <a:spcAft>
                <a:spcPts val="600"/>
              </a:spcAft>
            </a:pPr>
            <a:r>
              <a:rPr sz="1150" b="0" i="0">
                <a:solidFill>
                  <a:srgbClr val="1A1A1A"/>
                </a:solidFill>
                <a:latin typeface="Arial"/>
              </a:rPr>
              <a:t>from the strategy</a:t>
            </a:r>
          </a:p>
        </p:txBody>
      </p:sp>
      <p:cxnSp>
        <p:nvCxnSpPr>
          <p:cNvPr id="6" name="Connector 5"/>
          <p:cNvCxnSpPr/>
          <p:nvPr/>
        </p:nvCxnSpPr>
        <p:spPr>
          <a:xfrm>
            <a:off x="2468880" y="1737360"/>
            <a:ext cx="36576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7" name="Lifecycle 2"/>
          <p:cNvSpPr/>
          <p:nvPr/>
        </p:nvSpPr>
        <p:spPr>
          <a:xfrm>
            <a:off x="2834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45720" tIns="36576" rIns="45720" bIns="36576" rtlCol="0" anchor="ctr"/>
          <a:lstStyle/>
          <a:p>
            <a:pPr algn="ctr">
              <a:spcAft>
                <a:spcPts val="200"/>
              </a:spcAft>
            </a:pPr>
            <a:r>
              <a:rPr sz="1400" b="1" i="0">
                <a:solidFill>
                  <a:srgbClr val="1F3A5F"/>
                </a:solidFill>
                <a:latin typeface="Arial"/>
              </a:rPr>
              <a:t>2 Budget checked</a:t>
            </a:r>
          </a:p>
          <a:p>
            <a:pPr algn="ctr">
              <a:spcAft>
                <a:spcPts val="600"/>
              </a:spcAft>
            </a:pPr>
            <a:r>
              <a:rPr sz="1150" b="0" i="0">
                <a:solidFill>
                  <a:srgbClr val="1A1A1A"/>
                </a:solidFill>
                <a:latin typeface="Arial"/>
              </a:rPr>
              <a:t>budget left? if not, stop</a:t>
            </a:r>
          </a:p>
        </p:txBody>
      </p:sp>
      <p:cxnSp>
        <p:nvCxnSpPr>
          <p:cNvPr id="8" name="Connector 7"/>
          <p:cNvCxnSpPr/>
          <p:nvPr/>
        </p:nvCxnSpPr>
        <p:spPr>
          <a:xfrm>
            <a:off x="4754880" y="1737360"/>
            <a:ext cx="36576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Lifecycle 3"/>
          <p:cNvSpPr/>
          <p:nvPr/>
        </p:nvSpPr>
        <p:spPr>
          <a:xfrm>
            <a:off x="5120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45720" tIns="36576" rIns="45720" bIns="36576" rtlCol="0" anchor="ctr"/>
          <a:lstStyle/>
          <a:p>
            <a:pPr algn="ctr">
              <a:spcAft>
                <a:spcPts val="200"/>
              </a:spcAft>
            </a:pPr>
            <a:r>
              <a:rPr sz="1400" b="1" i="0">
                <a:solidFill>
                  <a:srgbClr val="1F3A5F"/>
                </a:solidFill>
                <a:latin typeface="Arial"/>
              </a:rPr>
              <a:t>3 Compile with GCC</a:t>
            </a:r>
          </a:p>
          <a:p>
            <a:pPr algn="ctr">
              <a:spcAft>
                <a:spcPts val="600"/>
              </a:spcAft>
            </a:pPr>
            <a:r>
              <a:rPr sz="1150" b="0" i="0">
                <a:solidFill>
                  <a:srgbClr val="1A1A1A"/>
                </a:solidFill>
                <a:latin typeface="Arial"/>
              </a:rPr>
              <a:t>executable produced?</a:t>
            </a:r>
          </a:p>
        </p:txBody>
      </p:sp>
      <p:cxnSp>
        <p:nvCxnSpPr>
          <p:cNvPr id="10" name="Connector 9"/>
          <p:cNvCxnSpPr/>
          <p:nvPr/>
        </p:nvCxnSpPr>
        <p:spPr>
          <a:xfrm>
            <a:off x="7040879" y="1737360"/>
            <a:ext cx="365761"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Lifecycle 4"/>
          <p:cNvSpPr/>
          <p:nvPr/>
        </p:nvSpPr>
        <p:spPr>
          <a:xfrm>
            <a:off x="7406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45720" tIns="36576" rIns="45720" bIns="36576" rtlCol="0" anchor="ctr"/>
          <a:lstStyle/>
          <a:p>
            <a:pPr algn="ctr">
              <a:spcAft>
                <a:spcPts val="200"/>
              </a:spcAft>
            </a:pPr>
            <a:r>
              <a:rPr sz="1400" b="1" i="0">
                <a:solidFill>
                  <a:srgbClr val="1F3A5F"/>
                </a:solidFill>
                <a:latin typeface="Arial"/>
              </a:rPr>
              <a:t>4 Correctness check</a:t>
            </a:r>
          </a:p>
          <a:p>
            <a:pPr algn="ctr">
              <a:spcAft>
                <a:spcPts val="600"/>
              </a:spcAft>
            </a:pPr>
            <a:r>
              <a:rPr sz="1150" b="0" i="0">
                <a:solidFill>
                  <a:srgbClr val="1A1A1A"/>
                </a:solidFill>
                <a:latin typeface="Arial"/>
              </a:rPr>
              <a:t>vs reference, tolerance 1e-9</a:t>
            </a:r>
          </a:p>
        </p:txBody>
      </p:sp>
      <p:cxnSp>
        <p:nvCxnSpPr>
          <p:cNvPr id="12" name="Connector 11"/>
          <p:cNvCxnSpPr/>
          <p:nvPr/>
        </p:nvCxnSpPr>
        <p:spPr>
          <a:xfrm>
            <a:off x="9326880" y="1737360"/>
            <a:ext cx="36576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Lifecycle 5"/>
          <p:cNvSpPr/>
          <p:nvPr/>
        </p:nvSpPr>
        <p:spPr>
          <a:xfrm>
            <a:off x="9692640" y="1280160"/>
            <a:ext cx="1920240" cy="91440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45720" tIns="36576" rIns="45720" bIns="36576" rtlCol="0" anchor="ctr"/>
          <a:lstStyle/>
          <a:p>
            <a:pPr algn="ctr">
              <a:spcAft>
                <a:spcPts val="200"/>
              </a:spcAft>
            </a:pPr>
            <a:r>
              <a:rPr sz="1400" b="1" i="0">
                <a:solidFill>
                  <a:srgbClr val="1F3A5F"/>
                </a:solidFill>
                <a:latin typeface="Arial"/>
              </a:rPr>
              <a:t>5 Measure</a:t>
            </a:r>
          </a:p>
          <a:p>
            <a:pPr algn="ctr">
              <a:spcAft>
                <a:spcPts val="600"/>
              </a:spcAft>
            </a:pPr>
            <a:r>
              <a:rPr sz="1150" b="0" i="0">
                <a:solidFill>
                  <a:srgbClr val="1A1A1A"/>
                </a:solidFill>
                <a:latin typeface="Arial"/>
              </a:rPr>
              <a:t>warm-ups + 15 timed runs</a:t>
            </a:r>
          </a:p>
        </p:txBody>
      </p:sp>
      <p:sp>
        <p:nvSpPr>
          <p:cNvPr id="14" name="Failure branch"/>
          <p:cNvSpPr/>
          <p:nvPr/>
        </p:nvSpPr>
        <p:spPr>
          <a:xfrm>
            <a:off x="5120640" y="2926080"/>
            <a:ext cx="4206240" cy="960120"/>
          </a:xfrm>
          <a:prstGeom prst="rect">
            <a:avLst/>
          </a:prstGeom>
          <a:solidFill>
            <a:srgbClr val="FFF6E5"/>
          </a:solidFill>
          <a:ln w="15875">
            <a:solidFill>
              <a:srgbClr val="8A5500"/>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ctr">
              <a:spcAft>
                <a:spcPts val="300"/>
              </a:spcAft>
            </a:pPr>
            <a:r>
              <a:rPr sz="1300" b="1" i="0">
                <a:solidFill>
                  <a:srgbClr val="8A5500"/>
                </a:solidFill>
                <a:latin typeface="Arial"/>
              </a:rPr>
              <a:t>Failed candidate: BUILD_FAILED or CORRECTNESS_FAILED</a:t>
            </a:r>
          </a:p>
          <a:p>
            <a:pPr algn="ctr">
              <a:spcAft>
                <a:spcPts val="600"/>
              </a:spcAft>
            </a:pPr>
            <a:r>
              <a:rPr sz="1200" b="0" i="0">
                <a:solidFill>
                  <a:srgbClr val="1A1A1A"/>
                </a:solidFill>
                <a:latin typeface="Arial"/>
              </a:rPr>
              <a:t>recorded with the reason; still counts toward B; can never win</a:t>
            </a:r>
          </a:p>
        </p:txBody>
      </p:sp>
      <p:cxnSp>
        <p:nvCxnSpPr>
          <p:cNvPr id="15" name="Connector 14"/>
          <p:cNvCxnSpPr/>
          <p:nvPr/>
        </p:nvCxnSpPr>
        <p:spPr>
          <a:xfrm>
            <a:off x="6080759" y="2194560"/>
            <a:ext cx="0" cy="731520"/>
          </a:xfrm>
          <a:prstGeom prst="line">
            <a:avLst/>
          </a:prstGeom>
          <a:ln w="19050">
            <a:solidFill>
              <a:srgbClr val="8A55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366760" y="2194560"/>
            <a:ext cx="0" cy="731520"/>
          </a:xfrm>
          <a:prstGeom prst="line">
            <a:avLst/>
          </a:prstGeom>
          <a:ln w="19050">
            <a:solidFill>
              <a:srgbClr val="8A55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53912" y="2377440"/>
            <a:ext cx="822960" cy="274320"/>
          </a:xfrm>
          <a:prstGeom prst="rect">
            <a:avLst/>
          </a:prstGeom>
          <a:noFill/>
        </p:spPr>
        <p:txBody>
          <a:bodyPr wrap="square" lIns="45720" tIns="36576" rIns="45720" bIns="36576">
            <a:spAutoFit/>
          </a:bodyPr>
          <a:lstStyle/>
          <a:p>
            <a:pPr algn="l">
              <a:spcAft>
                <a:spcPts val="600"/>
              </a:spcAft>
            </a:pPr>
            <a:r>
              <a:rPr sz="1100" b="0" i="1">
                <a:solidFill>
                  <a:srgbClr val="8A5500"/>
                </a:solidFill>
                <a:latin typeface="Arial"/>
              </a:rPr>
              <a:t>build fails</a:t>
            </a:r>
          </a:p>
        </p:txBody>
      </p:sp>
      <p:sp>
        <p:nvSpPr>
          <p:cNvPr id="18" name="TextBox 17"/>
          <p:cNvSpPr txBox="1"/>
          <p:nvPr/>
        </p:nvSpPr>
        <p:spPr>
          <a:xfrm>
            <a:off x="8439912" y="2377440"/>
            <a:ext cx="1097280" cy="274320"/>
          </a:xfrm>
          <a:prstGeom prst="rect">
            <a:avLst/>
          </a:prstGeom>
          <a:noFill/>
        </p:spPr>
        <p:txBody>
          <a:bodyPr wrap="square" lIns="45720" tIns="36576" rIns="45720" bIns="36576">
            <a:spAutoFit/>
          </a:bodyPr>
          <a:lstStyle/>
          <a:p>
            <a:pPr algn="l">
              <a:spcAft>
                <a:spcPts val="600"/>
              </a:spcAft>
            </a:pPr>
            <a:r>
              <a:rPr sz="1100" b="0" i="1">
                <a:solidFill>
                  <a:srgbClr val="8A5500"/>
                </a:solidFill>
                <a:latin typeface="Arial"/>
              </a:rPr>
              <a:t>wrong answer</a:t>
            </a:r>
          </a:p>
        </p:txBody>
      </p:sp>
      <p:sp>
        <p:nvSpPr>
          <p:cNvPr id="19" name="Lifecycle 6"/>
          <p:cNvSpPr/>
          <p:nvPr/>
        </p:nvSpPr>
        <p:spPr>
          <a:xfrm>
            <a:off x="9692640" y="2926080"/>
            <a:ext cx="1920240" cy="96012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45720" tIns="36576" rIns="45720" bIns="36576" rtlCol="0" anchor="ctr"/>
          <a:lstStyle/>
          <a:p>
            <a:pPr algn="ctr">
              <a:spcAft>
                <a:spcPts val="200"/>
              </a:spcAft>
            </a:pPr>
            <a:r>
              <a:rPr sz="1400" b="1" i="0">
                <a:solidFill>
                  <a:srgbClr val="1F3A5F"/>
                </a:solidFill>
                <a:latin typeface="Arial"/>
              </a:rPr>
              <a:t>6 Result recorded</a:t>
            </a:r>
          </a:p>
          <a:p>
            <a:pPr algn="ctr">
              <a:spcAft>
                <a:spcPts val="600"/>
              </a:spcAft>
            </a:pPr>
            <a:r>
              <a:rPr sz="1150" b="0" i="0">
                <a:solidFill>
                  <a:srgbClr val="1A1A1A"/>
                </a:solidFill>
                <a:latin typeface="Arial"/>
              </a:rPr>
              <a:t>state, median, IQR, size</a:t>
            </a:r>
          </a:p>
        </p:txBody>
      </p:sp>
      <p:cxnSp>
        <p:nvCxnSpPr>
          <p:cNvPr id="20" name="Connector 19"/>
          <p:cNvCxnSpPr/>
          <p:nvPr/>
        </p:nvCxnSpPr>
        <p:spPr>
          <a:xfrm>
            <a:off x="10652760" y="2194560"/>
            <a:ext cx="0" cy="73152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326880" y="3406140"/>
            <a:ext cx="365760" cy="0"/>
          </a:xfrm>
          <a:prstGeom prst="line">
            <a:avLst/>
          </a:prstGeom>
          <a:ln w="19050">
            <a:solidFill>
              <a:srgbClr val="8A5500"/>
            </a:solidFill>
            <a:tailEnd type="triangle"/>
          </a:ln>
        </p:spPr>
        <p:style>
          <a:lnRef idx="2">
            <a:schemeClr val="accent1"/>
          </a:lnRef>
          <a:fillRef idx="0">
            <a:schemeClr val="accent1"/>
          </a:fillRef>
          <a:effectRef idx="1">
            <a:schemeClr val="accent1"/>
          </a:effectRef>
          <a:fontRef idx="minor">
            <a:schemeClr val="tx1"/>
          </a:fontRef>
        </p:style>
      </p:cxnSp>
      <p:sp>
        <p:nvSpPr>
          <p:cNvPr id="22" name="Lifecycle 7"/>
          <p:cNvSpPr/>
          <p:nvPr/>
        </p:nvSpPr>
        <p:spPr>
          <a:xfrm>
            <a:off x="9692640" y="4526280"/>
            <a:ext cx="1920240" cy="96012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45720" tIns="36576" rIns="45720" bIns="36576" rtlCol="0" anchor="ctr"/>
          <a:lstStyle/>
          <a:p>
            <a:pPr algn="ctr">
              <a:spcAft>
                <a:spcPts val="200"/>
              </a:spcAft>
            </a:pPr>
            <a:r>
              <a:rPr sz="1400" b="1" i="0">
                <a:solidFill>
                  <a:srgbClr val="1F3A5F"/>
                </a:solidFill>
                <a:latin typeface="Arial"/>
              </a:rPr>
              <a:t>7 Compared</a:t>
            </a:r>
          </a:p>
          <a:p>
            <a:pPr algn="ctr">
              <a:spcAft>
                <a:spcPts val="600"/>
              </a:spcAft>
            </a:pPr>
            <a:r>
              <a:rPr sz="1150" b="0" i="0">
                <a:solidFill>
                  <a:srgbClr val="1A1A1A"/>
                </a:solidFill>
                <a:latin typeface="Arial"/>
              </a:rPr>
              <a:t>rank correct candidates</a:t>
            </a:r>
          </a:p>
        </p:txBody>
      </p:sp>
      <p:cxnSp>
        <p:nvCxnSpPr>
          <p:cNvPr id="23" name="Connector 22"/>
          <p:cNvCxnSpPr/>
          <p:nvPr/>
        </p:nvCxnSpPr>
        <p:spPr>
          <a:xfrm>
            <a:off x="10652760" y="3886200"/>
            <a:ext cx="0" cy="6400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4" name="Lifecycle 8"/>
          <p:cNvSpPr/>
          <p:nvPr/>
        </p:nvSpPr>
        <p:spPr>
          <a:xfrm>
            <a:off x="7406640" y="4526280"/>
            <a:ext cx="1920240" cy="96012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45720" tIns="36576" rIns="45720" bIns="36576" rtlCol="0" anchor="ctr"/>
          <a:lstStyle/>
          <a:p>
            <a:pPr algn="ctr">
              <a:spcAft>
                <a:spcPts val="200"/>
              </a:spcAft>
            </a:pPr>
            <a:r>
              <a:rPr sz="1400" b="1" i="0">
                <a:solidFill>
                  <a:srgbClr val="1F3A5F"/>
                </a:solidFill>
                <a:latin typeface="Arial"/>
              </a:rPr>
              <a:t>8 Next or stop</a:t>
            </a:r>
          </a:p>
          <a:p>
            <a:pPr algn="ctr">
              <a:spcAft>
                <a:spcPts val="600"/>
              </a:spcAft>
            </a:pPr>
            <a:r>
              <a:rPr sz="1150" b="0" i="0">
                <a:solidFill>
                  <a:srgbClr val="1A1A1A"/>
                </a:solidFill>
                <a:latin typeface="Arial"/>
              </a:rPr>
              <a:t>back to 1, or stop and explain</a:t>
            </a:r>
          </a:p>
        </p:txBody>
      </p:sp>
      <p:cxnSp>
        <p:nvCxnSpPr>
          <p:cNvPr id="25" name="Connector 24"/>
          <p:cNvCxnSpPr/>
          <p:nvPr/>
        </p:nvCxnSpPr>
        <p:spPr>
          <a:xfrm flipH="1">
            <a:off x="9326880" y="5006340"/>
            <a:ext cx="365760" cy="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6" name="Reference note"/>
          <p:cNvSpPr/>
          <p:nvPr/>
        </p:nvSpPr>
        <p:spPr>
          <a:xfrm>
            <a:off x="548640" y="2926080"/>
            <a:ext cx="4206240" cy="960120"/>
          </a:xfrm>
          <a:prstGeom prst="rect">
            <a:avLst/>
          </a:prstGeom>
          <a:solidFill>
            <a:srgbClr val="FFFFFF"/>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l">
              <a:spcAft>
                <a:spcPts val="600"/>
              </a:spcAft>
            </a:pPr>
            <a:r>
              <a:rPr sz="1250" b="1" i="0">
                <a:solidFill>
                  <a:srgbClr val="1A1A1A"/>
                </a:solidFill>
                <a:latin typeface="Arial"/>
              </a:rPr>
              <a:t>Reference (oracle):</a:t>
            </a:r>
            <a:r>
              <a:rPr sz="1250" b="0" i="0">
                <a:solidFill>
                  <a:srgbClr val="1A1A1A"/>
                </a:solidFill>
                <a:latin typeface="Arial"/>
              </a:rPr>
              <a:t> an independent long-double calculation inside the harness. No reference executable is built.</a:t>
            </a:r>
          </a:p>
        </p:txBody>
      </p:sp>
      <p:sp>
        <p:nvSpPr>
          <p:cNvPr id="27" name="Anchor note"/>
          <p:cNvSpPr/>
          <p:nvPr/>
        </p:nvSpPr>
        <p:spPr>
          <a:xfrm>
            <a:off x="548640" y="4526280"/>
            <a:ext cx="6400800" cy="960120"/>
          </a:xfrm>
          <a:prstGeom prst="rect">
            <a:avLst/>
          </a:prstGeom>
          <a:solidFill>
            <a:srgbClr val="FFFFFF"/>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l">
              <a:spcAft>
                <a:spcPts val="600"/>
              </a:spcAft>
            </a:pPr>
            <a:r>
              <a:rPr sz="1250" b="1" i="0">
                <a:solidFill>
                  <a:srgbClr val="1A1A1A"/>
                </a:solidFill>
                <a:latin typeface="Arial"/>
              </a:rPr>
              <a:t>Anchor = the plain -O2 baseline.</a:t>
            </a:r>
            <a:r>
              <a:rPr sz="1250" b="0" i="0">
                <a:solidFill>
                  <a:srgbClr val="1A1A1A"/>
                </a:solidFill>
                <a:latin typeface="Arial"/>
              </a:rPr>
              <a:t> Built first and not counted in B. Pilot runs, history log-gains and the binary-size limit (at most 2.0x the </a:t>
            </a:r>
            <a:r>
              <a:rPr sz="1250" b="0" i="0">
                <a:solidFill>
                  <a:srgbClr val="1A1A1A"/>
                </a:solidFill>
                <a:latin typeface="Courier New"/>
              </a:rPr>
              <a:t>-O2</a:t>
            </a:r>
            <a:r>
              <a:rPr sz="1250" b="0" i="0">
                <a:solidFill>
                  <a:srgbClr val="1A1A1A"/>
                </a:solidFill>
                <a:latin typeface="Arial"/>
              </a:rPr>
              <a:t> binary) are measured against it.</a:t>
            </a:r>
          </a:p>
        </p:txBody>
      </p:sp>
      <p:sp>
        <p:nvSpPr>
          <p:cNvPr id="28" name="TextBox 27"/>
          <p:cNvSpPr txBox="1"/>
          <p:nvPr/>
        </p:nvSpPr>
        <p:spPr>
          <a:xfrm>
            <a:off x="548640" y="5669280"/>
            <a:ext cx="11091672" cy="640080"/>
          </a:xfrm>
          <a:prstGeom prst="rect">
            <a:avLst/>
          </a:prstGeom>
          <a:noFill/>
        </p:spPr>
        <p:txBody>
          <a:bodyPr wrap="square" lIns="45720" tIns="36576" rIns="45720" bIns="36576">
            <a:spAutoFit/>
          </a:bodyPr>
          <a:lstStyle/>
          <a:p>
            <a:pPr algn="l">
              <a:spcAft>
                <a:spcPts val="600"/>
              </a:spcAft>
            </a:pPr>
            <a:r>
              <a:rPr sz="1200" b="0" i="0">
                <a:solidFill>
                  <a:srgbClr val="5A6270"/>
                </a:solidFill>
                <a:latin typeface="Arial"/>
              </a:rPr>
              <a:t>In the code, candidates are built one by one first (adaptive: with a short pilot against the anchor); validation and timing then run for all built candidates together, interleaved. States: BUILD_FAILED, CORRECTNESS_FAILED, REJECTED_BY_POLICY, ELIGIBLE.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2600" b="1">
                <a:solidFill>
                  <a:srgbClr val="1F3A5F"/>
                </a:solidFill>
                <a:latin typeface="Arial"/>
              </a:rPr>
              <a:t>Faster Code vs. Strict Floating-Point Behavior</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9 / 15</a:t>
            </a:r>
          </a:p>
        </p:txBody>
      </p:sp>
      <p:sp>
        <p:nvSpPr>
          <p:cNvPr id="5" name="TextBox 4"/>
          <p:cNvSpPr txBox="1"/>
          <p:nvPr/>
        </p:nvSpPr>
        <p:spPr>
          <a:xfrm>
            <a:off x="548640" y="1188720"/>
            <a:ext cx="5486400" cy="320040"/>
          </a:xfrm>
          <a:prstGeom prst="rect">
            <a:avLst/>
          </a:prstGeom>
          <a:noFill/>
        </p:spPr>
        <p:txBody>
          <a:bodyPr wrap="square" lIns="45720" tIns="36576" rIns="45720" bIns="36576">
            <a:spAutoFit/>
          </a:bodyPr>
          <a:lstStyle/>
          <a:p>
            <a:pPr algn="l">
              <a:spcAft>
                <a:spcPts val="600"/>
              </a:spcAft>
            </a:pPr>
            <a:r>
              <a:rPr sz="1600" b="1" i="0">
                <a:solidFill>
                  <a:srgbClr val="1F3A5F"/>
                </a:solidFill>
                <a:latin typeface="Arial"/>
              </a:rPr>
              <a:t>What -ffast-math relaxes</a:t>
            </a:r>
          </a:p>
        </p:txBody>
      </p:sp>
      <p:sp>
        <p:nvSpPr>
          <p:cNvPr id="6" name="TextBox 5"/>
          <p:cNvSpPr txBox="1"/>
          <p:nvPr/>
        </p:nvSpPr>
        <p:spPr>
          <a:xfrm>
            <a:off x="548640" y="1600200"/>
            <a:ext cx="5486400" cy="3017520"/>
          </a:xfrm>
          <a:prstGeom prst="rect">
            <a:avLst/>
          </a:prstGeom>
          <a:noFill/>
        </p:spPr>
        <p:txBody>
          <a:bodyPr wrap="square" lIns="45720" tIns="36576" rIns="45720" bIns="36576">
            <a:spAutoFit/>
          </a:bodyPr>
          <a:lstStyle/>
          <a:p>
            <a:pPr marL="201168" indent="-201168" algn="l">
              <a:spcAft>
                <a:spcPts val="900"/>
              </a:spcAft>
              <a:buChar char="•"/>
            </a:pPr>
            <a:r>
              <a:rPr sz="1500" b="1" i="0">
                <a:solidFill>
                  <a:srgbClr val="1A1A1A"/>
                </a:solidFill>
                <a:latin typeface="Arial"/>
              </a:rPr>
              <a:t>Reassociation:</a:t>
            </a:r>
            <a:r>
              <a:rPr sz="1500" b="0" i="0">
                <a:solidFill>
                  <a:srgbClr val="1A1A1A"/>
                </a:solidFill>
                <a:latin typeface="Arial"/>
              </a:rPr>
              <a:t> may regroup </a:t>
            </a:r>
            <a:r>
              <a:rPr sz="1500" b="0" i="0">
                <a:solidFill>
                  <a:srgbClr val="1A1A1A"/>
                </a:solidFill>
                <a:latin typeface="Courier New"/>
              </a:rPr>
              <a:t>(a + b) + c</a:t>
            </a:r>
            <a:r>
              <a:rPr sz="1500" b="0" i="0">
                <a:solidFill>
                  <a:srgbClr val="1A1A1A"/>
                </a:solidFill>
                <a:latin typeface="Arial"/>
              </a:rPr>
              <a:t> as </a:t>
            </a:r>
            <a:r>
              <a:rPr sz="1500" b="0" i="0">
                <a:solidFill>
                  <a:srgbClr val="1A1A1A"/>
                </a:solidFill>
                <a:latin typeface="Courier New"/>
              </a:rPr>
              <a:t>a + (b + c)</a:t>
            </a:r>
            <a:r>
              <a:rPr sz="1500" b="0" i="0">
                <a:solidFill>
                  <a:srgbClr val="1A1A1A"/>
                </a:solidFill>
                <a:latin typeface="Arial"/>
              </a:rPr>
              <a:t>; the rounding differs.</a:t>
            </a:r>
          </a:p>
          <a:p>
            <a:pPr marL="201168" indent="-201168" algn="l">
              <a:spcAft>
                <a:spcPts val="900"/>
              </a:spcAft>
              <a:buChar char="•"/>
            </a:pPr>
            <a:r>
              <a:rPr sz="1500" b="1" i="0">
                <a:solidFill>
                  <a:srgbClr val="1A1A1A"/>
                </a:solidFill>
                <a:latin typeface="Arial"/>
              </a:rPr>
              <a:t>NaN / infinity:</a:t>
            </a:r>
            <a:r>
              <a:rPr sz="1500" b="0" i="0">
                <a:solidFill>
                  <a:srgbClr val="1A1A1A"/>
                </a:solidFill>
                <a:latin typeface="Arial"/>
              </a:rPr>
              <a:t> may assume values are never NaN or infinite, so checks like </a:t>
            </a:r>
            <a:r>
              <a:rPr sz="1500" b="0" i="0">
                <a:solidFill>
                  <a:srgbClr val="1A1A1A"/>
                </a:solidFill>
                <a:latin typeface="Courier New"/>
              </a:rPr>
              <a:t>x != x</a:t>
            </a:r>
            <a:r>
              <a:rPr sz="1500" b="0" i="0">
                <a:solidFill>
                  <a:srgbClr val="1A1A1A"/>
                </a:solidFill>
                <a:latin typeface="Arial"/>
              </a:rPr>
              <a:t> can disappear.</a:t>
            </a:r>
          </a:p>
          <a:p>
            <a:pPr marL="201168" indent="-201168" algn="l">
              <a:spcAft>
                <a:spcPts val="900"/>
              </a:spcAft>
              <a:buChar char="•"/>
            </a:pPr>
            <a:r>
              <a:rPr sz="1500" b="1" i="0">
                <a:solidFill>
                  <a:srgbClr val="1A1A1A"/>
                </a:solidFill>
                <a:latin typeface="Arial"/>
              </a:rPr>
              <a:t>Signed zero:</a:t>
            </a:r>
            <a:r>
              <a:rPr sz="1500" b="0" i="0">
                <a:solidFill>
                  <a:srgbClr val="1A1A1A"/>
                </a:solidFill>
                <a:latin typeface="Arial"/>
              </a:rPr>
              <a:t> may treat </a:t>
            </a:r>
            <a:r>
              <a:rPr sz="1500" b="0" i="0">
                <a:solidFill>
                  <a:srgbClr val="1A1A1A"/>
                </a:solidFill>
                <a:latin typeface="Courier New"/>
              </a:rPr>
              <a:t>-0.0</a:t>
            </a:r>
            <a:r>
              <a:rPr sz="1500" b="0" i="0">
                <a:solidFill>
                  <a:srgbClr val="1A1A1A"/>
                </a:solidFill>
                <a:latin typeface="Arial"/>
              </a:rPr>
              <a:t> and </a:t>
            </a:r>
            <a:r>
              <a:rPr sz="1500" b="0" i="0">
                <a:solidFill>
                  <a:srgbClr val="1A1A1A"/>
                </a:solidFill>
                <a:latin typeface="Courier New"/>
              </a:rPr>
              <a:t>+0.0</a:t>
            </a:r>
            <a:r>
              <a:rPr sz="1500" b="0" i="0">
                <a:solidFill>
                  <a:srgbClr val="1A1A1A"/>
                </a:solidFill>
                <a:latin typeface="Arial"/>
              </a:rPr>
              <a:t> as the same value.</a:t>
            </a:r>
          </a:p>
          <a:p>
            <a:pPr marL="201168" indent="-201168" algn="l">
              <a:spcAft>
                <a:spcPts val="900"/>
              </a:spcAft>
              <a:buChar char="•"/>
            </a:pPr>
            <a:r>
              <a:rPr sz="1500" b="1" i="0">
                <a:solidFill>
                  <a:srgbClr val="1A1A1A"/>
                </a:solidFill>
                <a:latin typeface="Arial"/>
              </a:rPr>
              <a:t>Reproducibility:</a:t>
            </a:r>
            <a:r>
              <a:rPr sz="1500" b="0" i="0">
                <a:solidFill>
                  <a:srgbClr val="1A1A1A"/>
                </a:solidFill>
                <a:latin typeface="Arial"/>
              </a:rPr>
              <a:t> the last digits can depend on compiler version, flags and target.</a:t>
            </a:r>
          </a:p>
        </p:txBody>
      </p:sp>
      <p:sp>
        <p:nvSpPr>
          <p:cNvPr id="7" name="TextBox 6"/>
          <p:cNvSpPr txBox="1"/>
          <p:nvPr/>
        </p:nvSpPr>
        <p:spPr>
          <a:xfrm>
            <a:off x="548640" y="4160520"/>
            <a:ext cx="5486400" cy="274320"/>
          </a:xfrm>
          <a:prstGeom prst="rect">
            <a:avLst/>
          </a:prstGeom>
          <a:noFill/>
        </p:spPr>
        <p:txBody>
          <a:bodyPr wrap="square" lIns="45720" tIns="36576" rIns="45720" bIns="36576">
            <a:spAutoFit/>
          </a:bodyPr>
          <a:lstStyle/>
          <a:p>
            <a:pPr algn="l">
              <a:spcAft>
                <a:spcPts val="600"/>
              </a:spcAft>
            </a:pPr>
            <a:r>
              <a:rPr sz="1300" b="1" i="0">
                <a:solidFill>
                  <a:srgbClr val="1F3A5F"/>
                </a:solidFill>
                <a:latin typeface="Arial"/>
              </a:rPr>
              <a:t>Operation-order example (double precision)</a:t>
            </a:r>
          </a:p>
        </p:txBody>
      </p:sp>
      <p:sp>
        <p:nvSpPr>
          <p:cNvPr id="8" name="Order example"/>
          <p:cNvSpPr/>
          <p:nvPr/>
        </p:nvSpPr>
        <p:spPr>
          <a:xfrm>
            <a:off x="548640" y="4480560"/>
            <a:ext cx="5486400" cy="9144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200">
                <a:solidFill>
                  <a:srgbClr val="1A1A1A"/>
                </a:solidFill>
                <a:latin typeface="Courier New"/>
              </a:rPr>
              <a:t>a = 1e16;  b = -1e16;  c = 1.0;</a:t>
            </a:r>
          </a:p>
          <a:p>
            <a:pPr algn="l">
              <a:spcAft>
                <a:spcPts val="0"/>
              </a:spcAft>
            </a:pPr>
            <a:r>
              <a:rPr sz="1200">
                <a:solidFill>
                  <a:srgbClr val="1A1A1A"/>
                </a:solidFill>
                <a:latin typeface="Courier New"/>
              </a:rPr>
              <a:t>(a + b) + c   -&gt;  1.0</a:t>
            </a:r>
          </a:p>
          <a:p>
            <a:pPr algn="l">
              <a:spcAft>
                <a:spcPts val="0"/>
              </a:spcAft>
            </a:pPr>
            <a:r>
              <a:rPr sz="1200">
                <a:solidFill>
                  <a:srgbClr val="1A1A1A"/>
                </a:solidFill>
                <a:latin typeface="Courier New"/>
              </a:rPr>
              <a:t>a + (b + c)   -&gt;  0.0   // b + c rounds to -1e16</a:t>
            </a:r>
          </a:p>
        </p:txBody>
      </p:sp>
      <p:sp>
        <p:nvSpPr>
          <p:cNvPr id="9" name="TextBox 8"/>
          <p:cNvSpPr txBox="1"/>
          <p:nvPr/>
        </p:nvSpPr>
        <p:spPr>
          <a:xfrm>
            <a:off x="6355080" y="1188720"/>
            <a:ext cx="5285232" cy="320040"/>
          </a:xfrm>
          <a:prstGeom prst="rect">
            <a:avLst/>
          </a:prstGeom>
          <a:noFill/>
        </p:spPr>
        <p:txBody>
          <a:bodyPr wrap="square" lIns="45720" tIns="36576" rIns="45720" bIns="36576">
            <a:spAutoFit/>
          </a:bodyPr>
          <a:lstStyle/>
          <a:p>
            <a:pPr algn="l">
              <a:spcAft>
                <a:spcPts val="600"/>
              </a:spcAft>
            </a:pPr>
            <a:r>
              <a:rPr sz="1600" b="1" i="0">
                <a:solidFill>
                  <a:srgbClr val="1F3A5F"/>
                </a:solidFill>
                <a:latin typeface="Arial"/>
              </a:rPr>
              <a:t>Why strict rules matter in some fields</a:t>
            </a:r>
          </a:p>
        </p:txBody>
      </p:sp>
      <p:sp>
        <p:nvSpPr>
          <p:cNvPr id="10" name="TextBox 9"/>
          <p:cNvSpPr txBox="1"/>
          <p:nvPr/>
        </p:nvSpPr>
        <p:spPr>
          <a:xfrm>
            <a:off x="6355080" y="1600200"/>
            <a:ext cx="5285232" cy="1828800"/>
          </a:xfrm>
          <a:prstGeom prst="rect">
            <a:avLst/>
          </a:prstGeom>
          <a:noFill/>
        </p:spPr>
        <p:txBody>
          <a:bodyPr wrap="square" lIns="45720" tIns="36576" rIns="45720" bIns="36576">
            <a:spAutoFit/>
          </a:bodyPr>
          <a:lstStyle/>
          <a:p>
            <a:pPr marL="201168" indent="-201168" algn="l">
              <a:spcAft>
                <a:spcPts val="900"/>
              </a:spcAft>
              <a:buChar char="•"/>
            </a:pPr>
            <a:r>
              <a:rPr sz="1500" b="1" i="0">
                <a:solidFill>
                  <a:srgbClr val="1A1A1A"/>
                </a:solidFill>
                <a:latin typeface="Arial"/>
              </a:rPr>
              <a:t>Finance:</a:t>
            </a:r>
            <a:r>
              <a:rPr sz="1500" b="0" i="0">
                <a:solidFill>
                  <a:srgbClr val="1A1A1A"/>
                </a:solidFill>
                <a:latin typeface="Arial"/>
              </a:rPr>
              <a:t> audited rounding and the same figure on every re-run.</a:t>
            </a:r>
          </a:p>
          <a:p>
            <a:pPr marL="201168" indent="-201168" algn="l">
              <a:spcAft>
                <a:spcPts val="900"/>
              </a:spcAft>
              <a:buChar char="•"/>
            </a:pPr>
            <a:r>
              <a:rPr sz="1500" b="1" i="0">
                <a:solidFill>
                  <a:srgbClr val="1A1A1A"/>
                </a:solidFill>
                <a:latin typeface="Arial"/>
              </a:rPr>
              <a:t>Aerospace / space:</a:t>
            </a:r>
            <a:r>
              <a:rPr sz="1500" b="0" i="0">
                <a:solidFill>
                  <a:srgbClr val="1A1A1A"/>
                </a:solidFill>
                <a:latin typeface="Arial"/>
              </a:rPr>
              <a:t> specified, verifiable numerics; NaN and overflow must be detected, not assumed away.</a:t>
            </a:r>
          </a:p>
          <a:p>
            <a:pPr marL="201168" indent="-201168" algn="l">
              <a:spcAft>
                <a:spcPts val="900"/>
              </a:spcAft>
              <a:buChar char="•"/>
            </a:pPr>
            <a:r>
              <a:rPr sz="1500" b="0" i="0">
                <a:solidFill>
                  <a:srgbClr val="1A1A1A"/>
                </a:solidFill>
                <a:latin typeface="Arial"/>
              </a:rPr>
              <a:t>This does </a:t>
            </a:r>
            <a:r>
              <a:rPr sz="1500" b="1" i="0">
                <a:solidFill>
                  <a:srgbClr val="1A1A1A"/>
                </a:solidFill>
                <a:latin typeface="Arial"/>
              </a:rPr>
              <a:t>not</a:t>
            </a:r>
            <a:r>
              <a:rPr sz="1500" b="0" i="0">
                <a:solidFill>
                  <a:srgbClr val="1A1A1A"/>
                </a:solidFill>
                <a:latin typeface="Arial"/>
              </a:rPr>
              <a:t> mean every use of </a:t>
            </a:r>
            <a:r>
              <a:rPr sz="1500" b="0" i="0">
                <a:solidFill>
                  <a:srgbClr val="1A1A1A"/>
                </a:solidFill>
                <a:latin typeface="Courier New"/>
              </a:rPr>
              <a:t>-ffast-math</a:t>
            </a:r>
            <a:r>
              <a:rPr sz="1500" b="0" i="0">
                <a:solidFill>
                  <a:srgbClr val="1A1A1A"/>
                </a:solidFill>
                <a:latin typeface="Arial"/>
              </a:rPr>
              <a:t> is unsafe; many simulation and graphics programs accept small differences.</a:t>
            </a:r>
          </a:p>
        </p:txBody>
      </p:sp>
      <p:sp>
        <p:nvSpPr>
          <p:cNvPr id="11" name="NOVA note"/>
          <p:cNvSpPr/>
          <p:nvPr/>
        </p:nvSpPr>
        <p:spPr>
          <a:xfrm>
            <a:off x="6355080" y="3840480"/>
            <a:ext cx="5285232" cy="242316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137160" tIns="36576" rIns="137160" bIns="36576" rtlCol="0" anchor="t"/>
          <a:lstStyle/>
          <a:p>
            <a:pPr algn="l">
              <a:spcAft>
                <a:spcPts val="500"/>
              </a:spcAft>
            </a:pPr>
            <a:r>
              <a:rPr sz="1400" b="1" i="0">
                <a:solidFill>
                  <a:srgbClr val="1F3A5F"/>
                </a:solidFill>
                <a:latin typeface="Arial"/>
              </a:rPr>
              <a:t>In NOVA</a:t>
            </a:r>
          </a:p>
          <a:p>
            <a:pPr marL="201168" indent="-201168" algn="l">
              <a:spcAft>
                <a:spcPts val="400"/>
              </a:spcAft>
              <a:buChar char="•"/>
            </a:pPr>
            <a:r>
              <a:rPr sz="1400" b="0" i="0">
                <a:solidFill>
                  <a:srgbClr val="1A1A1A"/>
                </a:solidFill>
                <a:latin typeface="Courier New"/>
              </a:rPr>
              <a:t>-ffast-math</a:t>
            </a:r>
            <a:r>
              <a:rPr sz="1400" b="0" i="0">
                <a:solidFill>
                  <a:srgbClr val="1A1A1A"/>
                </a:solidFill>
                <a:latin typeface="Arial"/>
              </a:rPr>
              <a:t> is not in the SmartPass whitelist; such a candidate is refused.</a:t>
            </a:r>
          </a:p>
          <a:p>
            <a:pPr marL="201168" indent="-201168" algn="l">
              <a:spcAft>
                <a:spcPts val="400"/>
              </a:spcAft>
              <a:buChar char="•"/>
            </a:pPr>
            <a:r>
              <a:rPr sz="1400" b="0" i="0">
                <a:solidFill>
                  <a:srgbClr val="1A1A1A"/>
                </a:solidFill>
                <a:latin typeface="Courier New"/>
              </a:rPr>
              <a:t>-Ofast</a:t>
            </a:r>
            <a:r>
              <a:rPr sz="1400" b="0" i="0">
                <a:solidFill>
                  <a:srgbClr val="1A1A1A"/>
                </a:solidFill>
                <a:latin typeface="Arial"/>
              </a:rPr>
              <a:t> appears only in a separate disclosure run (V0.6) and passed the five checks on all three kernels.</a:t>
            </a:r>
          </a:p>
          <a:p>
            <a:pPr marL="201168" indent="-201168" algn="l">
              <a:spcAft>
                <a:spcPts val="400"/>
              </a:spcAft>
              <a:buChar char="•"/>
            </a:pPr>
            <a:r>
              <a:rPr sz="1400" b="0" i="0">
                <a:solidFill>
                  <a:srgbClr val="1A1A1A"/>
                </a:solidFill>
                <a:latin typeface="Arial"/>
              </a:rPr>
              <a:t>So the gate cannot show a result is safe for a high-stakes program. Use of fast-math there needs domain-specific validation.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Running NOVA on a Program (B): SmartPass</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11 / 15</a:t>
            </a:r>
          </a:p>
        </p:txBody>
      </p:sp>
      <p:sp>
        <p:nvSpPr>
          <p:cNvPr id="5" name="TextBox 4"/>
          <p:cNvSpPr txBox="1"/>
          <p:nvPr/>
        </p:nvSpPr>
        <p:spPr>
          <a:xfrm>
            <a:off x="548640" y="1143000"/>
            <a:ext cx="5852160" cy="274320"/>
          </a:xfrm>
          <a:prstGeom prst="rect">
            <a:avLst/>
          </a:prstGeom>
          <a:noFill/>
        </p:spPr>
        <p:txBody>
          <a:bodyPr wrap="square" lIns="45720" tIns="36576" rIns="45720" bIns="36576">
            <a:spAutoFit/>
          </a:bodyPr>
          <a:lstStyle/>
          <a:p>
            <a:pPr algn="l">
              <a:spcAft>
                <a:spcPts val="600"/>
              </a:spcAft>
            </a:pPr>
            <a:r>
              <a:rPr sz="1300" b="1" i="0">
                <a:solidFill>
                  <a:srgbClr val="1F3A5F"/>
                </a:solidFill>
                <a:latin typeface="Arial"/>
              </a:rPr>
              <a:t>Kernel (C++): benchmarks/kernels/stencil.cpp</a:t>
            </a:r>
          </a:p>
        </p:txBody>
      </p:sp>
      <p:sp>
        <p:nvSpPr>
          <p:cNvPr id="6" name="Stencil kernel"/>
          <p:cNvSpPr/>
          <p:nvPr/>
        </p:nvSpPr>
        <p:spPr>
          <a:xfrm>
            <a:off x="548640" y="1417320"/>
            <a:ext cx="5852160" cy="64008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100">
                <a:solidFill>
                  <a:srgbClr val="1A1A1A"/>
                </a:solidFill>
                <a:latin typeface="Courier New"/>
              </a:rPr>
              <a:t>for (std::size_t i = 1; i + 1 &lt; n; ++i)</a:t>
            </a:r>
          </a:p>
          <a:p>
            <a:pPr algn="l">
              <a:spcAft>
                <a:spcPts val="0"/>
              </a:spcAft>
            </a:pPr>
            <a:r>
              <a:rPr sz="1100">
                <a:solidFill>
                  <a:srgbClr val="1A1A1A"/>
                </a:solidFill>
                <a:latin typeface="Courier New"/>
              </a:rPr>
              <a:t>  next[i] = 0.25 * cur[i-1] + 0.5 * cur[i] + 0.25 * cur[i+1];</a:t>
            </a:r>
          </a:p>
        </p:txBody>
      </p:sp>
      <p:sp>
        <p:nvSpPr>
          <p:cNvPr id="7" name="TextBox 6"/>
          <p:cNvSpPr txBox="1"/>
          <p:nvPr/>
        </p:nvSpPr>
        <p:spPr>
          <a:xfrm>
            <a:off x="548640" y="2194560"/>
            <a:ext cx="5852160" cy="256032"/>
          </a:xfrm>
          <a:prstGeom prst="rect">
            <a:avLst/>
          </a:prstGeom>
          <a:noFill/>
        </p:spPr>
        <p:txBody>
          <a:bodyPr wrap="square" lIns="45720" tIns="36576" rIns="45720" bIns="36576">
            <a:spAutoFit/>
          </a:bodyPr>
          <a:lstStyle/>
          <a:p>
            <a:pPr algn="l">
              <a:spcAft>
                <a:spcPts val="600"/>
              </a:spcAft>
            </a:pPr>
            <a:r>
              <a:rPr sz="1250" b="1" i="0">
                <a:solidFill>
                  <a:srgbClr val="1F3A5F"/>
                </a:solidFill>
                <a:latin typeface="Arial"/>
              </a:rPr>
              <a:t>1 Baseline: GCC alone</a:t>
            </a:r>
          </a:p>
        </p:txBody>
      </p:sp>
      <p:sp>
        <p:nvSpPr>
          <p:cNvPr id="8" name="Command 1 Baseline: GCC alone"/>
          <p:cNvSpPr/>
          <p:nvPr/>
        </p:nvSpPr>
        <p:spPr>
          <a:xfrm>
            <a:off x="548640" y="2450591"/>
            <a:ext cx="5852160" cy="603503"/>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050">
                <a:solidFill>
                  <a:srgbClr val="1A1A1A"/>
                </a:solidFill>
                <a:latin typeface="Courier New"/>
              </a:rPr>
              <a:t>g++ -std=c++17 -msse2 -mfpmath=sse -O2 …</a:t>
            </a:r>
          </a:p>
          <a:p>
            <a:pPr algn="l">
              <a:spcAft>
                <a:spcPts val="0"/>
              </a:spcAft>
            </a:pPr>
            <a:r>
              <a:rPr sz="1050">
                <a:solidFill>
                  <a:srgbClr val="1A1A1A"/>
                </a:solidFill>
                <a:latin typeface="Courier New"/>
              </a:rPr>
              <a:t>(same with -O3; built in every run)</a:t>
            </a:r>
          </a:p>
        </p:txBody>
      </p:sp>
      <p:sp>
        <p:nvSpPr>
          <p:cNvPr id="9" name="TextBox 8"/>
          <p:cNvSpPr txBox="1"/>
          <p:nvPr/>
        </p:nvSpPr>
        <p:spPr>
          <a:xfrm>
            <a:off x="548640" y="3127248"/>
            <a:ext cx="5852160" cy="256032"/>
          </a:xfrm>
          <a:prstGeom prst="rect">
            <a:avLst/>
          </a:prstGeom>
          <a:noFill/>
        </p:spPr>
        <p:txBody>
          <a:bodyPr wrap="square" lIns="45720" tIns="36576" rIns="45720" bIns="36576">
            <a:spAutoFit/>
          </a:bodyPr>
          <a:lstStyle/>
          <a:p>
            <a:pPr algn="l">
              <a:spcAft>
                <a:spcPts val="600"/>
              </a:spcAft>
            </a:pPr>
            <a:r>
              <a:rPr sz="1250" b="1" i="0">
                <a:solidFill>
                  <a:srgbClr val="1F3A5F"/>
                </a:solidFill>
                <a:latin typeface="Arial"/>
              </a:rPr>
              <a:t>2 Reference</a:t>
            </a:r>
          </a:p>
        </p:txBody>
      </p:sp>
      <p:sp>
        <p:nvSpPr>
          <p:cNvPr id="10" name="Command 2 Reference"/>
          <p:cNvSpPr/>
          <p:nvPr/>
        </p:nvSpPr>
        <p:spPr>
          <a:xfrm>
            <a:off x="548640" y="3383280"/>
            <a:ext cx="5852160" cy="384048"/>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050">
                <a:solidFill>
                  <a:srgbClr val="1A1A1A"/>
                </a:solidFill>
                <a:latin typeface="Courier New"/>
              </a:rPr>
              <a:t>built-in long-double oracle; no reference executable</a:t>
            </a:r>
          </a:p>
        </p:txBody>
      </p:sp>
      <p:sp>
        <p:nvSpPr>
          <p:cNvPr id="11" name="TextBox 10"/>
          <p:cNvSpPr txBox="1"/>
          <p:nvPr/>
        </p:nvSpPr>
        <p:spPr>
          <a:xfrm>
            <a:off x="548640" y="3840480"/>
            <a:ext cx="5852160" cy="256032"/>
          </a:xfrm>
          <a:prstGeom prst="rect">
            <a:avLst/>
          </a:prstGeom>
          <a:noFill/>
        </p:spPr>
        <p:txBody>
          <a:bodyPr wrap="square" lIns="45720" tIns="36576" rIns="45720" bIns="36576">
            <a:spAutoFit/>
          </a:bodyPr>
          <a:lstStyle/>
          <a:p>
            <a:pPr algn="l">
              <a:spcAft>
                <a:spcPts val="600"/>
              </a:spcAft>
            </a:pPr>
            <a:r>
              <a:rPr sz="1250" b="1" i="0">
                <a:solidFill>
                  <a:srgbClr val="1F3A5F"/>
                </a:solidFill>
                <a:latin typeface="Arial"/>
              </a:rPr>
              <a:t>3 Tune (budget = 4)</a:t>
            </a:r>
          </a:p>
        </p:txBody>
      </p:sp>
      <p:sp>
        <p:nvSpPr>
          <p:cNvPr id="12" name="Command 3 Tune (budget = 4)"/>
          <p:cNvSpPr/>
          <p:nvPr/>
        </p:nvSpPr>
        <p:spPr>
          <a:xfrm>
            <a:off x="548640" y="4096512"/>
            <a:ext cx="5852160" cy="603503"/>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050">
                <a:solidFill>
                  <a:srgbClr val="1A1A1A"/>
                </a:solidFill>
                <a:latin typeface="Courier New"/>
              </a:rPr>
              <a:t>nova tune stencil --budget=4 --strategy=adaptive \</a:t>
            </a:r>
          </a:p>
          <a:p>
            <a:pPr algn="l">
              <a:spcAft>
                <a:spcPts val="0"/>
              </a:spcAft>
            </a:pPr>
            <a:r>
              <a:rPr sz="1050">
                <a:solidFill>
                  <a:srgbClr val="1A1A1A"/>
                </a:solidFill>
                <a:latin typeface="Courier New"/>
              </a:rPr>
              <a:t>     --history=FILE --record-history</a:t>
            </a:r>
          </a:p>
        </p:txBody>
      </p:sp>
      <p:sp>
        <p:nvSpPr>
          <p:cNvPr id="13" name="TextBox 12"/>
          <p:cNvSpPr txBox="1"/>
          <p:nvPr/>
        </p:nvSpPr>
        <p:spPr>
          <a:xfrm>
            <a:off x="548640" y="4773168"/>
            <a:ext cx="5852160" cy="256032"/>
          </a:xfrm>
          <a:prstGeom prst="rect">
            <a:avLst/>
          </a:prstGeom>
          <a:noFill/>
        </p:spPr>
        <p:txBody>
          <a:bodyPr wrap="square" lIns="45720" tIns="36576" rIns="45720" bIns="36576">
            <a:spAutoFit/>
          </a:bodyPr>
          <a:lstStyle/>
          <a:p>
            <a:pPr algn="l">
              <a:spcAft>
                <a:spcPts val="600"/>
              </a:spcAft>
            </a:pPr>
            <a:r>
              <a:rPr sz="1250" b="1" i="0">
                <a:solidFill>
                  <a:srgbClr val="1F3A5F"/>
                </a:solidFill>
                <a:latin typeface="Arial"/>
              </a:rPr>
              <a:t>4 Explain</a:t>
            </a:r>
          </a:p>
        </p:txBody>
      </p:sp>
      <p:sp>
        <p:nvSpPr>
          <p:cNvPr id="14" name="Command 4 Explain"/>
          <p:cNvSpPr/>
          <p:nvPr/>
        </p:nvSpPr>
        <p:spPr>
          <a:xfrm>
            <a:off x="548640" y="5029200"/>
            <a:ext cx="5852160" cy="384048"/>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050">
                <a:solidFill>
                  <a:srgbClr val="1A1A1A"/>
                </a:solidFill>
                <a:latin typeface="Courier New"/>
              </a:rPr>
              <a:t>nova explain benchmarks/results/&lt;experiment-id&gt;</a:t>
            </a:r>
          </a:p>
        </p:txBody>
      </p:sp>
      <p:sp>
        <p:nvSpPr>
          <p:cNvPr id="15" name="TextBox 14"/>
          <p:cNvSpPr txBox="1"/>
          <p:nvPr/>
        </p:nvSpPr>
        <p:spPr>
          <a:xfrm>
            <a:off x="548640" y="5486400"/>
            <a:ext cx="5852160" cy="548640"/>
          </a:xfrm>
          <a:prstGeom prst="rect">
            <a:avLst/>
          </a:prstGeom>
          <a:noFill/>
        </p:spPr>
        <p:txBody>
          <a:bodyPr wrap="square" lIns="45720" tIns="36576" rIns="45720" bIns="36576">
            <a:spAutoFit/>
          </a:bodyPr>
          <a:lstStyle/>
          <a:p>
            <a:pPr algn="l">
              <a:spcAft>
                <a:spcPts val="600"/>
              </a:spcAft>
            </a:pPr>
            <a:r>
              <a:rPr sz="1150" b="0" i="0">
                <a:solidFill>
                  <a:srgbClr val="5A6270"/>
                </a:solidFill>
                <a:latin typeface="Arial"/>
              </a:rPr>
              <a:t>Recorded in </a:t>
            </a:r>
            <a:r>
              <a:rPr sz="1150" b="0" i="0">
                <a:solidFill>
                  <a:srgbClr val="5A6270"/>
                </a:solidFill>
                <a:latin typeface="Courier New"/>
              </a:rPr>
              <a:t>benchmarks/results/&lt;id&gt;/</a:t>
            </a:r>
            <a:r>
              <a:rPr sz="1150" b="0" i="0">
                <a:solidFill>
                  <a:srgbClr val="5A6270"/>
                </a:solidFill>
                <a:latin typeface="Arial"/>
              </a:rPr>
              <a:t>: manifest.json, results.json/csv, raw_timings.csv, logs/. </a:t>
            </a:r>
            <a:r>
              <a:rPr sz="1150" b="0" i="0">
                <a:solidFill>
                  <a:srgbClr val="5A6270"/>
                </a:solidFill>
                <a:latin typeface="Courier New"/>
              </a:rPr>
              <a:t>--record-history</a:t>
            </a:r>
            <a:r>
              <a:rPr sz="1150" b="0" i="0">
                <a:solidFill>
                  <a:srgbClr val="5A6270"/>
                </a:solidFill>
                <a:latin typeface="Arial"/>
              </a:rPr>
              <a:t> also appends to the history file.</a:t>
            </a:r>
          </a:p>
        </p:txBody>
      </p:sp>
      <p:sp>
        <p:nvSpPr>
          <p:cNvPr id="16" name="TextBox 15"/>
          <p:cNvSpPr txBox="1"/>
          <p:nvPr/>
        </p:nvSpPr>
        <p:spPr>
          <a:xfrm>
            <a:off x="6720840" y="1143000"/>
            <a:ext cx="4919472" cy="274320"/>
          </a:xfrm>
          <a:prstGeom prst="rect">
            <a:avLst/>
          </a:prstGeom>
          <a:noFill/>
        </p:spPr>
        <p:txBody>
          <a:bodyPr wrap="square" lIns="45720" tIns="36576" rIns="45720" bIns="36576">
            <a:spAutoFit/>
          </a:bodyPr>
          <a:lstStyle/>
          <a:p>
            <a:pPr algn="l">
              <a:spcAft>
                <a:spcPts val="600"/>
              </a:spcAft>
            </a:pPr>
            <a:r>
              <a:rPr sz="1300" b="1" i="0">
                <a:solidFill>
                  <a:srgbClr val="1F3A5F"/>
                </a:solidFill>
                <a:latin typeface="Arial"/>
              </a:rPr>
              <a:t>Comparison: saved run, stencil n = 200,000</a:t>
            </a:r>
          </a:p>
        </p:txBody>
      </p:sp>
      <p:graphicFrame>
        <p:nvGraphicFramePr>
          <p:cNvPr id="17" name="Comparison table"/>
          <p:cNvGraphicFramePr>
            <a:graphicFrameLocks noGrp="1"/>
          </p:cNvGraphicFramePr>
          <p:nvPr/>
        </p:nvGraphicFramePr>
        <p:xfrm>
          <a:off x="6720840" y="1463040"/>
          <a:ext cx="4919472" cy="1828800"/>
        </p:xfrm>
        <a:graphic>
          <a:graphicData uri="http://schemas.openxmlformats.org/drawingml/2006/table">
            <a:tbl>
              <a:tblPr firstRow="1">
                <a:tableStyleId>{5C22544A-7EE6-4342-B048-85BDC9FD1C3A}</a:tableStyleId>
              </a:tblPr>
              <a:tblGrid>
                <a:gridCol w="19202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832104">
                  <a:extLst>
                    <a:ext uri="{9D8B030D-6E8A-4147-A177-3AD203B41FA5}">
                      <a16:colId xmlns:a16="http://schemas.microsoft.com/office/drawing/2014/main" val="20004"/>
                    </a:ext>
                  </a:extLst>
                </a:gridCol>
              </a:tblGrid>
              <a:tr h="457200">
                <a:tc>
                  <a:txBody>
                    <a:bodyPr/>
                    <a:lstStyle/>
                    <a:p>
                      <a:r>
                        <a:rPr sz="1050" b="1">
                          <a:solidFill>
                            <a:srgbClr val="FFFFFF"/>
                          </a:solidFill>
                          <a:latin typeface="Arial"/>
                        </a:rPr>
                        <a:t>Configuration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050" b="1">
                          <a:solidFill>
                            <a:srgbClr val="FFFFFF"/>
                          </a:solidFill>
                          <a:latin typeface="Arial"/>
                        </a:rPr>
                        <a:t>Median (ms)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050" b="1">
                          <a:solidFill>
                            <a:srgbClr val="FFFFFF"/>
                          </a:solidFill>
                          <a:latin typeface="Arial"/>
                        </a:rPr>
                        <a:t>IQR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050" b="1">
                          <a:solidFill>
                            <a:srgbClr val="FFFFFF"/>
                          </a:solidFill>
                          <a:latin typeface="Arial"/>
                        </a:rPr>
                        <a:t>Binary (B)</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050" b="1">
                          <a:solidFill>
                            <a:srgbClr val="FFFFFF"/>
                          </a:solidFill>
                          <a:latin typeface="Arial"/>
                        </a:rPr>
                        <a:t>Correct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457200">
                <a:tc>
                  <a:txBody>
                    <a:bodyPr/>
                    <a:lstStyle/>
                    <a:p>
                      <a:r>
                        <a:rPr sz="1050" b="0">
                          <a:solidFill>
                            <a:srgbClr val="1A1A1A"/>
                          </a:solidFill>
                          <a:latin typeface="Arial"/>
                        </a:rPr>
                        <a:t>GCC </a:t>
                      </a:r>
                      <a:r>
                        <a:rPr sz="1050" b="0">
                          <a:solidFill>
                            <a:srgbClr val="1A1A1A"/>
                          </a:solidFill>
                          <a:latin typeface="Courier New"/>
                        </a:rPr>
                        <a:t>-O2</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16.178</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0.550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81,660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Pass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457200">
                <a:tc>
                  <a:txBody>
                    <a:bodyPr/>
                    <a:lstStyle/>
                    <a:p>
                      <a:r>
                        <a:rPr sz="1050" b="0">
                          <a:solidFill>
                            <a:srgbClr val="1A1A1A"/>
                          </a:solidFill>
                          <a:latin typeface="Arial"/>
                        </a:rPr>
                        <a:t>GCC </a:t>
                      </a:r>
                      <a:r>
                        <a:rPr sz="1050" b="0">
                          <a:solidFill>
                            <a:srgbClr val="1A1A1A"/>
                          </a:solidFill>
                          <a:latin typeface="Courier New"/>
                        </a:rPr>
                        <a:t>-O3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11.677</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0.233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81,746</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Pass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457200">
                <a:tc>
                  <a:txBody>
                    <a:bodyPr/>
                    <a:lstStyle/>
                    <a:p>
                      <a:r>
                        <a:rPr sz="1050" b="0">
                          <a:solidFill>
                            <a:srgbClr val="1A1A1A"/>
                          </a:solidFill>
                          <a:latin typeface="Arial"/>
                        </a:rPr>
                        <a:t>Selected: </a:t>
                      </a:r>
                      <a:r>
                        <a:rPr sz="1050" b="0">
                          <a:solidFill>
                            <a:srgbClr val="1A1A1A"/>
                          </a:solidFill>
                          <a:latin typeface="Courier New"/>
                        </a:rPr>
                        <a:t>O3+unroll+native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8.869</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0.248</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84,306</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050" b="0">
                          <a:solidFill>
                            <a:srgbClr val="1A1A1A"/>
                          </a:solidFill>
                          <a:latin typeface="Arial"/>
                        </a:rPr>
                        <a:t>Pass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bl>
          </a:graphicData>
        </a:graphic>
      </p:graphicFrame>
      <p:sp>
        <p:nvSpPr>
          <p:cNvPr id="18" name="TextBox 17"/>
          <p:cNvSpPr txBox="1"/>
          <p:nvPr/>
        </p:nvSpPr>
        <p:spPr>
          <a:xfrm>
            <a:off x="6720840" y="3429000"/>
            <a:ext cx="4919472" cy="2834640"/>
          </a:xfrm>
          <a:prstGeom prst="rect">
            <a:avLst/>
          </a:prstGeom>
          <a:noFill/>
        </p:spPr>
        <p:txBody>
          <a:bodyPr wrap="square" lIns="45720" tIns="36576" rIns="45720" bIns="36576">
            <a:spAutoFit/>
          </a:bodyPr>
          <a:lstStyle/>
          <a:p>
            <a:pPr marL="201168" indent="-201168" algn="l">
              <a:spcAft>
                <a:spcPts val="500"/>
              </a:spcAft>
              <a:buChar char="•"/>
            </a:pPr>
            <a:r>
              <a:rPr sz="1200" b="0" i="0">
                <a:solidFill>
                  <a:srgbClr val="1A1A1A"/>
                </a:solidFill>
                <a:latin typeface="Arial"/>
              </a:rPr>
              <a:t>Same source, compiler, machine and input; 15 timed rounds, median and IQR; raw samples are saved.</a:t>
            </a:r>
          </a:p>
          <a:p>
            <a:pPr marL="201168" indent="-201168" algn="l">
              <a:spcAft>
                <a:spcPts val="500"/>
              </a:spcAft>
              <a:buChar char="•"/>
            </a:pPr>
            <a:r>
              <a:rPr sz="1200" b="0" i="0">
                <a:solidFill>
                  <a:srgbClr val="1A1A1A"/>
                </a:solidFill>
                <a:latin typeface="Arial"/>
              </a:rPr>
              <a:t>Selected vs better baseline (</a:t>
            </a:r>
            <a:r>
              <a:rPr sz="1200" b="0" i="0">
                <a:solidFill>
                  <a:srgbClr val="1A1A1A"/>
                </a:solidFill>
                <a:latin typeface="Courier New"/>
              </a:rPr>
              <a:t>-O3</a:t>
            </a:r>
            <a:r>
              <a:rPr sz="1200" b="0" i="0">
                <a:solidFill>
                  <a:srgbClr val="1A1A1A"/>
                </a:solidFill>
                <a:latin typeface="Arial"/>
              </a:rPr>
              <a:t>): ratio of medians </a:t>
            </a:r>
            <a:r>
              <a:rPr sz="1200" b="1" i="0">
                <a:solidFill>
                  <a:srgbClr val="1A1A1A"/>
                </a:solidFill>
                <a:latin typeface="Arial"/>
              </a:rPr>
              <a:t>1.317</a:t>
            </a:r>
            <a:r>
              <a:rPr sz="1200" b="0" i="0">
                <a:solidFill>
                  <a:srgbClr val="1A1A1A"/>
                </a:solidFill>
                <a:latin typeface="Arial"/>
              </a:rPr>
              <a:t>; IQRs do not overlap.</a:t>
            </a:r>
          </a:p>
          <a:p>
            <a:pPr marL="201168" indent="-201168" algn="l">
              <a:spcAft>
                <a:spcPts val="500"/>
              </a:spcAft>
              <a:buChar char="•"/>
            </a:pPr>
            <a:r>
              <a:rPr sz="1200" b="0" i="0">
                <a:solidFill>
                  <a:srgbClr val="1A1A1A"/>
                </a:solidFill>
                <a:latin typeface="Arial"/>
              </a:rPr>
              <a:t>Tuning overhead: </a:t>
            </a:r>
            <a:r>
              <a:rPr sz="1200" b="1" i="0">
                <a:solidFill>
                  <a:srgbClr val="1A1A1A"/>
                </a:solidFill>
                <a:latin typeface="Arial"/>
              </a:rPr>
              <a:t>11.49 s</a:t>
            </a:r>
            <a:r>
              <a:rPr sz="1200" b="0" i="0">
                <a:solidFill>
                  <a:srgbClr val="1A1A1A"/>
                </a:solidFill>
                <a:latin typeface="Arial"/>
              </a:rPr>
              <a:t> for 6 builds plus timing.</a:t>
            </a:r>
          </a:p>
          <a:p>
            <a:pPr marL="201168" indent="-201168" algn="l">
              <a:spcAft>
                <a:spcPts val="500"/>
              </a:spcAft>
              <a:buChar char="•"/>
            </a:pPr>
            <a:r>
              <a:rPr sz="1200" b="0" i="0">
                <a:solidFill>
                  <a:srgbClr val="1A1A1A"/>
                </a:solidFill>
                <a:latin typeface="Arial"/>
              </a:rPr>
              <a:t>This saved run used the </a:t>
            </a:r>
            <a:r>
              <a:rPr sz="1200" b="1" i="0">
                <a:solidFill>
                  <a:srgbClr val="1A1A1A"/>
                </a:solidFill>
                <a:latin typeface="Arial"/>
              </a:rPr>
              <a:t>random</a:t>
            </a:r>
            <a:r>
              <a:rPr sz="1200" b="0" i="0">
                <a:solidFill>
                  <a:srgbClr val="1A1A1A"/>
                </a:solidFill>
                <a:latin typeface="Arial"/>
              </a:rPr>
              <a:t> strategy (seed 1, B = 4). No adaptive B = 4 run is saved, so the adaptive command is the supported syntax, not a result.</a:t>
            </a:r>
          </a:p>
          <a:p>
            <a:pPr marL="201168" indent="-201168" algn="l">
              <a:spcAft>
                <a:spcPts val="500"/>
              </a:spcAft>
              <a:buChar char="•"/>
            </a:pPr>
            <a:r>
              <a:rPr sz="1200" b="0" i="0">
                <a:solidFill>
                  <a:srgbClr val="1A1A1A"/>
                </a:solidFill>
                <a:latin typeface="Arial"/>
              </a:rPr>
              <a:t>Tuning size only: not evidence for other sizes.</a:t>
            </a:r>
          </a:p>
        </p:txBody>
      </p:sp>
      <p:sp>
        <p:nvSpPr>
          <p:cNvPr id="19" name="TextBox 18"/>
          <p:cNvSpPr txBox="1"/>
          <p:nvPr/>
        </p:nvSpPr>
        <p:spPr>
          <a:xfrm>
            <a:off x="548640" y="6108192"/>
            <a:ext cx="11091672" cy="274320"/>
          </a:xfrm>
          <a:prstGeom prst="rect">
            <a:avLst/>
          </a:prstGeom>
          <a:noFill/>
        </p:spPr>
        <p:txBody>
          <a:bodyPr wrap="square" lIns="45720" tIns="36576" rIns="45720" bIns="36576">
            <a:spAutoFit/>
          </a:bodyPr>
          <a:lstStyle/>
          <a:p>
            <a:pPr algn="l">
              <a:spcAft>
                <a:spcPts val="600"/>
              </a:spcAft>
            </a:pPr>
            <a:r>
              <a:rPr sz="1150" b="0" i="0">
                <a:solidFill>
                  <a:srgbClr val="5A6270"/>
                </a:solidFill>
                <a:latin typeface="Arial"/>
              </a:rPr>
              <a:t>SmartPass is not a compiler: GCC builds every binary. Real output: state/evidence/V0.7/20_explain_V0.7-stencil-random-s1-B4.log.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What NOVA Adds</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12 / 15</a:t>
            </a:r>
          </a:p>
        </p:txBody>
      </p:sp>
      <p:sp>
        <p:nvSpPr>
          <p:cNvPr id="5" name="Contribution statement"/>
          <p:cNvSpPr/>
          <p:nvPr/>
        </p:nvSpPr>
        <p:spPr>
          <a:xfrm>
            <a:off x="548640" y="1188720"/>
            <a:ext cx="11091672" cy="1005840"/>
          </a:xfrm>
          <a:prstGeom prst="rect">
            <a:avLst/>
          </a:prstGeom>
          <a:solidFill>
            <a:srgbClr val="EEF2F7"/>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164592" tIns="36576" rIns="164592" bIns="36576" rtlCol="0" anchor="ctr"/>
          <a:lstStyle/>
          <a:p>
            <a:pPr algn="l">
              <a:spcAft>
                <a:spcPts val="600"/>
              </a:spcAft>
            </a:pPr>
            <a:r>
              <a:rPr sz="1450" b="1" i="0">
                <a:solidFill>
                  <a:srgbClr val="1A1A1A"/>
                </a:solidFill>
                <a:latin typeface="Arial"/>
              </a:rPr>
              <a:t>Proposed contribution.</a:t>
            </a:r>
            <a:r>
              <a:rPr sz="1450" b="0" i="0">
                <a:solidFill>
                  <a:srgbClr val="1A1A1A"/>
                </a:solidFill>
                <a:latin typeface="Arial"/>
              </a:rPr>
              <a:t> NOVA SmartPass combines workload-feature-guided candidate selection, a strict four-candidate experimental budget, numerical correctness gating, and recorded evidence to make compiler-configuration tuning more controlled and explainable.</a:t>
            </a:r>
          </a:p>
        </p:txBody>
      </p:sp>
      <p:sp>
        <p:nvSpPr>
          <p:cNvPr id="6" name="TextBox 5"/>
          <p:cNvSpPr txBox="1"/>
          <p:nvPr/>
        </p:nvSpPr>
        <p:spPr>
          <a:xfrm>
            <a:off x="548640" y="2377440"/>
            <a:ext cx="5394960" cy="320040"/>
          </a:xfrm>
          <a:prstGeom prst="rect">
            <a:avLst/>
          </a:prstGeom>
          <a:noFill/>
        </p:spPr>
        <p:txBody>
          <a:bodyPr wrap="square" lIns="45720" tIns="36576" rIns="45720" bIns="36576">
            <a:spAutoFit/>
          </a:bodyPr>
          <a:lstStyle/>
          <a:p>
            <a:pPr algn="l">
              <a:spcAft>
                <a:spcPts val="600"/>
              </a:spcAft>
            </a:pPr>
            <a:r>
              <a:rPr sz="1600" b="1" i="0">
                <a:solidFill>
                  <a:srgbClr val="1F3A5F"/>
                </a:solidFill>
                <a:latin typeface="Arial"/>
              </a:rPr>
              <a:t>Why each piece helps</a:t>
            </a:r>
          </a:p>
        </p:txBody>
      </p:sp>
      <p:sp>
        <p:nvSpPr>
          <p:cNvPr id="7" name="TextBox 6"/>
          <p:cNvSpPr txBox="1"/>
          <p:nvPr/>
        </p:nvSpPr>
        <p:spPr>
          <a:xfrm>
            <a:off x="548640" y="2743200"/>
            <a:ext cx="5394960" cy="3566160"/>
          </a:xfrm>
          <a:prstGeom prst="rect">
            <a:avLst/>
          </a:prstGeom>
          <a:noFill/>
        </p:spPr>
        <p:txBody>
          <a:bodyPr wrap="square" lIns="45720" tIns="36576" rIns="45720" bIns="36576">
            <a:spAutoFit/>
          </a:bodyPr>
          <a:lstStyle/>
          <a:p>
            <a:pPr marL="201168" indent="-201168" algn="l">
              <a:spcAft>
                <a:spcPts val="900"/>
              </a:spcAft>
              <a:buChar char="•"/>
            </a:pPr>
            <a:r>
              <a:rPr sz="1450" b="1" i="0">
                <a:solidFill>
                  <a:srgbClr val="1A1A1A"/>
                </a:solidFill>
                <a:latin typeface="Arial"/>
              </a:rPr>
              <a:t>Budget:</a:t>
            </a:r>
            <a:r>
              <a:rPr sz="1450" b="0" i="0">
                <a:solidFill>
                  <a:srgbClr val="1A1A1A"/>
                </a:solidFill>
                <a:latin typeface="Arial"/>
              </a:rPr>
              <a:t> bounds the experiment; failed builds still count.</a:t>
            </a:r>
          </a:p>
          <a:p>
            <a:pPr marL="201168" indent="-201168" algn="l">
              <a:spcAft>
                <a:spcPts val="900"/>
              </a:spcAft>
              <a:buChar char="•"/>
            </a:pPr>
            <a:r>
              <a:rPr sz="1450" b="1" i="0">
                <a:solidFill>
                  <a:srgbClr val="1A1A1A"/>
                </a:solidFill>
                <a:latin typeface="Arial"/>
              </a:rPr>
              <a:t>Workload features:</a:t>
            </a:r>
            <a:r>
              <a:rPr sz="1450" b="0" i="0">
                <a:solidFill>
                  <a:srgbClr val="1A1A1A"/>
                </a:solidFill>
                <a:latin typeface="Arial"/>
              </a:rPr>
              <a:t> decide which candidates are tried first.</a:t>
            </a:r>
          </a:p>
          <a:p>
            <a:pPr marL="201168" indent="-201168" algn="l">
              <a:spcAft>
                <a:spcPts val="900"/>
              </a:spcAft>
              <a:buChar char="•"/>
            </a:pPr>
            <a:r>
              <a:rPr sz="1450" b="1" i="0">
                <a:solidFill>
                  <a:srgbClr val="1A1A1A"/>
                </a:solidFill>
                <a:latin typeface="Arial"/>
              </a:rPr>
              <a:t>History:</a:t>
            </a:r>
            <a:r>
              <a:rPr sz="1450" b="0" i="0">
                <a:solidFill>
                  <a:srgbClr val="1A1A1A"/>
                </a:solidFill>
                <a:latin typeface="Arial"/>
              </a:rPr>
              <a:t> helps when a history file is supplied (implemented, optional).</a:t>
            </a:r>
          </a:p>
          <a:p>
            <a:pPr marL="201168" indent="-201168" algn="l">
              <a:spcAft>
                <a:spcPts val="900"/>
              </a:spcAft>
              <a:buChar char="•"/>
            </a:pPr>
            <a:r>
              <a:rPr sz="1450" b="1" i="0">
                <a:solidFill>
                  <a:srgbClr val="1A1A1A"/>
                </a:solidFill>
                <a:latin typeface="Arial"/>
              </a:rPr>
              <a:t>Numerical validation:</a:t>
            </a:r>
            <a:r>
              <a:rPr sz="1450" b="0" i="0">
                <a:solidFill>
                  <a:srgbClr val="1A1A1A"/>
                </a:solidFill>
                <a:latin typeface="Arial"/>
              </a:rPr>
              <a:t> rejects results whose answer changed.</a:t>
            </a:r>
          </a:p>
          <a:p>
            <a:pPr marL="201168" indent="-201168" algn="l">
              <a:spcAft>
                <a:spcPts val="900"/>
              </a:spcAft>
              <a:buChar char="•"/>
            </a:pPr>
            <a:r>
              <a:rPr sz="1450" b="1" i="0">
                <a:solidFill>
                  <a:srgbClr val="1A1A1A"/>
                </a:solidFill>
                <a:latin typeface="Arial"/>
              </a:rPr>
              <a:t>Recorded evidence:</a:t>
            </a:r>
            <a:r>
              <a:rPr sz="1450" b="0" i="0">
                <a:solidFill>
                  <a:srgbClr val="1A1A1A"/>
                </a:solidFill>
                <a:latin typeface="Arial"/>
              </a:rPr>
              <a:t> explains why a candidate was accepted or rejected (</a:t>
            </a:r>
            <a:r>
              <a:rPr sz="1450" b="0" i="0">
                <a:solidFill>
                  <a:srgbClr val="1A1A1A"/>
                </a:solidFill>
                <a:latin typeface="Courier New"/>
              </a:rPr>
              <a:t>nova explain</a:t>
            </a:r>
            <a:r>
              <a:rPr sz="1450" b="0" i="0">
                <a:solidFill>
                  <a:srgbClr val="1A1A1A"/>
                </a:solidFill>
                <a:latin typeface="Arial"/>
              </a:rPr>
              <a:t>).</a:t>
            </a:r>
          </a:p>
        </p:txBody>
      </p:sp>
      <p:sp>
        <p:nvSpPr>
          <p:cNvPr id="8" name="TextBox 7"/>
          <p:cNvSpPr txBox="1"/>
          <p:nvPr/>
        </p:nvSpPr>
        <p:spPr>
          <a:xfrm>
            <a:off x="6309360" y="2377440"/>
            <a:ext cx="5330952" cy="320040"/>
          </a:xfrm>
          <a:prstGeom prst="rect">
            <a:avLst/>
          </a:prstGeom>
          <a:noFill/>
        </p:spPr>
        <p:txBody>
          <a:bodyPr wrap="square" lIns="45720" tIns="36576" rIns="45720" bIns="36576">
            <a:spAutoFit/>
          </a:bodyPr>
          <a:lstStyle/>
          <a:p>
            <a:pPr algn="l">
              <a:spcAft>
                <a:spcPts val="600"/>
              </a:spcAft>
            </a:pPr>
            <a:r>
              <a:rPr sz="1600" b="1" i="0">
                <a:solidFill>
                  <a:srgbClr val="1F3A5F"/>
                </a:solidFill>
                <a:latin typeface="Arial"/>
              </a:rPr>
              <a:t>Demonstrated so far (replay study)</a:t>
            </a:r>
          </a:p>
        </p:txBody>
      </p:sp>
      <p:graphicFrame>
        <p:nvGraphicFramePr>
          <p:cNvPr id="9" name="Holdout speedup vs budget"/>
          <p:cNvGraphicFramePr>
            <a:graphicFrameLocks noGrp="1"/>
          </p:cNvGraphicFramePr>
          <p:nvPr/>
        </p:nvGraphicFramePr>
        <p:xfrm>
          <a:off x="6309360" y="2697480"/>
          <a:ext cx="5330952"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6309360" y="5257800"/>
            <a:ext cx="5330952" cy="1051560"/>
          </a:xfrm>
          <a:prstGeom prst="rect">
            <a:avLst/>
          </a:prstGeom>
          <a:noFill/>
        </p:spPr>
        <p:txBody>
          <a:bodyPr wrap="square" lIns="45720" tIns="36576" rIns="45720" bIns="36576">
            <a:spAutoFit/>
          </a:bodyPr>
          <a:lstStyle/>
          <a:p>
            <a:pPr marL="201168" indent="-201168" algn="l">
              <a:spcAft>
                <a:spcPts val="300"/>
              </a:spcAft>
              <a:buChar char="•"/>
            </a:pPr>
            <a:r>
              <a:rPr sz="1200" b="0" i="0">
                <a:solidFill>
                  <a:srgbClr val="1A1A1A"/>
                </a:solidFill>
                <a:latin typeface="Arial"/>
              </a:rPr>
              <a:t>At B = 4: adaptive 1.110 vs random 1.097: a small gap that shrinks as B grows (tie at B = 22).</a:t>
            </a:r>
          </a:p>
          <a:p>
            <a:pPr marL="201168" indent="-201168" algn="l">
              <a:spcAft>
                <a:spcPts val="300"/>
              </a:spcAft>
              <a:buChar char="•"/>
            </a:pPr>
            <a:r>
              <a:rPr sz="1200" b="0" i="0">
                <a:solidFill>
                  <a:srgbClr val="1A1A1A"/>
                </a:solidFill>
                <a:latin typeface="Arial"/>
              </a:rPr>
              <a:t>One machine, GCC 6.3.0, three kernels. Individual signals: inconclusive.</a:t>
            </a:r>
          </a:p>
        </p:txBody>
      </p:sp>
      <p:sp>
        <p:nvSpPr>
          <p:cNvPr id="11" name="TextBox 10"/>
          <p:cNvSpPr txBox="1"/>
          <p:nvPr/>
        </p:nvSpPr>
        <p:spPr>
          <a:xfrm>
            <a:off x="548640" y="6035040"/>
            <a:ext cx="539496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Source: report/report.md §8.2 and §9.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Current progress</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13 / 15</a:t>
            </a:r>
          </a:p>
        </p:txBody>
      </p:sp>
      <p:graphicFrame>
        <p:nvGraphicFramePr>
          <p:cNvPr id="5" name="Progress table"/>
          <p:cNvGraphicFramePr>
            <a:graphicFrameLocks noGrp="1"/>
          </p:cNvGraphicFramePr>
          <p:nvPr/>
        </p:nvGraphicFramePr>
        <p:xfrm>
          <a:off x="548640" y="1280160"/>
          <a:ext cx="11091672" cy="4325112"/>
        </p:xfrm>
        <a:graphic>
          <a:graphicData uri="http://schemas.openxmlformats.org/drawingml/2006/table">
            <a:tbl>
              <a:tblPr firstRow="1">
                <a:tableStyleId>{5C22544A-7EE6-4342-B048-85BDC9FD1C3A}</a:tableStyleId>
              </a:tblPr>
              <a:tblGrid>
                <a:gridCol w="4023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5833872">
                  <a:extLst>
                    <a:ext uri="{9D8B030D-6E8A-4147-A177-3AD203B41FA5}">
                      <a16:colId xmlns:a16="http://schemas.microsoft.com/office/drawing/2014/main" val="20002"/>
                    </a:ext>
                  </a:extLst>
                </a:gridCol>
              </a:tblGrid>
              <a:tr h="393192">
                <a:tc>
                  <a:txBody>
                    <a:bodyPr/>
                    <a:lstStyle/>
                    <a:p>
                      <a:r>
                        <a:rPr sz="1250" b="1">
                          <a:solidFill>
                            <a:srgbClr val="FFFFFF"/>
                          </a:solidFill>
                          <a:latin typeface="Arial"/>
                        </a:rPr>
                        <a:t>Component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250" b="1">
                          <a:solidFill>
                            <a:srgbClr val="FFFFFF"/>
                          </a:solidFill>
                          <a:latin typeface="Arial"/>
                        </a:rPr>
                        <a:t>Status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250" b="1">
                          <a:solidFill>
                            <a:srgbClr val="FFFFFF"/>
                          </a:solidFill>
                          <a:latin typeface="Arial"/>
                        </a:rPr>
                        <a:t>Evidence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393192">
                <a:tc>
                  <a:txBody>
                    <a:bodyPr/>
                    <a:lstStyle/>
                    <a:p>
                      <a:r>
                        <a:rPr sz="1250" b="0">
                          <a:solidFill>
                            <a:srgbClr val="1A1A1A"/>
                          </a:solidFill>
                          <a:latin typeface="Arial"/>
                        </a:rPr>
                        <a:t>Lexer, parser, AST, semantic checks, TAC</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Phases V0.2 to V0.4; located diagnostics; AST and TAC interpreters agree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393192">
                <a:tc>
                  <a:txBody>
                    <a:bodyPr/>
                    <a:lstStyle/>
                    <a:p>
                      <a:r>
                        <a:rPr sz="1250" b="0">
                          <a:solidFill>
                            <a:srgbClr val="1A1A1A"/>
                          </a:solidFill>
                          <a:latin typeface="Arial"/>
                        </a:rPr>
                        <a:t>TAC optimizer (4 passes)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V0.5; differential test on 4000 random programs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393192">
                <a:tc>
                  <a:txBody>
                    <a:bodyPr/>
                    <a:lstStyle/>
                    <a:p>
                      <a:r>
                        <a:rPr sz="1250" b="0">
                          <a:solidFill>
                            <a:srgbClr val="1A1A1A"/>
                          </a:solidFill>
                          <a:latin typeface="Arial"/>
                        </a:rPr>
                        <a:t>Benchmark lab, -O2/-O3 baselines, oracle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V0.6; 3 kernels; raw samples and manifests saved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r h="393192">
                <a:tc>
                  <a:txBody>
                    <a:bodyPr/>
                    <a:lstStyle/>
                    <a:p>
                      <a:r>
                        <a:rPr sz="1250" b="0">
                          <a:solidFill>
                            <a:srgbClr val="1A1A1A"/>
                          </a:solidFill>
                          <a:latin typeface="Arial"/>
                        </a:rPr>
                        <a:t>SmartPass fixed and random search, correctness gate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V0.7; 12 equal-budget runs saved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4"/>
                  </a:ext>
                </a:extLst>
              </a:tr>
              <a:tr h="393192">
                <a:tc>
                  <a:txBody>
                    <a:bodyPr/>
                    <a:lstStyle/>
                    <a:p>
                      <a:r>
                        <a:rPr sz="1250" b="0">
                          <a:solidFill>
                            <a:srgbClr val="1A1A1A"/>
                          </a:solidFill>
                          <a:latin typeface="Arial"/>
                        </a:rPr>
                        <a:t>Adaptive search, ablations, holdout evaluation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V0.8; 7260 replayed runs, 27 real runs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5"/>
                  </a:ext>
                </a:extLst>
              </a:tr>
              <a:tr h="393192">
                <a:tc>
                  <a:txBody>
                    <a:bodyPr/>
                    <a:lstStyle/>
                    <a:p>
                      <a:r>
                        <a:rPr sz="1250" b="0">
                          <a:solidFill>
                            <a:srgbClr val="1A1A1A"/>
                          </a:solidFill>
                          <a:latin typeface="Arial"/>
                        </a:rPr>
                        <a:t>Evaluation report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report/report.md generated from saved data (V0.9)</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6"/>
                  </a:ext>
                </a:extLst>
              </a:tr>
              <a:tr h="393192">
                <a:tc>
                  <a:txBody>
                    <a:bodyPr/>
                    <a:lstStyle/>
                    <a:p>
                      <a:r>
                        <a:rPr sz="1250" b="0">
                          <a:solidFill>
                            <a:srgbClr val="1A1A1A"/>
                          </a:solidFill>
                          <a:latin typeface="Arial"/>
                        </a:rPr>
                        <a:t>Whole test suite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49/49 CTest pass in the V1.0 log</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7"/>
                  </a:ext>
                </a:extLst>
              </a:tr>
              <a:tr h="393192">
                <a:tc>
                  <a:txBody>
                    <a:bodyPr/>
                    <a:lstStyle/>
                    <a:p>
                      <a:r>
                        <a:rPr sz="1250" b="0">
                          <a:solidFill>
                            <a:srgbClr val="1A1A1A"/>
                          </a:solidFill>
                          <a:latin typeface="Arial"/>
                        </a:rPr>
                        <a:t>Linux (POSIX) process runner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8A5500"/>
                          </a:solidFill>
                          <a:latin typeface="Arial"/>
                        </a:rPr>
                        <a:t>Partial</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Written, never compiled or run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8"/>
                  </a:ext>
                </a:extLst>
              </a:tr>
              <a:tr h="393192">
                <a:tc>
                  <a:txBody>
                    <a:bodyPr/>
                    <a:lstStyle/>
                    <a:p>
                      <a:r>
                        <a:rPr sz="1250" b="0">
                          <a:solidFill>
                            <a:srgbClr val="1A1A1A"/>
                          </a:solidFill>
                          <a:latin typeface="Arial"/>
                        </a:rPr>
                        <a:t>Sanitizers (ASan, UBSan)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5A6270"/>
                          </a:solidFill>
                          <a:latin typeface="Arial"/>
                        </a:rPr>
                        <a:t>Not run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Not available for this GCC; checked containers used instead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9"/>
                  </a:ext>
                </a:extLst>
              </a:tr>
              <a:tr h="393192">
                <a:tc>
                  <a:txBody>
                    <a:bodyPr/>
                    <a:lstStyle/>
                    <a:p>
                      <a:r>
                        <a:rPr sz="1250" b="0">
                          <a:solidFill>
                            <a:srgbClr val="1A1A1A"/>
                          </a:solidFill>
                          <a:latin typeface="Arial"/>
                        </a:rPr>
                        <a:t>Newer GCC, other machines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5A6270"/>
                          </a:solidFill>
                          <a:latin typeface="Arial"/>
                        </a:rPr>
                        <a:t>Not done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Outside the verified configuration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548640" y="5760720"/>
            <a:ext cx="11091672" cy="548640"/>
          </a:xfrm>
          <a:prstGeom prst="rect">
            <a:avLst/>
          </a:prstGeom>
          <a:noFill/>
        </p:spPr>
        <p:txBody>
          <a:bodyPr wrap="square" lIns="45720" tIns="36576" rIns="45720" bIns="36576">
            <a:spAutoFit/>
          </a:bodyPr>
          <a:lstStyle/>
          <a:p>
            <a:pPr algn="l">
              <a:spcAft>
                <a:spcPts val="600"/>
              </a:spcAft>
            </a:pPr>
            <a:r>
              <a:rPr sz="1300" b="0" i="0">
                <a:solidFill>
                  <a:srgbClr val="5A6270"/>
                </a:solidFill>
                <a:latin typeface="Arial"/>
              </a:rPr>
              <a:t>Release status: V1.0 RELEASED for the verified configuration only (Windows 11, MinGW.org GCC 6.3.0). See state/ROADMAP_STATUS.md and docs/RELEASE.md.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Limitations, Future Scope and Conclusion</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14 / 15</a:t>
            </a:r>
          </a:p>
        </p:txBody>
      </p:sp>
      <p:sp>
        <p:nvSpPr>
          <p:cNvPr id="5" name="TextBox 4"/>
          <p:cNvSpPr txBox="1"/>
          <p:nvPr/>
        </p:nvSpPr>
        <p:spPr>
          <a:xfrm>
            <a:off x="548640" y="1188720"/>
            <a:ext cx="5486400" cy="365760"/>
          </a:xfrm>
          <a:prstGeom prst="rect">
            <a:avLst/>
          </a:prstGeom>
          <a:noFill/>
        </p:spPr>
        <p:txBody>
          <a:bodyPr wrap="square" lIns="45720" tIns="36576" rIns="45720" bIns="36576">
            <a:spAutoFit/>
          </a:bodyPr>
          <a:lstStyle/>
          <a:p>
            <a:pPr algn="l">
              <a:spcAft>
                <a:spcPts val="600"/>
              </a:spcAft>
            </a:pPr>
            <a:r>
              <a:rPr sz="1700" b="1" i="0">
                <a:solidFill>
                  <a:srgbClr val="1F3A5F"/>
                </a:solidFill>
                <a:latin typeface="Arial"/>
              </a:rPr>
              <a:t>Limitations (documented)</a:t>
            </a:r>
          </a:p>
        </p:txBody>
      </p:sp>
      <p:sp>
        <p:nvSpPr>
          <p:cNvPr id="6" name="TextBox 5"/>
          <p:cNvSpPr txBox="1"/>
          <p:nvPr/>
        </p:nvSpPr>
        <p:spPr>
          <a:xfrm>
            <a:off x="548640" y="1554480"/>
            <a:ext cx="5486400" cy="3291840"/>
          </a:xfrm>
          <a:prstGeom prst="rect">
            <a:avLst/>
          </a:prstGeom>
          <a:noFill/>
        </p:spPr>
        <p:txBody>
          <a:bodyPr wrap="square" lIns="45720" tIns="36576" rIns="45720" bIns="36576">
            <a:spAutoFit/>
          </a:bodyPr>
          <a:lstStyle/>
          <a:p>
            <a:pPr marL="201168" indent="-201168" algn="l">
              <a:spcAft>
                <a:spcPts val="1000"/>
              </a:spcAft>
              <a:buChar char="•"/>
            </a:pPr>
            <a:r>
              <a:rPr sz="1600" b="0" i="0">
                <a:solidFill>
                  <a:srgbClr val="1A1A1A"/>
                </a:solidFill>
                <a:latin typeface="Arial"/>
              </a:rPr>
              <a:t>One machine, old 32-bit GCC 6.3.0; three small kernels.</a:t>
            </a:r>
          </a:p>
          <a:p>
            <a:pPr marL="201168" indent="-201168" algn="l">
              <a:spcAft>
                <a:spcPts val="1000"/>
              </a:spcAft>
              <a:buChar char="•"/>
            </a:pPr>
            <a:r>
              <a:rPr sz="1600" b="0" i="0">
                <a:solidFill>
                  <a:srgbClr val="1A1A1A"/>
                </a:solidFill>
                <a:latin typeface="Arial"/>
              </a:rPr>
              <a:t>Only 22 searchable configurations.</a:t>
            </a:r>
          </a:p>
          <a:p>
            <a:pPr marL="201168" indent="-201168" algn="l">
              <a:spcAft>
                <a:spcPts val="1000"/>
              </a:spcAft>
              <a:buChar char="•"/>
            </a:pPr>
            <a:r>
              <a:rPr sz="1600" b="0" i="0">
                <a:solidFill>
                  <a:srgbClr val="1A1A1A"/>
                </a:solidFill>
                <a:latin typeface="Arial"/>
              </a:rPr>
              <a:t>Timing noise: baseline spread up to 7.2% (median 2.1%).</a:t>
            </a:r>
          </a:p>
          <a:p>
            <a:pPr marL="201168" indent="-201168" algn="l">
              <a:spcAft>
                <a:spcPts val="1000"/>
              </a:spcAft>
              <a:buChar char="•"/>
            </a:pPr>
            <a:r>
              <a:rPr sz="1600" b="0" i="0">
                <a:solidFill>
                  <a:srgbClr val="1A1A1A"/>
                </a:solidFill>
                <a:latin typeface="Arial"/>
              </a:rPr>
              <a:t>Correctness gate: five statistics, not every element.</a:t>
            </a:r>
          </a:p>
          <a:p>
            <a:pPr marL="201168" indent="-201168" algn="l">
              <a:spcAft>
                <a:spcPts val="1000"/>
              </a:spcAft>
              <a:buChar char="•"/>
            </a:pPr>
            <a:r>
              <a:rPr sz="1600" b="0" i="0">
                <a:solidFill>
                  <a:srgbClr val="1A1A1A"/>
                </a:solidFill>
                <a:latin typeface="Arial"/>
              </a:rPr>
              <a:t>Loop depth and arithmetic intensity are recorded but not yet scored; no bandwidth model.</a:t>
            </a:r>
          </a:p>
          <a:p>
            <a:pPr marL="201168" indent="-201168" algn="l">
              <a:spcAft>
                <a:spcPts val="1000"/>
              </a:spcAft>
              <a:buChar char="•"/>
            </a:pPr>
            <a:r>
              <a:rPr sz="1600" b="0" i="0">
                <a:solidFill>
                  <a:srgbClr val="1A1A1A"/>
                </a:solidFill>
                <a:latin typeface="Arial"/>
              </a:rPr>
              <a:t>Adaptive search costs extra tuning time (pilot runs).</a:t>
            </a:r>
          </a:p>
        </p:txBody>
      </p:sp>
      <p:sp>
        <p:nvSpPr>
          <p:cNvPr id="7" name="TextBox 6"/>
          <p:cNvSpPr txBox="1"/>
          <p:nvPr/>
        </p:nvSpPr>
        <p:spPr>
          <a:xfrm>
            <a:off x="6309360" y="1188720"/>
            <a:ext cx="5330952" cy="365760"/>
          </a:xfrm>
          <a:prstGeom prst="rect">
            <a:avLst/>
          </a:prstGeom>
          <a:noFill/>
        </p:spPr>
        <p:txBody>
          <a:bodyPr wrap="square" lIns="45720" tIns="36576" rIns="45720" bIns="36576">
            <a:spAutoFit/>
          </a:bodyPr>
          <a:lstStyle/>
          <a:p>
            <a:pPr algn="l">
              <a:spcAft>
                <a:spcPts val="600"/>
              </a:spcAft>
            </a:pPr>
            <a:r>
              <a:rPr sz="1700" b="1" i="0">
                <a:solidFill>
                  <a:srgbClr val="1F3A5F"/>
                </a:solidFill>
                <a:latin typeface="Arial"/>
              </a:rPr>
              <a:t>Future scope (not implemented)</a:t>
            </a:r>
          </a:p>
        </p:txBody>
      </p:sp>
      <p:sp>
        <p:nvSpPr>
          <p:cNvPr id="8" name="TextBox 7"/>
          <p:cNvSpPr txBox="1"/>
          <p:nvPr/>
        </p:nvSpPr>
        <p:spPr>
          <a:xfrm>
            <a:off x="6309360" y="1554480"/>
            <a:ext cx="5330952" cy="3291840"/>
          </a:xfrm>
          <a:prstGeom prst="rect">
            <a:avLst/>
          </a:prstGeom>
          <a:noFill/>
        </p:spPr>
        <p:txBody>
          <a:bodyPr wrap="square" lIns="45720" tIns="36576" rIns="45720" bIns="36576">
            <a:spAutoFit/>
          </a:bodyPr>
          <a:lstStyle/>
          <a:p>
            <a:pPr marL="201168" indent="-201168" algn="l">
              <a:spcAft>
                <a:spcPts val="1000"/>
              </a:spcAft>
              <a:buChar char="•"/>
            </a:pPr>
            <a:r>
              <a:rPr sz="1600" b="0" i="0">
                <a:solidFill>
                  <a:srgbClr val="1A1A1A"/>
                </a:solidFill>
                <a:latin typeface="Arial"/>
              </a:rPr>
              <a:t>Linux and newer GCC; compile and test the POSIX runner.</a:t>
            </a:r>
          </a:p>
          <a:p>
            <a:pPr marL="201168" indent="-201168" algn="l">
              <a:spcAft>
                <a:spcPts val="1000"/>
              </a:spcAft>
              <a:buChar char="•"/>
            </a:pPr>
            <a:r>
              <a:rPr sz="1600" b="0" i="0">
                <a:solidFill>
                  <a:srgbClr val="1A1A1A"/>
                </a:solidFill>
                <a:latin typeface="Arial"/>
              </a:rPr>
              <a:t>Sanitizer runs on a toolchain that supports them.</a:t>
            </a:r>
          </a:p>
          <a:p>
            <a:pPr marL="201168" indent="-201168" algn="l">
              <a:spcAft>
                <a:spcPts val="1000"/>
              </a:spcAft>
              <a:buChar char="•"/>
            </a:pPr>
            <a:r>
              <a:rPr sz="1600" b="0" i="0">
                <a:solidFill>
                  <a:srgbClr val="1A1A1A"/>
                </a:solidFill>
                <a:latin typeface="Arial"/>
              </a:rPr>
              <a:t>More kernels, larger inputs, a bigger flag space.</a:t>
            </a:r>
          </a:p>
          <a:p>
            <a:pPr marL="201168" indent="-201168" algn="l">
              <a:spcAft>
                <a:spcPts val="1000"/>
              </a:spcAft>
              <a:buChar char="•"/>
            </a:pPr>
            <a:r>
              <a:rPr sz="1600" b="0" i="0">
                <a:solidFill>
                  <a:srgbClr val="1A1A1A"/>
                </a:solidFill>
                <a:latin typeface="Arial"/>
              </a:rPr>
              <a:t>Use loop depth and arithmetic intensity in scoring.</a:t>
            </a:r>
          </a:p>
          <a:p>
            <a:pPr marL="201168" indent="-201168" algn="l">
              <a:spcAft>
                <a:spcPts val="1000"/>
              </a:spcAft>
              <a:buChar char="•"/>
            </a:pPr>
            <a:r>
              <a:rPr sz="1600" b="0" i="0">
                <a:solidFill>
                  <a:srgbClr val="1A1A1A"/>
                </a:solidFill>
                <a:latin typeface="Arial"/>
              </a:rPr>
              <a:t>Compare every output element where practical.</a:t>
            </a:r>
          </a:p>
        </p:txBody>
      </p:sp>
      <p:sp>
        <p:nvSpPr>
          <p:cNvPr id="9" name="Conclusion"/>
          <p:cNvSpPr/>
          <p:nvPr/>
        </p:nvSpPr>
        <p:spPr>
          <a:xfrm>
            <a:off x="548640" y="4754880"/>
            <a:ext cx="11091672" cy="9601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164592" tIns="36576" rIns="164592" bIns="36576" rtlCol="0" anchor="ctr"/>
          <a:lstStyle/>
          <a:p>
            <a:pPr algn="l">
              <a:spcAft>
                <a:spcPts val="600"/>
              </a:spcAft>
            </a:pPr>
            <a:r>
              <a:rPr sz="1350" b="1" i="0">
                <a:solidFill>
                  <a:srgbClr val="1A1A1A"/>
                </a:solidFill>
                <a:latin typeface="Arial"/>
              </a:rPr>
              <a:t>Conclusion.</a:t>
            </a:r>
            <a:r>
              <a:rPr sz="1350" b="0" i="0">
                <a:solidFill>
                  <a:srgbClr val="1A1A1A"/>
                </a:solidFill>
                <a:latin typeface="Arial"/>
              </a:rPr>
              <a:t> NOVA keeps two questions apart: how a compiler works (NOVA Compiler) and how to compare GCC settings carefully (SmartPass). In the measured setting, adaptive search was slightly ahead of random at small budgets; this does not show NOVA is faster than GCC or that results generalize.</a:t>
            </a:r>
          </a:p>
        </p:txBody>
      </p:sp>
      <p:sp>
        <p:nvSpPr>
          <p:cNvPr id="10" name="TextBox 9"/>
          <p:cNvSpPr txBox="1"/>
          <p:nvPr/>
        </p:nvSpPr>
        <p:spPr>
          <a:xfrm>
            <a:off x="548640" y="5806440"/>
            <a:ext cx="11091672" cy="548640"/>
          </a:xfrm>
          <a:prstGeom prst="rect">
            <a:avLst/>
          </a:prstGeom>
          <a:noFill/>
        </p:spPr>
        <p:txBody>
          <a:bodyPr wrap="square" lIns="45720" tIns="36576" rIns="45720" bIns="36576">
            <a:spAutoFit/>
          </a:bodyPr>
          <a:lstStyle/>
          <a:p>
            <a:pPr algn="l">
              <a:spcAft>
                <a:spcPts val="600"/>
              </a:spcAft>
            </a:pPr>
            <a:r>
              <a:rPr sz="1050" b="0" i="0">
                <a:solidFill>
                  <a:srgbClr val="5A6270"/>
                </a:solidFill>
                <a:latin typeface="Arial"/>
              </a:rPr>
              <a:t>References: [1] GNU Project, GCC manual, “Options That Control Optimization”  [2] Ansel et al., OpenTuner, PACT 2014  [3] Google Benchmark, “Random Interleaving”  [4] SPEC CPU 2026 Run and Reporting Rules  [5] LLVM, “My First Language Frontend”. Links: NOVA_Slide_Content.md.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Glossary</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15 / 15</a:t>
            </a:r>
          </a:p>
        </p:txBody>
      </p:sp>
      <p:graphicFrame>
        <p:nvGraphicFramePr>
          <p:cNvPr id="5" name="Glossary left"/>
          <p:cNvGraphicFramePr>
            <a:graphicFrameLocks noGrp="1"/>
          </p:cNvGraphicFramePr>
          <p:nvPr/>
        </p:nvGraphicFramePr>
        <p:xfrm>
          <a:off x="548640" y="1188720"/>
          <a:ext cx="5394960" cy="4681728"/>
        </p:xfrm>
        <a:graphic>
          <a:graphicData uri="http://schemas.openxmlformats.org/drawingml/2006/table">
            <a:tbl>
              <a:tblPr firstRow="1">
                <a:tableStyleId>{5C22544A-7EE6-4342-B048-85BDC9FD1C3A}</a:tableStyleId>
              </a:tblPr>
              <a:tblGrid>
                <a:gridCol w="150876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585216">
                <a:tc>
                  <a:txBody>
                    <a:bodyPr/>
                    <a:lstStyle/>
                    <a:p>
                      <a:r>
                        <a:rPr sz="1150" b="1">
                          <a:solidFill>
                            <a:srgbClr val="FFFFFF"/>
                          </a:solidFill>
                          <a:latin typeface="Arial"/>
                        </a:rPr>
                        <a:t>Term</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150" b="1">
                          <a:solidFill>
                            <a:srgbClr val="FFFFFF"/>
                          </a:solidFill>
                          <a:latin typeface="Arial"/>
                        </a:rPr>
                        <a:t>Meaning in NOVA</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585216">
                <a:tc>
                  <a:txBody>
                    <a:bodyPr/>
                    <a:lstStyle/>
                    <a:p>
                      <a:r>
                        <a:rPr sz="1150" b="1">
                          <a:solidFill>
                            <a:srgbClr val="1A1A1A"/>
                          </a:solidFill>
                          <a:latin typeface="Arial"/>
                        </a:rPr>
                        <a:t>Workload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A kernel plus its input size, e.g. stencil with n = 200,000.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585216">
                <a:tc>
                  <a:txBody>
                    <a:bodyPr/>
                    <a:lstStyle/>
                    <a:p>
                      <a:r>
                        <a:rPr sz="1150" b="1">
                          <a:solidFill>
                            <a:srgbClr val="1A1A1A"/>
                          </a:solidFill>
                          <a:latin typeface="Arial"/>
                        </a:rPr>
                        <a:t>Candidate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One whitelisted flag combination, e.g. </a:t>
                      </a:r>
                      <a:r>
                        <a:rPr sz="1150" b="0">
                          <a:solidFill>
                            <a:srgbClr val="1A1A1A"/>
                          </a:solidFill>
                          <a:latin typeface="Courier New"/>
                        </a:rPr>
                        <a:t>O3+unroll+native</a:t>
                      </a:r>
                      <a:r>
                        <a:rPr sz="1150" b="0">
                          <a:solidFill>
                            <a:srgbClr val="1A1A1A"/>
                          </a:solidFill>
                          <a:latin typeface="Arial"/>
                        </a:rPr>
                        <a: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585216">
                <a:tc>
                  <a:txBody>
                    <a:bodyPr/>
                    <a:lstStyle/>
                    <a:p>
                      <a:r>
                        <a:rPr sz="1150" b="1">
                          <a:solidFill>
                            <a:srgbClr val="1A1A1A"/>
                          </a:solidFill>
                          <a:latin typeface="Arial"/>
                        </a:rPr>
                        <a:t>Flag</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A single GCC option, e.g. </a:t>
                      </a:r>
                      <a:r>
                        <a:rPr sz="1150" b="0">
                          <a:solidFill>
                            <a:srgbClr val="1A1A1A"/>
                          </a:solidFill>
                          <a:latin typeface="Courier New"/>
                        </a:rPr>
                        <a:t>-funroll-loops</a:t>
                      </a:r>
                      <a:r>
                        <a:rPr sz="1150" b="0">
                          <a:solidFill>
                            <a:srgbClr val="1A1A1A"/>
                          </a:solidFill>
                          <a:latin typeface="Arial"/>
                        </a:rPr>
                        <a: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r h="585216">
                <a:tc>
                  <a:txBody>
                    <a:bodyPr/>
                    <a:lstStyle/>
                    <a:p>
                      <a:r>
                        <a:rPr sz="1150" b="1">
                          <a:solidFill>
                            <a:srgbClr val="1A1A1A"/>
                          </a:solidFill>
                          <a:latin typeface="Arial"/>
                        </a:rPr>
                        <a:t>Binary</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The executable GCC builds for one candidate.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4"/>
                  </a:ext>
                </a:extLst>
              </a:tr>
              <a:tr h="585216">
                <a:tc>
                  <a:txBody>
                    <a:bodyPr/>
                    <a:lstStyle/>
                    <a:p>
                      <a:r>
                        <a:rPr sz="1150" b="1">
                          <a:solidFill>
                            <a:srgbClr val="1A1A1A"/>
                          </a:solidFill>
                          <a:latin typeface="Arial"/>
                        </a:rPr>
                        <a:t>Budget (B)</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Max searched candidates built; the -O2/-O3 baselines are extra.</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5"/>
                  </a:ext>
                </a:extLst>
              </a:tr>
              <a:tr h="585216">
                <a:tc>
                  <a:txBody>
                    <a:bodyPr/>
                    <a:lstStyle/>
                    <a:p>
                      <a:r>
                        <a:rPr sz="1150" b="1">
                          <a:solidFill>
                            <a:srgbClr val="1A1A1A"/>
                          </a:solidFill>
                          <a:latin typeface="Arial"/>
                        </a:rPr>
                        <a:t>Adaptive search</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Next candidate chosen by prior + history + pilot feedback.</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6"/>
                  </a:ext>
                </a:extLst>
              </a:tr>
              <a:tr h="585216">
                <a:tc>
                  <a:txBody>
                    <a:bodyPr/>
                    <a:lstStyle/>
                    <a:p>
                      <a:r>
                        <a:rPr sz="1150" b="1">
                          <a:solidFill>
                            <a:srgbClr val="1A1A1A"/>
                          </a:solidFill>
                          <a:latin typeface="Arial"/>
                        </a:rPr>
                        <a:t>Accounting rules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Selected and built = counted, even if it fails; no retries.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7"/>
                  </a:ext>
                </a:extLst>
              </a:tr>
            </a:tbl>
          </a:graphicData>
        </a:graphic>
      </p:graphicFrame>
      <p:graphicFrame>
        <p:nvGraphicFramePr>
          <p:cNvPr id="6" name="Glossary right"/>
          <p:cNvGraphicFramePr>
            <a:graphicFrameLocks noGrp="1"/>
          </p:cNvGraphicFramePr>
          <p:nvPr/>
        </p:nvGraphicFramePr>
        <p:xfrm>
          <a:off x="6245352" y="1188720"/>
          <a:ext cx="5394960" cy="4681728"/>
        </p:xfrm>
        <a:graphic>
          <a:graphicData uri="http://schemas.openxmlformats.org/drawingml/2006/table">
            <a:tbl>
              <a:tblPr firstRow="1">
                <a:tableStyleId>{5C22544A-7EE6-4342-B048-85BDC9FD1C3A}</a:tableStyleId>
              </a:tblPr>
              <a:tblGrid>
                <a:gridCol w="160020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585216">
                <a:tc>
                  <a:txBody>
                    <a:bodyPr/>
                    <a:lstStyle/>
                    <a:p>
                      <a:r>
                        <a:rPr sz="1150" b="1">
                          <a:solidFill>
                            <a:srgbClr val="FFFFFF"/>
                          </a:solidFill>
                          <a:latin typeface="Arial"/>
                        </a:rPr>
                        <a:t>Term</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150" b="1">
                          <a:solidFill>
                            <a:srgbClr val="FFFFFF"/>
                          </a:solidFill>
                          <a:latin typeface="Arial"/>
                        </a:rPr>
                        <a:t>Meaning in NOVA</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585216">
                <a:tc>
                  <a:txBody>
                    <a:bodyPr/>
                    <a:lstStyle/>
                    <a:p>
                      <a:r>
                        <a:rPr sz="1150" b="1">
                          <a:solidFill>
                            <a:srgbClr val="1A1A1A"/>
                          </a:solidFill>
                          <a:latin typeface="Arial"/>
                        </a:rPr>
                        <a:t>Correctness gate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Five output statistics must match the reference or the candidate cannot win.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585216">
                <a:tc>
                  <a:txBody>
                    <a:bodyPr/>
                    <a:lstStyle/>
                    <a:p>
                      <a:r>
                        <a:rPr sz="1150" b="1">
                          <a:solidFill>
                            <a:srgbClr val="1A1A1A"/>
                          </a:solidFill>
                          <a:latin typeface="Arial"/>
                        </a:rPr>
                        <a:t>Tolerance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Allowed gap: </a:t>
                      </a:r>
                      <a:r>
                        <a:rPr sz="1150" b="0">
                          <a:solidFill>
                            <a:srgbClr val="1A1A1A"/>
                          </a:solidFill>
                          <a:latin typeface="Courier New"/>
                        </a:rPr>
                        <a:t>1e-9 · max(1, |expected|)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585216">
                <a:tc>
                  <a:txBody>
                    <a:bodyPr/>
                    <a:lstStyle/>
                    <a:p>
                      <a:r>
                        <a:rPr sz="1150" b="1">
                          <a:solidFill>
                            <a:srgbClr val="1A1A1A"/>
                          </a:solidFill>
                          <a:latin typeface="Arial"/>
                        </a:rPr>
                        <a:t>Anchor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The plain </a:t>
                      </a:r>
                      <a:r>
                        <a:rPr sz="1150" b="0">
                          <a:solidFill>
                            <a:srgbClr val="1A1A1A"/>
                          </a:solidFill>
                          <a:latin typeface="Courier New"/>
                        </a:rPr>
                        <a:t>-O2</a:t>
                      </a:r>
                      <a:r>
                        <a:rPr sz="1150" b="0">
                          <a:solidFill>
                            <a:srgbClr val="1A1A1A"/>
                          </a:solidFill>
                          <a:latin typeface="Arial"/>
                        </a:rPr>
                        <a:t> baseline: reference for pilot runs, history and binary size.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r h="585216">
                <a:tc>
                  <a:txBody>
                    <a:bodyPr/>
                    <a:lstStyle/>
                    <a:p>
                      <a:r>
                        <a:rPr sz="1150" b="1">
                          <a:solidFill>
                            <a:srgbClr val="8A5500"/>
                          </a:solidFill>
                          <a:latin typeface="Arial"/>
                        </a:rPr>
                        <a:t>“Unaccounted anchor”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8A5500"/>
                          </a:solidFill>
                          <a:latin typeface="Arial"/>
                        </a:rPr>
                        <a:t>Not defined in the project. Closest: the uncounted -O2/-O3 anchor baselines. Author to confirm.</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4"/>
                  </a:ext>
                </a:extLst>
              </a:tr>
              <a:tr h="585216">
                <a:tc>
                  <a:txBody>
                    <a:bodyPr/>
                    <a:lstStyle/>
                    <a:p>
                      <a:r>
                        <a:rPr sz="1150" b="1">
                          <a:solidFill>
                            <a:srgbClr val="1A1A1A"/>
                          </a:solidFill>
                          <a:latin typeface="Arial"/>
                        </a:rPr>
                        <a:t>Arithmetic intensity</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Floating-point operations per byte moved.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5"/>
                  </a:ext>
                </a:extLst>
              </a:tr>
              <a:tr h="585216">
                <a:tc>
                  <a:txBody>
                    <a:bodyPr/>
                    <a:lstStyle/>
                    <a:p>
                      <a:r>
                        <a:rPr sz="1150" b="1">
                          <a:solidFill>
                            <a:srgbClr val="1A1A1A"/>
                          </a:solidFill>
                          <a:latin typeface="Arial"/>
                        </a:rPr>
                        <a:t>Tuning overhead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Wall-clock time of the whole search (11.49 s in the saved stencil run).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6"/>
                  </a:ext>
                </a:extLst>
              </a:tr>
              <a:tr h="585216">
                <a:tc>
                  <a:txBody>
                    <a:bodyPr/>
                    <a:lstStyle/>
                    <a:p>
                      <a:r>
                        <a:rPr sz="1150" b="1">
                          <a:solidFill>
                            <a:srgbClr val="1A1A1A"/>
                          </a:solidFill>
                          <a:latin typeface="Arial"/>
                        </a:rPr>
                        <a:t>Reference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150" b="0">
                          <a:solidFill>
                            <a:srgbClr val="1A1A1A"/>
                          </a:solidFill>
                          <a:latin typeface="Arial"/>
                        </a:rPr>
                        <a:t>Independent long-double calculation of the expected statistics.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548640" y="5989320"/>
            <a:ext cx="11091672" cy="365760"/>
          </a:xfrm>
          <a:prstGeom prst="rect">
            <a:avLst/>
          </a:prstGeom>
          <a:noFill/>
        </p:spPr>
        <p:txBody>
          <a:bodyPr wrap="square" lIns="45720" tIns="36576" rIns="45720" bIns="36576">
            <a:spAutoFit/>
          </a:bodyPr>
          <a:lstStyle/>
          <a:p>
            <a:pPr algn="l">
              <a:spcAft>
                <a:spcPts val="600"/>
              </a:spcAft>
            </a:pPr>
            <a:r>
              <a:rPr sz="1150" b="0" i="0">
                <a:solidFill>
                  <a:srgbClr val="5A6270"/>
                </a:solidFill>
                <a:latin typeface="Arial"/>
              </a:rPr>
              <a:t>Definitions follow the code (src/tune/, src/bench/) and docs/smartpass.md; the budget is configurable, 4 is the demonstration setting.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TotalTime>
  <Words>7493</Words>
  <Application>Microsoft Office PowerPoint</Application>
  <PresentationFormat>Widescreen</PresentationFormat>
  <Paragraphs>472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NOVA: An Explainable, Workload-Aware Compiler Optimization Framework for Numerical Programs</vt:lpstr>
      <vt:lpstr>Problem statement</vt:lpstr>
      <vt:lpstr>Proposed solution: two parts of NOVA</vt:lpstr>
      <vt:lpstr>NOVA Compiler: pipeline</vt:lpstr>
      <vt:lpstr>Running NOVA on a Program (A): NOVA Compiler</vt:lpstr>
      <vt:lpstr>How NOVA SmartPass Chooses Compiler Flags</vt:lpstr>
      <vt:lpstr>Candidate Lifecycle</vt:lpstr>
      <vt:lpstr>Faster Code vs. Strict Floating-Point Behavior</vt:lpstr>
      <vt:lpstr>Running NOVA on a Program (B): SmartPass</vt:lpstr>
      <vt:lpstr>What NOVA Adds</vt:lpstr>
      <vt:lpstr>Current progress</vt:lpstr>
      <vt:lpstr>Limitations, Future Scope and Conclusion</vt:lpstr>
      <vt:lpstr>Glossary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 An Explainable, Workload-Aware Compiler Optimization Framework for Numerical Programs</dc:title>
  <dc:subject>Project presentation</dc:subject>
  <dc:creator/>
  <cp:keywords/>
  <dc:description>generated using python-pptx</dc:description>
  <cp:lastModifiedBy>Neelaksh Saxena</cp:lastModifiedBy>
  <cp:revision>3</cp:revision>
  <dcterms:created xsi:type="dcterms:W3CDTF">2013-01-27T09:14:16Z</dcterms:created>
  <dcterms:modified xsi:type="dcterms:W3CDTF">2026-10-22T09:01:41Z</dcterms:modified>
  <cp:category/>
</cp:coreProperties>
</file>