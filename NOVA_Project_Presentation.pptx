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284"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Fixed</c:v>
                </c:pt>
              </c:strCache>
            </c:strRef>
          </c:tx>
          <c:spPr>
            <a:ln w="22225">
              <a:solidFill>
                <a:srgbClr val="A3AAB5"/>
              </a:solidFill>
              <a:prstDash val="sysDot"/>
            </a:ln>
          </c:spPr>
          <c:marker>
            <c:symbol val="circle"/>
            <c:size val="6"/>
            <c:spPr>
              <a:solidFill>
                <a:srgbClr val="A3AAB5"/>
              </a:solidFill>
              <a:ln>
                <a:solidFill>
                  <a:srgbClr val="A3AAB5"/>
                </a:solidFill>
              </a:ln>
            </c:spPr>
          </c:marker>
          <c:cat>
            <c:strRef>
              <c:f>Sheet1!$A$2:$A$9</c:f>
              <c:strCache>
                <c:ptCount val="8"/>
                <c:pt idx="0">
                  <c:v>1</c:v>
                </c:pt>
                <c:pt idx="1">
                  <c:v>2</c:v>
                </c:pt>
                <c:pt idx="2">
                  <c:v>3</c:v>
                </c:pt>
                <c:pt idx="3">
                  <c:v>4</c:v>
                </c:pt>
                <c:pt idx="4">
                  <c:v>6</c:v>
                </c:pt>
                <c:pt idx="5">
                  <c:v>8</c:v>
                </c:pt>
                <c:pt idx="6">
                  <c:v>12</c:v>
                </c:pt>
                <c:pt idx="7">
                  <c:v>22</c:v>
                </c:pt>
              </c:strCache>
            </c:strRef>
          </c:cat>
          <c:val>
            <c:numRef>
              <c:f>Sheet1!$B$2:$B$9</c:f>
              <c:numCache>
                <c:formatCode>General</c:formatCode>
                <c:ptCount val="8"/>
                <c:pt idx="0">
                  <c:v>1.018</c:v>
                </c:pt>
                <c:pt idx="1">
                  <c:v>1.0549999999999999</c:v>
                </c:pt>
                <c:pt idx="2">
                  <c:v>1.0549999999999999</c:v>
                </c:pt>
                <c:pt idx="3">
                  <c:v>1.0529999999999999</c:v>
                </c:pt>
                <c:pt idx="4">
                  <c:v>1.0980000000000001</c:v>
                </c:pt>
                <c:pt idx="5">
                  <c:v>1.0980000000000001</c:v>
                </c:pt>
                <c:pt idx="6">
                  <c:v>1.097</c:v>
                </c:pt>
                <c:pt idx="7">
                  <c:v>1.1100000000000001</c:v>
                </c:pt>
              </c:numCache>
            </c:numRef>
          </c:val>
          <c:smooth val="0"/>
          <c:extLst>
            <c:ext xmlns:c16="http://schemas.microsoft.com/office/drawing/2014/chart" uri="{C3380CC4-5D6E-409C-BE32-E72D297353CC}">
              <c16:uniqueId val="{00000000-A45A-48DB-B89F-C8F4019BAD71}"/>
            </c:ext>
          </c:extLst>
        </c:ser>
        <c:ser>
          <c:idx val="1"/>
          <c:order val="1"/>
          <c:tx>
            <c:strRef>
              <c:f>Sheet1!$C$1</c:f>
              <c:strCache>
                <c:ptCount val="1"/>
                <c:pt idx="0">
                  <c:v>Random</c:v>
                </c:pt>
              </c:strCache>
            </c:strRef>
          </c:tx>
          <c:spPr>
            <a:ln w="25400">
              <a:solidFill>
                <a:srgbClr val="6B7280"/>
              </a:solidFill>
              <a:prstDash val="dash"/>
            </a:ln>
          </c:spPr>
          <c:marker>
            <c:symbol val="circle"/>
            <c:size val="6"/>
            <c:spPr>
              <a:solidFill>
                <a:srgbClr val="6B7280"/>
              </a:solidFill>
              <a:ln>
                <a:solidFill>
                  <a:srgbClr val="6B7280"/>
                </a:solidFill>
              </a:ln>
            </c:spPr>
          </c:marker>
          <c:cat>
            <c:strRef>
              <c:f>Sheet1!$A$2:$A$9</c:f>
              <c:strCache>
                <c:ptCount val="8"/>
                <c:pt idx="0">
                  <c:v>1</c:v>
                </c:pt>
                <c:pt idx="1">
                  <c:v>2</c:v>
                </c:pt>
                <c:pt idx="2">
                  <c:v>3</c:v>
                </c:pt>
                <c:pt idx="3">
                  <c:v>4</c:v>
                </c:pt>
                <c:pt idx="4">
                  <c:v>6</c:v>
                </c:pt>
                <c:pt idx="5">
                  <c:v>8</c:v>
                </c:pt>
                <c:pt idx="6">
                  <c:v>12</c:v>
                </c:pt>
                <c:pt idx="7">
                  <c:v>22</c:v>
                </c:pt>
              </c:strCache>
            </c:strRef>
          </c:cat>
          <c:val>
            <c:numRef>
              <c:f>Sheet1!$C$2:$C$9</c:f>
              <c:numCache>
                <c:formatCode>General</c:formatCode>
                <c:ptCount val="8"/>
                <c:pt idx="0">
                  <c:v>1.0549999999999999</c:v>
                </c:pt>
                <c:pt idx="1">
                  <c:v>1.0740000000000001</c:v>
                </c:pt>
                <c:pt idx="2">
                  <c:v>1.0900000000000001</c:v>
                </c:pt>
                <c:pt idx="3">
                  <c:v>1.097</c:v>
                </c:pt>
                <c:pt idx="4">
                  <c:v>1.103</c:v>
                </c:pt>
                <c:pt idx="5">
                  <c:v>1.1060000000000001</c:v>
                </c:pt>
                <c:pt idx="6">
                  <c:v>1.109</c:v>
                </c:pt>
                <c:pt idx="7">
                  <c:v>1.1100000000000001</c:v>
                </c:pt>
              </c:numCache>
            </c:numRef>
          </c:val>
          <c:smooth val="0"/>
          <c:extLst>
            <c:ext xmlns:c16="http://schemas.microsoft.com/office/drawing/2014/chart" uri="{C3380CC4-5D6E-409C-BE32-E72D297353CC}">
              <c16:uniqueId val="{00000001-A45A-48DB-B89F-C8F4019BAD71}"/>
            </c:ext>
          </c:extLst>
        </c:ser>
        <c:ser>
          <c:idx val="2"/>
          <c:order val="2"/>
          <c:tx>
            <c:strRef>
              <c:f>Sheet1!$D$1</c:f>
              <c:strCache>
                <c:ptCount val="1"/>
                <c:pt idx="0">
                  <c:v>Adaptive</c:v>
                </c:pt>
              </c:strCache>
            </c:strRef>
          </c:tx>
          <c:spPr>
            <a:ln w="38100">
              <a:solidFill>
                <a:srgbClr val="1F3A5F"/>
              </a:solidFill>
              <a:prstDash val="solid"/>
            </a:ln>
          </c:spPr>
          <c:marker>
            <c:symbol val="circle"/>
            <c:size val="6"/>
            <c:spPr>
              <a:solidFill>
                <a:srgbClr val="1F3A5F"/>
              </a:solidFill>
              <a:ln>
                <a:solidFill>
                  <a:srgbClr val="1F3A5F"/>
                </a:solidFill>
              </a:ln>
            </c:spPr>
          </c:marker>
          <c:cat>
            <c:strRef>
              <c:f>Sheet1!$A$2:$A$9</c:f>
              <c:strCache>
                <c:ptCount val="8"/>
                <c:pt idx="0">
                  <c:v>1</c:v>
                </c:pt>
                <c:pt idx="1">
                  <c:v>2</c:v>
                </c:pt>
                <c:pt idx="2">
                  <c:v>3</c:v>
                </c:pt>
                <c:pt idx="3">
                  <c:v>4</c:v>
                </c:pt>
                <c:pt idx="4">
                  <c:v>6</c:v>
                </c:pt>
                <c:pt idx="5">
                  <c:v>8</c:v>
                </c:pt>
                <c:pt idx="6">
                  <c:v>12</c:v>
                </c:pt>
                <c:pt idx="7">
                  <c:v>22</c:v>
                </c:pt>
              </c:strCache>
            </c:strRef>
          </c:cat>
          <c:val>
            <c:numRef>
              <c:f>Sheet1!$D$2:$D$9</c:f>
              <c:numCache>
                <c:formatCode>General</c:formatCode>
                <c:ptCount val="8"/>
                <c:pt idx="0">
                  <c:v>1.099</c:v>
                </c:pt>
                <c:pt idx="1">
                  <c:v>1.101</c:v>
                </c:pt>
                <c:pt idx="2">
                  <c:v>1.1000000000000001</c:v>
                </c:pt>
                <c:pt idx="3">
                  <c:v>1.1100000000000001</c:v>
                </c:pt>
                <c:pt idx="4">
                  <c:v>1.1120000000000001</c:v>
                </c:pt>
                <c:pt idx="5">
                  <c:v>1.1120000000000001</c:v>
                </c:pt>
                <c:pt idx="6">
                  <c:v>1.1100000000000001</c:v>
                </c:pt>
                <c:pt idx="7">
                  <c:v>1.1100000000000001</c:v>
                </c:pt>
              </c:numCache>
            </c:numRef>
          </c:val>
          <c:smooth val="0"/>
          <c:extLst>
            <c:ext xmlns:c16="http://schemas.microsoft.com/office/drawing/2014/chart" uri="{C3380CC4-5D6E-409C-BE32-E72D297353CC}">
              <c16:uniqueId val="{00000002-A45A-48DB-B89F-C8F4019BAD7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r>
                  <a:rPr lang="en-US" sz="1200" b="0">
                    <a:latin typeface="Arial"/>
                  </a:rPr>
                  <a:t>Search budget B (candidates evaluated)</a:t>
                </a:r>
              </a:p>
            </c:rich>
          </c:tx>
          <c:overlay val="0"/>
        </c:title>
        <c:numFmt formatCode="General" sourceLinked="0"/>
        <c:majorTickMark val="out"/>
        <c:minorTickMark val="none"/>
        <c:tickLblPos val="nextTo"/>
        <c:txPr>
          <a:bodyPr/>
          <a:lstStyle/>
          <a:p>
            <a:pPr>
              <a:defRPr sz="1200"/>
            </a:pPr>
            <a:endParaRPr lang="en-US"/>
          </a:p>
        </c:txPr>
        <c:crossAx val="2140495176"/>
        <c:crosses val="autoZero"/>
        <c:auto val="1"/>
        <c:lblAlgn val="ctr"/>
        <c:lblOffset val="100"/>
        <c:noMultiLvlLbl val="0"/>
      </c:catAx>
      <c:valAx>
        <c:axId val="2140495176"/>
        <c:scaling>
          <c:orientation val="minMax"/>
          <c:max val="1.1200000000000001"/>
          <c:min val="1"/>
        </c:scaling>
        <c:delete val="0"/>
        <c:axPos val="l"/>
        <c:majorGridlines>
          <c:spPr>
            <a:ln>
              <a:solidFill>
                <a:srgbClr val="DDE1E7"/>
              </a:solidFill>
            </a:ln>
          </c:spPr>
        </c:majorGridlines>
        <c:title>
          <c:tx>
            <c:rich>
              <a:bodyPr/>
              <a:lstStyle/>
              <a:p>
                <a:r>
                  <a:rPr lang="en-US" sz="1200" b="0">
                    <a:latin typeface="Arial"/>
                  </a:rPr>
                  <a:t>Mean holdout speedup (× vs better of -O2/-O3)</a:t>
                </a:r>
              </a:p>
            </c:rich>
          </c:tx>
          <c:overlay val="0"/>
        </c:title>
        <c:numFmt formatCode="0.00" sourceLinked="0"/>
        <c:majorTickMark val="out"/>
        <c:minorTickMark val="none"/>
        <c:tickLblPos val="nextTo"/>
        <c:txPr>
          <a:bodyPr/>
          <a:lstStyle/>
          <a:p>
            <a:pPr>
              <a:defRPr sz="1200"/>
            </a:pPr>
            <a:endParaRPr lang="en-US"/>
          </a:p>
        </c:txPr>
        <c:crossAx val="2118791784"/>
        <c:crosses val="autoZero"/>
        <c:crossBetween val="between"/>
        <c:majorUnit val="0.02"/>
      </c:valAx>
    </c:plotArea>
    <c:legend>
      <c:legendPos val="b"/>
      <c:overlay val="0"/>
      <c:txPr>
        <a:bodyPr/>
        <a:lstStyle/>
        <a:p>
          <a:pPr>
            <a:defRPr sz="1200"/>
          </a:pPr>
          <a:endParaRPr lang="en-US"/>
        </a:p>
      </c:txPr>
    </c:legend>
    <c:plotVisOnly val="1"/>
    <c:dispBlanksAs val="gap"/>
    <c:showDLblsOverMax val="0"/>
  </c:chart>
  <c:txPr>
    <a:bodyPr/>
    <a:lstStyle/>
    <a:p>
      <a:pPr>
        <a:defRPr sz="18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9829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NOVA is one project with two separate parts. The first is a small compiler I built for a toy language called NOVA Script, so I could show every compiler stage working. The second, SmartPass, is a research tool: it does not compile C++ itself. It asks GCC to compile numerical C++ programs with different optimization flags, checks the answers, times them, and explains which flags won.</a:t>
            </a:r>
          </a:p>
          <a:p>
            <a:endParaRPr/>
          </a:p>
          <a:p>
            <a:r>
              <a:t>Likely question: 'Does NOVA compile C++?' Short answer: no. GCC compiles the C++; SmartPass only chooses the flags, checks correctness, measures and records.</a:t>
            </a:r>
          </a:p>
          <a:p>
            <a:endParaRPr/>
          </a:p>
          <a:p>
            <a:r>
              <a:t>Placeholders on this slide (course code, college, names, guide, date) are not in the project files; fill them in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GCC can make a program faster, but picking the right settings is not obvious, and a 'faster' result is only useful if the answer is still right and the speedup is repeatable.</a:t>
            </a:r>
          </a:p>
          <a:p>
            <a:endParaRPr/>
          </a:p>
          <a:p>
            <a:r>
              <a:t>How it works: GCC has optimization levels (-O2, -O3) and many individual flags such as -funroll-loops. The GCC manual itself says unrolling 'may or may not make it run faster', so the benefit depends on the program. Some flags (like -Ofast) can change floating-point results. And timings on a real machine vary from run to run, so one measurement proves little.</a:t>
            </a:r>
          </a:p>
          <a:p>
            <a:endParaRPr/>
          </a:p>
          <a:p>
            <a:r>
              <a:t>Relation to NOVA: these three questions (which flags, still correct, speedup real) are exactly what SmartPass tries to handle for a narrow case.</a:t>
            </a:r>
          </a:p>
          <a:p>
            <a:endParaRPr/>
          </a:p>
          <a:p>
            <a:r>
              <a:t>Likely question: 'Do developers really struggle with this?' Honest answer: we did not run a survey. The sources show the configuration space and the measurement problems exist; they do not tell us how common the struggle is.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the project has two goals that are deliberately kept apart. One is educational (build a working compiler for a small language). The other is research (test whether a smarter flag search beats random search).</a:t>
            </a:r>
          </a:p>
          <a:p>
            <a:endParaRPr/>
          </a:p>
          <a:p>
            <a:r>
              <a:t>How it works: track A follows the standard compiler pipeline and ends with an optimizer that must never change what a program prints, including runtime errors. Track B treats GCC as a black box and tests search strategies under the same candidate budget.</a:t>
            </a:r>
          </a:p>
          <a:p>
            <a:endParaRPr/>
          </a:p>
          <a:p>
            <a:r>
              <a:t>Relation to NOVA: these are intended outcomes. Slide 12 shows which are met, and slide 11 what the data say.</a:t>
            </a:r>
          </a:p>
          <a:p>
            <a:endParaRPr/>
          </a:p>
          <a:p>
            <a:r>
              <a:t>Likely question: 'Are all these objectives achieved?' Answer: in the verified setting (Windows, MinGW GCC 6.3.0) the implementation and tests are complete; what the experiments prove is limited, see slides 11 and 13.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today, you either trust GCC's -O2 or -O3, or you try extra flags by hand and measure.</a:t>
            </a:r>
          </a:p>
          <a:p>
            <a:endParaRPr/>
          </a:p>
          <a:p>
            <a:r>
              <a:t>How it works: -O3 turns on more loop and interprocedural transformations than -O2, and extra flags such as unrolling, vectorization and prefetching can be added. Which help depends on the program and the GCC version. Automatic tuners such as OpenTuner already exist, so searching configurations is not our invention.</a:t>
            </a:r>
          </a:p>
          <a:p>
            <a:endParaRPr/>
          </a:p>
          <a:p>
            <a:r>
              <a:t>The small table is real data from our report: for matmul, -O2 and -O3 are essentially the same; for stencil, the best searched configuration is about 1.3 times faster than the better of -O2/-O3 at that size. This only says there is something to find in this setup; it is one machine, one old GCC (6.3.0) and three kernels.</a:t>
            </a:r>
          </a:p>
          <a:p>
            <a:endParaRPr/>
          </a:p>
          <a:p>
            <a:r>
              <a:t>Likely question: 'So is -O3 bad?' No. -O3 is a strong baseline; we always compare against it and never claim NOVA is faster than GCC in general.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NOVA answers two different questions. The compiler answers 'how does a compiler turn a program into something it can optimize and run?'. SmartPass answers 'which GCC settings work best for this numerical program, and can we trust the answer?'.</a:t>
            </a:r>
          </a:p>
          <a:p>
            <a:endParaRPr/>
          </a:p>
          <a:p>
            <a:r>
              <a:t>How it works: both are commands of one tool, nova. The compiler reads a .nova file and shows tokens, AST, TAC, optimized TAC, or runs it. SmartPass takes a built-in C++ kernel, asks g++ to build it with chosen flags, checks output, times it and writes a record. In the measurements the two parts share no code path.</a:t>
            </a:r>
          </a:p>
          <a:p>
            <a:endParaRPr/>
          </a:p>
          <a:p>
            <a:r>
              <a:t>Relation to NOVA: keeping them separate is a design decision (D-001 in state/DECISIONS.md), so no result from one is used to claim anything about the other.</a:t>
            </a:r>
          </a:p>
          <a:p>
            <a:endParaRPr/>
          </a:p>
          <a:p>
            <a:r>
              <a:t>Likely question: 'Why two parts?' The compiler is the course-aligned learning part; SmartPass is the research question. Mixing them would blur what each one proves.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everyday language: the compiler reads a small program, understands its structure, turns it into very simple step-by-step instructions, cleans those up, and runs them.</a:t>
            </a:r>
          </a:p>
          <a:p>
            <a:endParaRPr dirty="0"/>
          </a:p>
          <a:p>
            <a:r>
              <a:rPr dirty="0"/>
              <a:t>How it works: the </a:t>
            </a:r>
            <a:r>
              <a:rPr dirty="0" err="1"/>
              <a:t>lexer</a:t>
            </a:r>
            <a:r>
              <a:rPr dirty="0"/>
              <a:t> produces tokens with line and column. The parser is recursive descent: one function per precedence level (additive, term, unary, primary), which gives correct precedence for * and / over + and -. The AST records the meaning. Semantic analysis uses a symbol table to reject undeclared and duplicate variables. TAC breaks every expression into instructions with at most one operator, for example $t1 = x * 2; that is easier to analyze than a tree. The optimizer rewrites TAC. The interpreters execute the AST or the TAC.</a:t>
            </a:r>
          </a:p>
          <a:p>
            <a:endParaRPr dirty="0"/>
          </a:p>
          <a:p>
            <a:r>
              <a:rPr dirty="0"/>
              <a:t>Relation to NOVA: every stage in the diagram exists in the source (</a:t>
            </a:r>
            <a:r>
              <a:rPr dirty="0" err="1"/>
              <a:t>src</a:t>
            </a:r>
            <a:r>
              <a:rPr dirty="0"/>
              <a:t>/lexer.cpp, parser.cpp, semantic.cpp, tac.cpp, optimizer.cpp, interp.cpp). There is no machine-code generator; programs run on the interpreters.</a:t>
            </a:r>
          </a:p>
          <a:p>
            <a:endParaRPr dirty="0"/>
          </a:p>
          <a:p>
            <a:r>
              <a:rPr dirty="0"/>
              <a:t>Likely question: 'Where is code generation?' We did not build one. The language is tiny (integers, let, assignment, print, + - * /), so the goal was front end, IR and optimization, not a native backend.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SmartPass is an experiment controller. It repeats a careful loop: pick a set of flags, let GCC build the program, check the answer is right, time it several times, and save everything.</a:t>
            </a:r>
          </a:p>
          <a:p>
            <a:endParaRPr/>
          </a:p>
          <a:p>
            <a:r>
              <a:t>How it works: the workload description (problem size, memory touched, operations per byte, whether the loop streams through memory, whether it has a reduction) is computed from the benchmark's definition, not from timings. The candidate pool is 22 whitelisted flag sets; only whitelisted flags can reach GCC and flags are passed as an argument array, never a shell string. The correctness check compares output statistics with an independent reference (tolerance 1e-9). A candidate that fails to build or is wrong is recorded and can never win. Timing uses 2 warm-up runs and 15 interleaved runs, then median and IQR. In adaptive mode a short pilot run feeds back into the scores used to choose the next candidate.</a:t>
            </a:r>
          </a:p>
          <a:p>
            <a:endParaRPr/>
          </a:p>
          <a:p>
            <a:r>
              <a:t>Relation to NOVA: every step on the slide is implemented (V0.7 bounded search, V0.8 adaptive).</a:t>
            </a:r>
          </a:p>
          <a:p>
            <a:endParaRPr/>
          </a:p>
          <a:p>
            <a:r>
              <a:t>Likely question: 'How do you know the output is correct?' We compare five statistics of the output array with a long-double reference and tested a deliberately wrong kernel; this is a statistical check, not a proof, and the project lists that as a limitation.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the idea is to be smarter about which flag sets to try first when you can only afford to try a few. Instead of picking randomly, SmartPass scores each candidate using what it knows about the workload, what earlier experiments showed, and how candidates it already tried performed.</a:t>
            </a:r>
          </a:p>
          <a:p>
            <a:endParaRPr/>
          </a:p>
          <a:p>
            <a:r>
              <a:t>How it works: the score is prior + history + feedback. The prior comes from workload descriptors (for example, a streaming loop suits vectorization and unrolling; a reduction does not vectorize under strict floating point). History is earlier tuning-size experiments. Feedback is the pilot result of candidates already tried in this run. It is a hand-written heuristic, not machine learning; the constants are in docs/adaptive.md. Random and adaptive use the same builder, correctness check and timing, so only the choice of candidates differs.</a:t>
            </a:r>
          </a:p>
          <a:p>
            <a:endParaRPr/>
          </a:p>
          <a:p>
            <a:r>
              <a:t>What is NOT claimed: autotuning is not new (OpenTuner and others), and we have not completed a literature comparison. The priors were written after the author had seen earlier timings of the same kernels, which is a threat to validity that the report states.</a:t>
            </a:r>
          </a:p>
          <a:p>
            <a:endParaRPr/>
          </a:p>
          <a:p>
            <a:r>
              <a:t>Likely question: 'What is new?' Honest answer: a small, readable policy plus an equal-budget, holdout-checked evaluation of it. Whether that is novel relative to published tuners is still to be established.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this is a real run of the compiler's optimizer on a tiny program that has some obviously wasteful code.</a:t>
            </a:r>
          </a:p>
          <a:p>
            <a:endParaRPr/>
          </a:p>
          <a:p>
            <a:r>
              <a:t>How it works: nova tac turns the source into TAC. The optimizer then applies four passes in a loop until nothing changes. Fold evaluates operations on constants (1 - 1 becomes 0, 3 + 4 becomes 7). Propagate replaces a variable known to hold a constant (a = 4 means a * 2 becomes 4 * 2). Simplify applies identities that are always true under our integer rules (b + 0 becomes b, b - b becomes 0, b * 1 becomes b). Dead-code elimination removes assignments whose value is never used. The second sweep finds new constants created by the first.</a:t>
            </a:r>
          </a:p>
          <a:p>
            <a:endParaRPr/>
          </a:p>
          <a:p>
            <a:r>
              <a:t>Relation to NOVA: this is the educational compiler's output, captured in docs/DEMO.md. It has nothing to do with GCC results. Optimized and original programs both print 8 and 28.</a:t>
            </a:r>
          </a:p>
          <a:p>
            <a:endParaRPr/>
          </a:p>
          <a:p>
            <a:r>
              <a:t>Likely question: 'How do you know the optimizer is safe?' It never deletes or folds a division by zero, so the runtime error still happens. It is tested on 4000 pseudo-random programs run before and after, comparing output, errors and error locations.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this shows what SmartPass actually produces for one small run on the stencil kernel, a smoothing loop that updates each cell from its neighbours.</a:t>
            </a:r>
          </a:p>
          <a:p>
            <a:endParaRPr/>
          </a:p>
          <a:p>
            <a:r>
              <a:t>How it works: the command asks for 3 searched candidates with the adaptive strategy. SmartPass built those 3 plus the two baselines (-O2 and -O3), checked every one against the reference (all passed), timed them, and ranked by median time. The winner here was -O3 with -funroll-loops and -march=native. The note says the interquartile ranges of the winner and the best baseline do not overlap, so the gap is bigger than the noise at this size.</a:t>
            </a:r>
          </a:p>
          <a:p>
            <a:endParaRPr/>
          </a:p>
          <a:p>
            <a:r>
              <a:t>Be careful: this is a demo run with only 5 repetitions per candidate and one tuning size. It shows the output format; the evaluated results are on the next slide and in the report. Also, -march=native produces code for the build machine, so it is not portable, and that is recorded in the flags.</a:t>
            </a:r>
          </a:p>
          <a:p>
            <a:endParaRPr/>
          </a:p>
          <a:p>
            <a:r>
              <a:t>Likely question: 'Does the 1.34 speedup prove SmartPass works?' No. It is one size, 5 repetitions, and it compares against -O3 only; the equal-budget comparison on slide 11 is the actual evidence.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to decide whether adaptive search is better than random, we ran both under the same budget and looked at the speedup they reached, including on input sizes they had never tuned on.</a:t>
            </a:r>
          </a:p>
          <a:p>
            <a:endParaRPr/>
          </a:p>
          <a:p>
            <a:r>
              <a:t>How it works: each configuration was timed with 2 warm-ups and 15 interleaved runs and the median is used. Every kernel has 2 tuning sizes and 2 holdout sizes. A 'replay' study re-plays each strategy against the saved measurements for budgets 1 to 22 with up to 30 seeds. Speedup is relative to the better of -O2 and -O3, so 1.00 means no gain. The chart shows mean speedup on holdout sizes.</a:t>
            </a:r>
          </a:p>
          <a:p>
            <a:endParaRPr/>
          </a:p>
          <a:p>
            <a:r>
              <a:t>What it shows: at small budgets adaptive is ahead of random (hypotheses H1 and H2 supported by the report's fixed rule); the gap shrinks as the budget grows, and at B = 22 every method has tried the whole space, so they tie. The contribution of each individual signal (H3 to H5) is inconclusive. In real end-to-end runs adaptive spent more tuning time because of its pilot runs.</a:t>
            </a:r>
          </a:p>
          <a:p>
            <a:endParaRPr/>
          </a:p>
          <a:p>
            <a:r>
              <a:t>Likely question: 'Is a 1.3 percent difference meaningful?' It is small. The report calls it consistent across seeds and workloads here, not large, and it only applies to these three kernels on this machine. The real-run differences (3 seeds each) are not treated as evidence either way.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this is the honest status. The project tracks ten phases from V0.1 to V1.0, and each one is marked complete only when its required commands were actually run and the logs saved.</a:t>
            </a:r>
          </a:p>
          <a:p>
            <a:endParaRPr/>
          </a:p>
          <a:p>
            <a:r>
              <a:t>How it works: state/ROADMAP_STATUS.md lists each phase with its evidence; state/evidence holds the logs; the final gate (docs/RELEASE.md) re-ran the full test suite: 49 of 49 tests pass, including the report tests. The release is scoped to the verified configuration: Windows 11, CMake, MinGW GCC 6.3.0.</a:t>
            </a:r>
          </a:p>
          <a:p>
            <a:endParaRPr/>
          </a:p>
          <a:p>
            <a:r>
              <a:t>What is not finished: the Linux/POSIX process runner is written but has never been compiled or run, and AddressSanitizer or UBSan could not be used on this old toolchain. As a substitute the whole test suite was run with checked standard-library containers, which found and fixed one real bug.</a:t>
            </a:r>
          </a:p>
          <a:p>
            <a:endParaRPr/>
          </a:p>
          <a:p>
            <a:r>
              <a:t>Likely question: 'Why is the status RELEASED and not just COMPLETE?' Because the release claim is limited to what was verified; other platforms and compilers are explicitly outside the claim.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everyday language: the results are real but narrow, and the report says so itself.</a:t>
            </a:r>
          </a:p>
          <a:p>
            <a:endParaRPr/>
          </a:p>
          <a:p>
            <a:r>
              <a:t>Limitations, one by one. One machine and an old 32-bit GCC 6.3.0: newer compilers may behave differently. Three small kernels (12 workloads): not representative of real programs. The searchable space has only 22 configurations, so a small budget already covers a lot of it and everything ties at B = 22. Timing noise: baselines had a median spread of 2.1 percent and at most 7.2 percent, so smaller differences are inconclusive. The correctness check uses output statistics, not every element. Adaptive search costs extra tuning time. The adaptive priors were written after seeing earlier timings of the same kernels. The replay study reuses saved samples.</a:t>
            </a:r>
          </a:p>
          <a:p>
            <a:endParaRPr/>
          </a:p>
          <a:p>
            <a:r>
              <a:t>Future scope is only a plan, not functionality: test on Linux and newer GCC, add sanitizers, more kernels and a bigger flag space, compare against an established tuner, and finish the literature check.</a:t>
            </a:r>
          </a:p>
          <a:p>
            <a:endParaRPr/>
          </a:p>
          <a:p>
            <a:r>
              <a:t>Likely question: 'What would you do first with more time?' Run the same study on a newer GCC and a second machine, because that tests whether the conclusions depend on this setup.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Conclusion in plain words: NOVA keeps two questions apart. The compiler shows how a compiler is built and how safe optimizations work. SmartPass shows how to compare compiler settings carefully: check correctness, repeat measurements, keep raw data, use equal budgets and hold out sizes.</a:t>
            </a:r>
          </a:p>
          <a:p>
            <a:endParaRPr/>
          </a:p>
          <a:p>
            <a:r>
              <a:t>What we can say: in this measured setting an evidence-guided search beat random search at small budgets by a small margin. What we cannot say: that NOVA is faster than GCC, that the result holds on other machines or programs, or that the idea is new. Souper and egg are related work only; NOVA does not use them.</a:t>
            </a:r>
          </a:p>
          <a:p>
            <a:endParaRPr/>
          </a:p>
          <a:p>
            <a:r>
              <a:t>References: [1] to [5] are used for claims on the slides; [6] and [7] are related work. The OpenTuner venue details were only partly re-verified (state/evidence/V0.9/10_references_check.md); check them again before final submission.</a:t>
            </a:r>
          </a:p>
          <a:p>
            <a:endParaRPr/>
          </a:p>
          <a:p>
            <a:r>
              <a:t>Likely question: 'What did you personally learn?' Be ready to explain one piece end to end, for example how the recursive-descent parser handles precedence, or why the oracle must be independent of the candidate.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8640" y="914400"/>
            <a:ext cx="10607040" cy="2103120"/>
          </a:xfrm>
        </p:spPr>
        <p:txBody>
          <a:bodyPr wrap="square" lIns="45720" anchor="t"/>
          <a:lstStyle/>
          <a:p>
            <a:pPr algn="l"/>
            <a:r>
              <a:rPr sz="3800" b="1">
                <a:solidFill>
                  <a:srgbClr val="1F3A5F"/>
                </a:solidFill>
                <a:latin typeface="Arial"/>
              </a:rPr>
              <a:t>NOVA: An Explainable, Workload-Aware Compiler Optimization Framework for Numerical Programs</a:t>
            </a:r>
          </a:p>
        </p:txBody>
      </p:sp>
      <p:sp>
        <p:nvSpPr>
          <p:cNvPr id="3" name="Subtitle 2"/>
          <p:cNvSpPr>
            <a:spLocks noGrp="1"/>
          </p:cNvSpPr>
          <p:nvPr>
            <p:ph type="subTitle" idx="1"/>
          </p:nvPr>
        </p:nvSpPr>
        <p:spPr>
          <a:xfrm>
            <a:off x="548640" y="3154680"/>
            <a:ext cx="10607040" cy="822960"/>
          </a:xfrm>
        </p:spPr>
        <p:txBody>
          <a:bodyPr wrap="square" lIns="45720" tIns="36576" rIns="45720" bIns="36576"/>
          <a:lstStyle/>
          <a:p>
            <a:pPr algn="l">
              <a:spcAft>
                <a:spcPts val="600"/>
              </a:spcAft>
            </a:pPr>
            <a:r>
              <a:rPr sz="1800" b="0" i="0">
                <a:solidFill>
                  <a:srgbClr val="1A1A1A"/>
                </a:solidFill>
                <a:latin typeface="Arial"/>
              </a:rPr>
              <a:t>Two parts: </a:t>
            </a:r>
            <a:r>
              <a:rPr sz="1800" b="1" i="0">
                <a:solidFill>
                  <a:srgbClr val="1A1A1A"/>
                </a:solidFill>
                <a:latin typeface="Arial"/>
              </a:rPr>
              <a:t>NOVA Compiler</a:t>
            </a:r>
            <a:r>
              <a:rPr sz="1800" b="0" i="0">
                <a:solidFill>
                  <a:srgbClr val="1A1A1A"/>
                </a:solidFill>
                <a:latin typeface="Arial"/>
              </a:rPr>
              <a:t> (educational compiler for NOVA Script) and </a:t>
            </a:r>
            <a:r>
              <a:rPr sz="1800" b="1" i="0">
                <a:solidFill>
                  <a:srgbClr val="1A1A1A"/>
                </a:solidFill>
                <a:latin typeface="Arial"/>
              </a:rPr>
              <a:t>NOVA SmartPass</a:t>
            </a:r>
            <a:r>
              <a:rPr sz="1800" b="0" i="0">
                <a:solidFill>
                  <a:srgbClr val="1A1A1A"/>
                </a:solidFill>
                <a:latin typeface="Arial"/>
              </a:rPr>
              <a:t> (research track: tuning GCC flags for numerical C++ kernels)</a:t>
            </a:r>
          </a:p>
        </p:txBody>
      </p:sp>
      <p:sp>
        <p:nvSpPr>
          <p:cNvPr id="4" name="Course details"/>
          <p:cNvSpPr txBox="1"/>
          <p:nvPr/>
        </p:nvSpPr>
        <p:spPr>
          <a:xfrm>
            <a:off x="548640" y="4343400"/>
            <a:ext cx="8686800" cy="320088"/>
          </a:xfrm>
          <a:prstGeom prst="rect">
            <a:avLst/>
          </a:prstGeom>
          <a:noFill/>
        </p:spPr>
        <p:txBody>
          <a:bodyPr wrap="square" lIns="45720" tIns="36576" rIns="45720" bIns="36576">
            <a:spAutoFit/>
          </a:bodyPr>
          <a:lstStyle/>
          <a:p>
            <a:pPr algn="l">
              <a:spcAft>
                <a:spcPts val="500"/>
              </a:spcAft>
            </a:pPr>
            <a:r>
              <a:rPr sz="1600" b="0" i="0" dirty="0">
                <a:solidFill>
                  <a:srgbClr val="5A6270"/>
                </a:solidFill>
                <a:latin typeface="Arial"/>
              </a:rPr>
              <a:t>Course: Compiler Design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Problem statement</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2 / 14</a:t>
            </a:r>
          </a:p>
        </p:txBody>
      </p:sp>
      <p:sp>
        <p:nvSpPr>
          <p:cNvPr id="5" name="Card 1"/>
          <p:cNvSpPr/>
          <p:nvPr/>
        </p:nvSpPr>
        <p:spPr>
          <a:xfrm>
            <a:off x="548640" y="1371600"/>
            <a:ext cx="3547872" cy="365760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TextBox 5"/>
          <p:cNvSpPr txBox="1"/>
          <p:nvPr/>
        </p:nvSpPr>
        <p:spPr>
          <a:xfrm>
            <a:off x="640080" y="1463040"/>
            <a:ext cx="3364991" cy="457200"/>
          </a:xfrm>
          <a:prstGeom prst="rect">
            <a:avLst/>
          </a:prstGeom>
          <a:noFill/>
        </p:spPr>
        <p:txBody>
          <a:bodyPr wrap="square" lIns="45720" tIns="36576" rIns="45720" bIns="36576">
            <a:spAutoFit/>
          </a:bodyPr>
          <a:lstStyle/>
          <a:p>
            <a:pPr algn="l">
              <a:spcAft>
                <a:spcPts val="600"/>
              </a:spcAft>
            </a:pPr>
            <a:r>
              <a:rPr sz="2000" b="1" i="0">
                <a:solidFill>
                  <a:srgbClr val="1F3A5F"/>
                </a:solidFill>
                <a:latin typeface="Arial"/>
              </a:rPr>
              <a:t>1. Which flags?</a:t>
            </a:r>
          </a:p>
        </p:txBody>
      </p:sp>
      <p:sp>
        <p:nvSpPr>
          <p:cNvPr id="7" name="TextBox 6"/>
          <p:cNvSpPr txBox="1"/>
          <p:nvPr/>
        </p:nvSpPr>
        <p:spPr>
          <a:xfrm>
            <a:off x="640080" y="2011680"/>
            <a:ext cx="3364991" cy="2926080"/>
          </a:xfrm>
          <a:prstGeom prst="rect">
            <a:avLst/>
          </a:prstGeom>
          <a:noFill/>
        </p:spPr>
        <p:txBody>
          <a:bodyPr wrap="square" lIns="45720" tIns="36576" rIns="45720" bIns="36576">
            <a:spAutoFit/>
          </a:bodyPr>
          <a:lstStyle/>
          <a:p>
            <a:pPr marL="201168" indent="-201168" algn="l">
              <a:spcAft>
                <a:spcPts val="900"/>
              </a:spcAft>
              <a:buChar char="•"/>
            </a:pPr>
            <a:r>
              <a:rPr sz="1600" b="0" i="0">
                <a:solidFill>
                  <a:srgbClr val="1A1A1A"/>
                </a:solidFill>
                <a:latin typeface="Courier New"/>
              </a:rPr>
              <a:t>-O2</a:t>
            </a:r>
            <a:r>
              <a:rPr sz="1600" b="0" i="0">
                <a:solidFill>
                  <a:srgbClr val="1A1A1A"/>
                </a:solidFill>
                <a:latin typeface="Arial"/>
              </a:rPr>
              <a:t> and </a:t>
            </a:r>
            <a:r>
              <a:rPr sz="1600" b="0" i="0">
                <a:solidFill>
                  <a:srgbClr val="1A1A1A"/>
                </a:solidFill>
                <a:latin typeface="Courier New"/>
              </a:rPr>
              <a:t>-O3</a:t>
            </a:r>
            <a:r>
              <a:rPr sz="1600" b="0" i="0">
                <a:solidFill>
                  <a:srgbClr val="1A1A1A"/>
                </a:solidFill>
                <a:latin typeface="Arial"/>
              </a:rPr>
              <a:t> are only two of many GCC optimization flags.</a:t>
            </a:r>
          </a:p>
          <a:p>
            <a:pPr marL="201168" indent="-201168" algn="l">
              <a:spcAft>
                <a:spcPts val="900"/>
              </a:spcAft>
              <a:buChar char="•"/>
            </a:pPr>
            <a:r>
              <a:rPr sz="1600" b="0" i="0">
                <a:solidFill>
                  <a:srgbClr val="1A1A1A"/>
                </a:solidFill>
                <a:latin typeface="Arial"/>
              </a:rPr>
              <a:t>Their effect depends on the program; for loop unrolling the manual says it “may or may not make it run faster” [1].</a:t>
            </a:r>
          </a:p>
          <a:p>
            <a:pPr marL="201168" indent="-201168" algn="l">
              <a:spcAft>
                <a:spcPts val="900"/>
              </a:spcAft>
              <a:buChar char="•"/>
            </a:pPr>
            <a:r>
              <a:rPr sz="1600" b="0" i="0">
                <a:solidFill>
                  <a:srgbClr val="1A1A1A"/>
                </a:solidFill>
                <a:latin typeface="Arial"/>
              </a:rPr>
              <a:t>Every candidate costs one compile and one run to test.</a:t>
            </a:r>
          </a:p>
        </p:txBody>
      </p:sp>
      <p:sp>
        <p:nvSpPr>
          <p:cNvPr id="8" name="Card 2"/>
          <p:cNvSpPr/>
          <p:nvPr/>
        </p:nvSpPr>
        <p:spPr>
          <a:xfrm>
            <a:off x="4320540" y="1371600"/>
            <a:ext cx="3547872" cy="365760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4411979" y="1463040"/>
            <a:ext cx="3364991" cy="457200"/>
          </a:xfrm>
          <a:prstGeom prst="rect">
            <a:avLst/>
          </a:prstGeom>
          <a:noFill/>
        </p:spPr>
        <p:txBody>
          <a:bodyPr wrap="square" lIns="45720" tIns="36576" rIns="45720" bIns="36576">
            <a:spAutoFit/>
          </a:bodyPr>
          <a:lstStyle/>
          <a:p>
            <a:pPr algn="l">
              <a:spcAft>
                <a:spcPts val="600"/>
              </a:spcAft>
            </a:pPr>
            <a:r>
              <a:rPr sz="2000" b="1" i="0">
                <a:solidFill>
                  <a:srgbClr val="1F3A5F"/>
                </a:solidFill>
                <a:latin typeface="Arial"/>
              </a:rPr>
              <a:t>2. Still correct?</a:t>
            </a:r>
          </a:p>
        </p:txBody>
      </p:sp>
      <p:sp>
        <p:nvSpPr>
          <p:cNvPr id="10" name="TextBox 9"/>
          <p:cNvSpPr txBox="1"/>
          <p:nvPr/>
        </p:nvSpPr>
        <p:spPr>
          <a:xfrm>
            <a:off x="4411979" y="2011680"/>
            <a:ext cx="3364991" cy="2926080"/>
          </a:xfrm>
          <a:prstGeom prst="rect">
            <a:avLst/>
          </a:prstGeom>
          <a:noFill/>
        </p:spPr>
        <p:txBody>
          <a:bodyPr wrap="square" lIns="45720" tIns="36576" rIns="45720" bIns="36576">
            <a:spAutoFit/>
          </a:bodyPr>
          <a:lstStyle/>
          <a:p>
            <a:pPr marL="201168" indent="-201168" algn="l">
              <a:spcAft>
                <a:spcPts val="900"/>
              </a:spcAft>
              <a:buChar char="•"/>
            </a:pPr>
            <a:r>
              <a:rPr sz="1600" b="0" i="0">
                <a:solidFill>
                  <a:srgbClr val="1A1A1A"/>
                </a:solidFill>
                <a:latin typeface="Arial"/>
              </a:rPr>
              <a:t>A faster binary is useless if its answer changes.</a:t>
            </a:r>
          </a:p>
          <a:p>
            <a:pPr marL="201168" indent="-201168" algn="l">
              <a:spcAft>
                <a:spcPts val="900"/>
              </a:spcAft>
              <a:buChar char="•"/>
            </a:pPr>
            <a:r>
              <a:rPr sz="1600" b="0" i="0">
                <a:solidFill>
                  <a:srgbClr val="1A1A1A"/>
                </a:solidFill>
                <a:latin typeface="Courier New"/>
              </a:rPr>
              <a:t>-Ofast</a:t>
            </a:r>
            <a:r>
              <a:rPr sz="1600" b="0" i="0">
                <a:solidFill>
                  <a:srgbClr val="1A1A1A"/>
                </a:solidFill>
                <a:latin typeface="Arial"/>
              </a:rPr>
              <a:t> enables transformations “not valid for all standard-compliant programs” [1].</a:t>
            </a:r>
          </a:p>
          <a:p>
            <a:pPr marL="201168" indent="-201168" algn="l">
              <a:spcAft>
                <a:spcPts val="900"/>
              </a:spcAft>
              <a:buChar char="•"/>
            </a:pPr>
            <a:r>
              <a:rPr sz="1600" b="0" i="0">
                <a:solidFill>
                  <a:srgbClr val="1A1A1A"/>
                </a:solidFill>
                <a:latin typeface="Arial"/>
              </a:rPr>
              <a:t>So each candidate must be checked against a reference.</a:t>
            </a:r>
          </a:p>
        </p:txBody>
      </p:sp>
      <p:sp>
        <p:nvSpPr>
          <p:cNvPr id="11" name="Card 3"/>
          <p:cNvSpPr/>
          <p:nvPr/>
        </p:nvSpPr>
        <p:spPr>
          <a:xfrm>
            <a:off x="8092440" y="1371600"/>
            <a:ext cx="3547872" cy="365760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8183879" y="1463040"/>
            <a:ext cx="3364991" cy="457200"/>
          </a:xfrm>
          <a:prstGeom prst="rect">
            <a:avLst/>
          </a:prstGeom>
          <a:noFill/>
        </p:spPr>
        <p:txBody>
          <a:bodyPr wrap="square" lIns="45720" tIns="36576" rIns="45720" bIns="36576">
            <a:spAutoFit/>
          </a:bodyPr>
          <a:lstStyle/>
          <a:p>
            <a:pPr algn="l">
              <a:spcAft>
                <a:spcPts val="600"/>
              </a:spcAft>
            </a:pPr>
            <a:r>
              <a:rPr sz="2000" b="1" i="0">
                <a:solidFill>
                  <a:srgbClr val="1F3A5F"/>
                </a:solidFill>
                <a:latin typeface="Arial"/>
              </a:rPr>
              <a:t>3. Speedup real?</a:t>
            </a:r>
          </a:p>
        </p:txBody>
      </p:sp>
      <p:sp>
        <p:nvSpPr>
          <p:cNvPr id="13" name="TextBox 12"/>
          <p:cNvSpPr txBox="1"/>
          <p:nvPr/>
        </p:nvSpPr>
        <p:spPr>
          <a:xfrm>
            <a:off x="8183879" y="2011680"/>
            <a:ext cx="3364991" cy="2926080"/>
          </a:xfrm>
          <a:prstGeom prst="rect">
            <a:avLst/>
          </a:prstGeom>
          <a:noFill/>
        </p:spPr>
        <p:txBody>
          <a:bodyPr wrap="square" lIns="45720" tIns="36576" rIns="45720" bIns="36576">
            <a:spAutoFit/>
          </a:bodyPr>
          <a:lstStyle/>
          <a:p>
            <a:pPr marL="201168" indent="-201168" algn="l">
              <a:spcAft>
                <a:spcPts val="900"/>
              </a:spcAft>
              <a:buChar char="•"/>
            </a:pPr>
            <a:r>
              <a:rPr sz="1600" b="0" i="0">
                <a:solidFill>
                  <a:srgbClr val="1A1A1A"/>
                </a:solidFill>
                <a:latin typeface="Arial"/>
              </a:rPr>
              <a:t>Run times vary: on our machine the baseline spread (IQR) reached about 7% pinned and about 25% unpinned.</a:t>
            </a:r>
          </a:p>
          <a:p>
            <a:pPr marL="201168" indent="-201168" algn="l">
              <a:spcAft>
                <a:spcPts val="900"/>
              </a:spcAft>
              <a:buChar char="•"/>
            </a:pPr>
            <a:r>
              <a:rPr sz="1600" b="0" i="0">
                <a:solidFill>
                  <a:srgbClr val="1A1A1A"/>
                </a:solidFill>
                <a:latin typeface="Arial"/>
              </a:rPr>
              <a:t>So we need repeated runs, medians and saved raw samples [3, 4].</a:t>
            </a:r>
          </a:p>
          <a:p>
            <a:pPr marL="201168" indent="-201168" algn="l">
              <a:spcAft>
                <a:spcPts val="900"/>
              </a:spcAft>
              <a:buChar char="•"/>
            </a:pPr>
            <a:r>
              <a:rPr sz="1600" b="0" i="0">
                <a:solidFill>
                  <a:srgbClr val="1A1A1A"/>
                </a:solidFill>
                <a:latin typeface="Arial"/>
              </a:rPr>
              <a:t>A choice tuned on one input size may not hold on others.</a:t>
            </a:r>
          </a:p>
        </p:txBody>
      </p:sp>
      <p:sp>
        <p:nvSpPr>
          <p:cNvPr id="14" name="TextBox 13"/>
          <p:cNvSpPr txBox="1"/>
          <p:nvPr/>
        </p:nvSpPr>
        <p:spPr>
          <a:xfrm>
            <a:off x="548640" y="5257800"/>
            <a:ext cx="11091672" cy="822960"/>
          </a:xfrm>
          <a:prstGeom prst="rect">
            <a:avLst/>
          </a:prstGeom>
          <a:noFill/>
        </p:spPr>
        <p:txBody>
          <a:bodyPr wrap="square" lIns="45720" tIns="36576" rIns="45720" bIns="36576">
            <a:spAutoFit/>
          </a:bodyPr>
          <a:lstStyle/>
          <a:p>
            <a:pPr algn="l">
              <a:spcAft>
                <a:spcPts val="600"/>
              </a:spcAft>
            </a:pPr>
            <a:r>
              <a:rPr sz="1500" b="1" i="0">
                <a:solidFill>
                  <a:srgbClr val="1A1A1A"/>
                </a:solidFill>
                <a:latin typeface="Arial"/>
              </a:rPr>
              <a:t>Scope of NOVA:</a:t>
            </a:r>
            <a:r>
              <a:rPr sz="1500" b="0" i="0">
                <a:solidFill>
                  <a:srgbClr val="1A1A1A"/>
                </a:solidFill>
                <a:latin typeface="Arial"/>
              </a:rPr>
              <a:t> three small numerical C++ kernels (matmul, vector_add, stencil) and GCC flags only. It does not claim that every developer has this problem; no survey was done.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Project objectives</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3 / 14</a:t>
            </a:r>
          </a:p>
        </p:txBody>
      </p:sp>
      <p:sp>
        <p:nvSpPr>
          <p:cNvPr id="5" name="TextBox 4"/>
          <p:cNvSpPr txBox="1"/>
          <p:nvPr/>
        </p:nvSpPr>
        <p:spPr>
          <a:xfrm>
            <a:off x="548640" y="1325880"/>
            <a:ext cx="5440680" cy="457200"/>
          </a:xfrm>
          <a:prstGeom prst="rect">
            <a:avLst/>
          </a:prstGeom>
          <a:noFill/>
        </p:spPr>
        <p:txBody>
          <a:bodyPr wrap="square" lIns="45720" tIns="36576" rIns="45720" bIns="36576">
            <a:spAutoFit/>
          </a:bodyPr>
          <a:lstStyle/>
          <a:p>
            <a:pPr algn="l">
              <a:spcAft>
                <a:spcPts val="600"/>
              </a:spcAft>
            </a:pPr>
            <a:r>
              <a:rPr sz="2000" b="1" i="0">
                <a:solidFill>
                  <a:srgbClr val="1F3A5F"/>
                </a:solidFill>
                <a:latin typeface="Arial"/>
              </a:rPr>
              <a:t>A.  NOVA Compiler (educational)</a:t>
            </a:r>
          </a:p>
        </p:txBody>
      </p:sp>
      <p:sp>
        <p:nvSpPr>
          <p:cNvPr id="6" name="TextBox 5"/>
          <p:cNvSpPr txBox="1"/>
          <p:nvPr/>
        </p:nvSpPr>
        <p:spPr>
          <a:xfrm>
            <a:off x="6199632" y="1325880"/>
            <a:ext cx="5440680" cy="457200"/>
          </a:xfrm>
          <a:prstGeom prst="rect">
            <a:avLst/>
          </a:prstGeom>
          <a:noFill/>
        </p:spPr>
        <p:txBody>
          <a:bodyPr wrap="square" lIns="45720" tIns="36576" rIns="45720" bIns="36576">
            <a:spAutoFit/>
          </a:bodyPr>
          <a:lstStyle/>
          <a:p>
            <a:pPr algn="l">
              <a:spcAft>
                <a:spcPts val="600"/>
              </a:spcAft>
            </a:pPr>
            <a:r>
              <a:rPr sz="2000" b="1" i="0">
                <a:solidFill>
                  <a:srgbClr val="1F3A5F"/>
                </a:solidFill>
                <a:latin typeface="Arial"/>
              </a:rPr>
              <a:t>B.  NOVA SmartPass (research)</a:t>
            </a:r>
          </a:p>
        </p:txBody>
      </p:sp>
      <p:sp>
        <p:nvSpPr>
          <p:cNvPr id="7" name="Compiler objectives"/>
          <p:cNvSpPr/>
          <p:nvPr/>
        </p:nvSpPr>
        <p:spPr>
          <a:xfrm>
            <a:off x="548640" y="1874519"/>
            <a:ext cx="5440680" cy="35204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t"/>
          <a:lstStyle/>
          <a:p>
            <a:pPr algn="l">
              <a:spcAft>
                <a:spcPts val="1400"/>
              </a:spcAft>
            </a:pPr>
            <a:r>
              <a:rPr sz="1700" b="1" i="0">
                <a:solidFill>
                  <a:srgbClr val="1A1A1A"/>
                </a:solidFill>
                <a:latin typeface="Arial"/>
              </a:rPr>
              <a:t>A1.</a:t>
            </a:r>
            <a:r>
              <a:rPr sz="1700" b="0" i="0">
                <a:solidFill>
                  <a:srgbClr val="1A1A1A"/>
                </a:solidFill>
                <a:latin typeface="Arial"/>
              </a:rPr>
              <a:t> Build the front end for a small integer language, NOVA Script: lexer, recursive-descent parser, AST, symbol table and semantic checks.</a:t>
            </a:r>
          </a:p>
          <a:p>
            <a:pPr algn="l">
              <a:spcAft>
                <a:spcPts val="1400"/>
              </a:spcAft>
            </a:pPr>
            <a:r>
              <a:rPr sz="1700" b="1" i="0">
                <a:solidFill>
                  <a:srgbClr val="1A1A1A"/>
                </a:solidFill>
                <a:latin typeface="Arial"/>
              </a:rPr>
              <a:t>A2.</a:t>
            </a:r>
            <a:r>
              <a:rPr sz="1700" b="0" i="0">
                <a:solidFill>
                  <a:srgbClr val="1A1A1A"/>
                </a:solidFill>
                <a:latin typeface="Arial"/>
              </a:rPr>
              <a:t> Lower programs to three-address code (TAC) and run them on reference interpreters.</a:t>
            </a:r>
          </a:p>
          <a:p>
            <a:pPr algn="l">
              <a:spcAft>
                <a:spcPts val="1400"/>
              </a:spcAft>
            </a:pPr>
            <a:r>
              <a:rPr sz="1700" b="1" i="0">
                <a:solidFill>
                  <a:srgbClr val="1A1A1A"/>
                </a:solidFill>
                <a:latin typeface="Arial"/>
              </a:rPr>
              <a:t>A3.</a:t>
            </a:r>
            <a:r>
              <a:rPr sz="1700" b="0" i="0">
                <a:solidFill>
                  <a:srgbClr val="1A1A1A"/>
                </a:solidFill>
                <a:latin typeface="Arial"/>
              </a:rPr>
              <a:t> Implement four TAC optimizations (constant folding, constant propagation, algebraic simplification, dead-code elimination) that must not change observable behaviour; check them with differential tests.</a:t>
            </a:r>
          </a:p>
        </p:txBody>
      </p:sp>
      <p:sp>
        <p:nvSpPr>
          <p:cNvPr id="8" name="SmartPass objectives"/>
          <p:cNvSpPr/>
          <p:nvPr/>
        </p:nvSpPr>
        <p:spPr>
          <a:xfrm>
            <a:off x="6199632" y="1874519"/>
            <a:ext cx="5440680" cy="35204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t"/>
          <a:lstStyle/>
          <a:p>
            <a:pPr algn="l">
              <a:spcAft>
                <a:spcPts val="1400"/>
              </a:spcAft>
            </a:pPr>
            <a:r>
              <a:rPr sz="1700" b="1" i="0">
                <a:solidFill>
                  <a:srgbClr val="1A1A1A"/>
                </a:solidFill>
                <a:latin typeface="Arial"/>
              </a:rPr>
              <a:t>B1.</a:t>
            </a:r>
            <a:r>
              <a:rPr sz="1700" b="0" i="0">
                <a:solidFill>
                  <a:srgbClr val="1A1A1A"/>
                </a:solidFill>
                <a:latin typeface="Arial"/>
              </a:rPr>
              <a:t> Search a bounded, whitelisted set of GCC flag configurations for numerical C++ kernels, with a correctness check on every candidate.</a:t>
            </a:r>
          </a:p>
          <a:p>
            <a:pPr algn="l">
              <a:spcAft>
                <a:spcPts val="1400"/>
              </a:spcAft>
            </a:pPr>
            <a:r>
              <a:rPr sz="1700" b="1" i="0">
                <a:solidFill>
                  <a:srgbClr val="1A1A1A"/>
                </a:solidFill>
                <a:latin typeface="Arial"/>
              </a:rPr>
              <a:t>B2.</a:t>
            </a:r>
            <a:r>
              <a:rPr sz="1700" b="0" i="0">
                <a:solidFill>
                  <a:srgbClr val="1A1A1A"/>
                </a:solidFill>
                <a:latin typeface="Arial"/>
              </a:rPr>
              <a:t> Compare fixed, random and adaptive search at equal candidate budgets, including input sizes never used for tuning (holdout).</a:t>
            </a:r>
          </a:p>
          <a:p>
            <a:pPr algn="l">
              <a:spcAft>
                <a:spcPts val="1400"/>
              </a:spcAft>
            </a:pPr>
            <a:r>
              <a:rPr sz="1700" b="1" i="0">
                <a:solidFill>
                  <a:srgbClr val="1A1A1A"/>
                </a:solidFill>
                <a:latin typeface="Arial"/>
              </a:rPr>
              <a:t>B3.</a:t>
            </a:r>
            <a:r>
              <a:rPr sz="1700" b="0" i="0">
                <a:solidFill>
                  <a:srgbClr val="1A1A1A"/>
                </a:solidFill>
                <a:latin typeface="Arial"/>
              </a:rPr>
              <a:t> Save flags, raw timings and failures so every choice can be explained and re-checked (</a:t>
            </a:r>
            <a:r>
              <a:rPr sz="1700" b="0" i="0">
                <a:solidFill>
                  <a:srgbClr val="1A1A1A"/>
                </a:solidFill>
                <a:latin typeface="Courier New"/>
              </a:rPr>
              <a:t>nova explain</a:t>
            </a:r>
            <a:r>
              <a:rPr sz="1700" b="0" i="0">
                <a:solidFill>
                  <a:srgbClr val="1A1A1A"/>
                </a:solidFill>
                <a:latin typeface="Arial"/>
              </a:rPr>
              <a:t>).</a:t>
            </a:r>
          </a:p>
        </p:txBody>
      </p:sp>
      <p:sp>
        <p:nvSpPr>
          <p:cNvPr id="9" name="TextBox 8"/>
          <p:cNvSpPr txBox="1"/>
          <p:nvPr/>
        </p:nvSpPr>
        <p:spPr>
          <a:xfrm>
            <a:off x="548640" y="5669280"/>
            <a:ext cx="11091672" cy="457200"/>
          </a:xfrm>
          <a:prstGeom prst="rect">
            <a:avLst/>
          </a:prstGeom>
          <a:noFill/>
        </p:spPr>
        <p:txBody>
          <a:bodyPr wrap="square" lIns="45720" tIns="36576" rIns="45720" bIns="36576">
            <a:spAutoFit/>
          </a:bodyPr>
          <a:lstStyle/>
          <a:p>
            <a:pPr algn="l">
              <a:spcAft>
                <a:spcPts val="600"/>
              </a:spcAft>
            </a:pPr>
            <a:r>
              <a:rPr sz="1500" b="0" i="0">
                <a:solidFill>
                  <a:srgbClr val="5A6270"/>
                </a:solidFill>
                <a:latin typeface="Arial"/>
              </a:rPr>
              <a:t>These are objectives, not results. Slide 12 shows what is actually finished.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Existing approach and its limits</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4 / 14</a:t>
            </a:r>
          </a:p>
        </p:txBody>
      </p:sp>
      <p:sp>
        <p:nvSpPr>
          <p:cNvPr id="5" name="TextBox 4"/>
          <p:cNvSpPr txBox="1"/>
          <p:nvPr/>
        </p:nvSpPr>
        <p:spPr>
          <a:xfrm>
            <a:off x="548640" y="1280160"/>
            <a:ext cx="5394960" cy="365760"/>
          </a:xfrm>
          <a:prstGeom prst="rect">
            <a:avLst/>
          </a:prstGeom>
          <a:noFill/>
        </p:spPr>
        <p:txBody>
          <a:bodyPr wrap="square" lIns="45720" tIns="36576" rIns="45720" bIns="36576">
            <a:spAutoFit/>
          </a:bodyPr>
          <a:lstStyle/>
          <a:p>
            <a:pPr algn="l">
              <a:spcAft>
                <a:spcPts val="600"/>
              </a:spcAft>
            </a:pPr>
            <a:r>
              <a:rPr sz="1800" b="1" i="0">
                <a:solidFill>
                  <a:srgbClr val="1F3A5F"/>
                </a:solidFill>
                <a:latin typeface="Arial"/>
              </a:rPr>
              <a:t>Established (from sources)</a:t>
            </a:r>
          </a:p>
        </p:txBody>
      </p:sp>
      <p:sp>
        <p:nvSpPr>
          <p:cNvPr id="6" name="TextBox 5"/>
          <p:cNvSpPr txBox="1"/>
          <p:nvPr/>
        </p:nvSpPr>
        <p:spPr>
          <a:xfrm>
            <a:off x="548640" y="1645920"/>
            <a:ext cx="5394960" cy="2286000"/>
          </a:xfrm>
          <a:prstGeom prst="rect">
            <a:avLst/>
          </a:prstGeom>
          <a:noFill/>
        </p:spPr>
        <p:txBody>
          <a:bodyPr wrap="square" lIns="45720" tIns="36576" rIns="45720" bIns="36576">
            <a:spAutoFit/>
          </a:bodyPr>
          <a:lstStyle/>
          <a:p>
            <a:pPr marL="201168" indent="-201168" algn="l">
              <a:spcAft>
                <a:spcPts val="600"/>
              </a:spcAft>
              <a:buChar char="•"/>
            </a:pPr>
            <a:r>
              <a:rPr sz="1400" b="0" i="0">
                <a:solidFill>
                  <a:srgbClr val="1A1A1A"/>
                </a:solidFill>
                <a:latin typeface="Courier New"/>
              </a:rPr>
              <a:t>-O2</a:t>
            </a:r>
            <a:r>
              <a:rPr sz="1400" b="0" i="0">
                <a:solidFill>
                  <a:srgbClr val="1A1A1A"/>
                </a:solidFill>
                <a:latin typeface="Arial"/>
              </a:rPr>
              <a:t> and </a:t>
            </a:r>
            <a:r>
              <a:rPr sz="1400" b="0" i="0">
                <a:solidFill>
                  <a:srgbClr val="1A1A1A"/>
                </a:solidFill>
                <a:latin typeface="Courier New"/>
              </a:rPr>
              <a:t>-O3</a:t>
            </a:r>
            <a:r>
              <a:rPr sz="1400" b="0" i="0">
                <a:solidFill>
                  <a:srgbClr val="1A1A1A"/>
                </a:solidFill>
                <a:latin typeface="Arial"/>
              </a:rPr>
              <a:t> are GCC's standard levels; </a:t>
            </a:r>
            <a:r>
              <a:rPr sz="1400" b="0" i="0">
                <a:solidFill>
                  <a:srgbClr val="1A1A1A"/>
                </a:solidFill>
                <a:latin typeface="Courier New"/>
              </a:rPr>
              <a:t>-O3</a:t>
            </a:r>
            <a:r>
              <a:rPr sz="1400" b="0" i="0">
                <a:solidFill>
                  <a:srgbClr val="1A1A1A"/>
                </a:solidFill>
                <a:latin typeface="Arial"/>
              </a:rPr>
              <a:t> enables more loop and interprocedural transformations [1].</a:t>
            </a:r>
          </a:p>
          <a:p>
            <a:pPr marL="201168" indent="-201168" algn="l">
              <a:spcAft>
                <a:spcPts val="600"/>
              </a:spcAft>
              <a:buChar char="•"/>
            </a:pPr>
            <a:r>
              <a:rPr sz="1400" b="0" i="0">
                <a:solidFill>
                  <a:srgbClr val="1A1A1A"/>
                </a:solidFill>
                <a:latin typeface="Arial"/>
              </a:rPr>
              <a:t>Extra flags (unrolling, vectorizing, prefetching) can be added; the set enabled by each level depends on GCC version and target [1].</a:t>
            </a:r>
          </a:p>
          <a:p>
            <a:pPr marL="201168" indent="-201168" algn="l">
              <a:spcAft>
                <a:spcPts val="600"/>
              </a:spcAft>
              <a:buChar char="•"/>
            </a:pPr>
            <a:r>
              <a:rPr sz="1400" b="0" i="0">
                <a:solidFill>
                  <a:srgbClr val="1A1A1A"/>
                </a:solidFill>
                <a:latin typeface="Arial"/>
              </a:rPr>
              <a:t>Automatic search over configurations (“autotuning”) already exists, e.g. OpenTuner [2].</a:t>
            </a:r>
          </a:p>
        </p:txBody>
      </p:sp>
      <p:sp>
        <p:nvSpPr>
          <p:cNvPr id="7" name="TextBox 6"/>
          <p:cNvSpPr txBox="1"/>
          <p:nvPr/>
        </p:nvSpPr>
        <p:spPr>
          <a:xfrm>
            <a:off x="6245352" y="1280160"/>
            <a:ext cx="5394960" cy="365760"/>
          </a:xfrm>
          <a:prstGeom prst="rect">
            <a:avLst/>
          </a:prstGeom>
          <a:noFill/>
        </p:spPr>
        <p:txBody>
          <a:bodyPr wrap="square" lIns="45720" tIns="36576" rIns="45720" bIns="36576">
            <a:spAutoFit/>
          </a:bodyPr>
          <a:lstStyle/>
          <a:p>
            <a:pPr algn="l">
              <a:spcAft>
                <a:spcPts val="600"/>
              </a:spcAft>
            </a:pPr>
            <a:r>
              <a:rPr sz="1800" b="1" i="0">
                <a:solidFill>
                  <a:srgbClr val="1F3A5F"/>
                </a:solidFill>
                <a:latin typeface="Arial"/>
              </a:rPr>
              <a:t>Our motivation (the project's own framing)</a:t>
            </a:r>
          </a:p>
        </p:txBody>
      </p:sp>
      <p:sp>
        <p:nvSpPr>
          <p:cNvPr id="8" name="TextBox 7"/>
          <p:cNvSpPr txBox="1"/>
          <p:nvPr/>
        </p:nvSpPr>
        <p:spPr>
          <a:xfrm>
            <a:off x="6245352" y="1645920"/>
            <a:ext cx="5394960" cy="2286000"/>
          </a:xfrm>
          <a:prstGeom prst="rect">
            <a:avLst/>
          </a:prstGeom>
          <a:noFill/>
        </p:spPr>
        <p:txBody>
          <a:bodyPr wrap="square" lIns="45720" tIns="36576" rIns="45720" bIns="36576">
            <a:spAutoFit/>
          </a:bodyPr>
          <a:lstStyle/>
          <a:p>
            <a:pPr marL="201168" indent="-201168" algn="l">
              <a:spcAft>
                <a:spcPts val="600"/>
              </a:spcAft>
              <a:buChar char="•"/>
            </a:pPr>
            <a:r>
              <a:rPr sz="1400" b="0" i="0">
                <a:solidFill>
                  <a:srgbClr val="1A1A1A"/>
                </a:solidFill>
                <a:latin typeface="Arial"/>
              </a:rPr>
              <a:t>Choosing extra flags by hand is trial and error.</a:t>
            </a:r>
          </a:p>
          <a:p>
            <a:pPr marL="201168" indent="-201168" algn="l">
              <a:spcAft>
                <a:spcPts val="600"/>
              </a:spcAft>
              <a:buChar char="•"/>
            </a:pPr>
            <a:r>
              <a:rPr sz="1400" b="0" i="0">
                <a:solidFill>
                  <a:srgbClr val="1A1A1A"/>
                </a:solidFill>
                <a:latin typeface="Arial"/>
              </a:rPr>
              <a:t>Each candidate costs a build, a correctness check and timing runs, so only a limited number can be tried (a </a:t>
            </a:r>
            <a:r>
              <a:rPr sz="1400" b="1" i="0">
                <a:solidFill>
                  <a:srgbClr val="1A1A1A"/>
                </a:solidFill>
                <a:latin typeface="Arial"/>
              </a:rPr>
              <a:t>budget</a:t>
            </a:r>
            <a:r>
              <a:rPr sz="1400" b="0" i="0">
                <a:solidFill>
                  <a:srgbClr val="1A1A1A"/>
                </a:solidFill>
                <a:latin typeface="Arial"/>
              </a:rPr>
              <a:t>).</a:t>
            </a:r>
          </a:p>
          <a:p>
            <a:pPr marL="201168" indent="-201168" algn="l">
              <a:spcAft>
                <a:spcPts val="600"/>
              </a:spcAft>
              <a:buChar char="•"/>
            </a:pPr>
            <a:r>
              <a:rPr sz="1400" b="0" i="0">
                <a:solidFill>
                  <a:srgbClr val="1A1A1A"/>
                </a:solidFill>
                <a:latin typeface="Arial"/>
              </a:rPr>
              <a:t>Noisy timings make small differences hard to trust.</a:t>
            </a:r>
          </a:p>
          <a:p>
            <a:pPr marL="201168" indent="-201168" algn="l">
              <a:spcAft>
                <a:spcPts val="600"/>
              </a:spcAft>
              <a:buChar char="•"/>
            </a:pPr>
            <a:r>
              <a:rPr sz="1400" b="0" i="0">
                <a:solidFill>
                  <a:srgbClr val="1A1A1A"/>
                </a:solidFill>
                <a:latin typeface="Arial"/>
              </a:rPr>
              <a:t>Question tested: under the same budget, does a search that uses workload information beat random choice?</a:t>
            </a:r>
          </a:p>
        </p:txBody>
      </p:sp>
      <p:graphicFrame>
        <p:nvGraphicFramePr>
          <p:cNvPr id="9" name="Measured examples"/>
          <p:cNvGraphicFramePr>
            <a:graphicFrameLocks noGrp="1"/>
          </p:cNvGraphicFramePr>
          <p:nvPr/>
        </p:nvGraphicFramePr>
        <p:xfrm>
          <a:off x="548640" y="4114800"/>
          <a:ext cx="11091672" cy="1463040"/>
        </p:xfrm>
        <a:graphic>
          <a:graphicData uri="http://schemas.openxmlformats.org/drawingml/2006/table">
            <a:tbl>
              <a:tblPr firstRow="1">
                <a:tableStyleId>{5C22544A-7EE6-4342-B048-85BDC9FD1C3A}</a:tableStyleId>
              </a:tblPr>
              <a:tblGrid>
                <a:gridCol w="26517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gridCol w="2496312">
                  <a:extLst>
                    <a:ext uri="{9D8B030D-6E8A-4147-A177-3AD203B41FA5}">
                      <a16:colId xmlns:a16="http://schemas.microsoft.com/office/drawing/2014/main" val="20004"/>
                    </a:ext>
                  </a:extLst>
                </a:gridCol>
              </a:tblGrid>
              <a:tr h="365760">
                <a:tc>
                  <a:txBody>
                    <a:bodyPr/>
                    <a:lstStyle/>
                    <a:p>
                      <a:r>
                        <a:rPr sz="1300" b="1">
                          <a:solidFill>
                            <a:srgbClr val="FFFFFF"/>
                          </a:solidFill>
                          <a:latin typeface="Arial"/>
                        </a:rPr>
                        <a:t>Workload (measured)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300" b="1">
                          <a:solidFill>
                            <a:srgbClr val="FFFFFF"/>
                          </a:solidFill>
                          <a:latin typeface="Arial"/>
                        </a:rPr>
                        <a:t>-O2 (ms)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300" b="1">
                          <a:solidFill>
                            <a:srgbClr val="FFFFFF"/>
                          </a:solidFill>
                          <a:latin typeface="Arial"/>
                        </a:rPr>
                        <a:t>-O3 (ms)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300" b="1">
                          <a:solidFill>
                            <a:srgbClr val="FFFFFF"/>
                          </a:solidFill>
                          <a:latin typeface="Arial"/>
                        </a:rPr>
                        <a:t>Best searched configuration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300" b="1">
                          <a:solidFill>
                            <a:srgbClr val="FFFFFF"/>
                          </a:solidFill>
                          <a:latin typeface="Arial"/>
                        </a:rPr>
                        <a:t>Best vs better baseline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extLst>
                  <a:ext uri="{0D108BD9-81ED-4DB2-BD59-A6C34878D82A}">
                    <a16:rowId xmlns:a16="http://schemas.microsoft.com/office/drawing/2014/main" val="10000"/>
                  </a:ext>
                </a:extLst>
              </a:tr>
              <a:tr h="365760">
                <a:tc>
                  <a:txBody>
                    <a:bodyPr/>
                    <a:lstStyle/>
                    <a:p>
                      <a:r>
                        <a:rPr sz="1300" b="0">
                          <a:solidFill>
                            <a:srgbClr val="1A1A1A"/>
                          </a:solidFill>
                          <a:latin typeface="Arial"/>
                        </a:rPr>
                        <a:t>matmul, n = 256</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14.065</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14.037</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Courier New"/>
                        </a:rPr>
                        <a:t>O3+prefetch</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1.09x</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1"/>
                  </a:ext>
                </a:extLst>
              </a:tr>
              <a:tr h="365760">
                <a:tc>
                  <a:txBody>
                    <a:bodyPr/>
                    <a:lstStyle/>
                    <a:p>
                      <a:r>
                        <a:rPr sz="1300" b="0">
                          <a:solidFill>
                            <a:srgbClr val="1A1A1A"/>
                          </a:solidFill>
                          <a:latin typeface="Arial"/>
                        </a:rPr>
                        <a:t>stencil, n = 200,000</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16.312</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11.699</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Courier New"/>
                        </a:rPr>
                        <a:t>O3+unroll+native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1.32x</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2"/>
                  </a:ext>
                </a:extLst>
              </a:tr>
              <a:tr h="365760">
                <a:tc>
                  <a:txBody>
                    <a:bodyPr/>
                    <a:lstStyle/>
                    <a:p>
                      <a:r>
                        <a:rPr sz="1300" b="0">
                          <a:solidFill>
                            <a:srgbClr val="1A1A1A"/>
                          </a:solidFill>
                          <a:latin typeface="Arial"/>
                        </a:rPr>
                        <a:t>vector_add, n = 1,000,000</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16.435</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15.383</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Courier New"/>
                        </a:rPr>
                        <a:t>O2+prefetch+vec+unroll</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1.07x</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548640" y="5669280"/>
            <a:ext cx="11091672" cy="640080"/>
          </a:xfrm>
          <a:prstGeom prst="rect">
            <a:avLst/>
          </a:prstGeom>
          <a:noFill/>
        </p:spPr>
        <p:txBody>
          <a:bodyPr wrap="square" lIns="45720" tIns="36576" rIns="45720" bIns="36576">
            <a:spAutoFit/>
          </a:bodyPr>
          <a:lstStyle/>
          <a:p>
            <a:pPr algn="l">
              <a:spcAft>
                <a:spcPts val="600"/>
              </a:spcAft>
            </a:pPr>
            <a:r>
              <a:rPr sz="1200" b="0" i="0">
                <a:solidFill>
                  <a:srgbClr val="5A6270"/>
                </a:solidFill>
                <a:latin typeface="Arial"/>
              </a:rPr>
              <a:t>Exhaustive search over 22 flag configurations, median of 15 runs (report §8.1). One machine, GCC 6.3.0, three kernels: this shows there is something to find here, not a general claim about GCC.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Proposed solution: two parts of NOVA</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5 / 14</a:t>
            </a:r>
          </a:p>
        </p:txBody>
      </p:sp>
      <p:sp>
        <p:nvSpPr>
          <p:cNvPr id="5" name="nova CLI"/>
          <p:cNvSpPr/>
          <p:nvPr/>
        </p:nvSpPr>
        <p:spPr>
          <a:xfrm>
            <a:off x="2011680" y="1280160"/>
            <a:ext cx="8165592" cy="548640"/>
          </a:xfrm>
          <a:prstGeom prst="rect">
            <a:avLst/>
          </a:prstGeom>
          <a:solidFill>
            <a:srgbClr val="1F3A5F"/>
          </a:solidFill>
          <a:ln>
            <a:no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ctr"/>
          <a:lstStyle/>
          <a:p>
            <a:pPr algn="ctr">
              <a:spcAft>
                <a:spcPts val="600"/>
              </a:spcAft>
            </a:pPr>
            <a:r>
              <a:rPr sz="1600" b="1" i="0">
                <a:solidFill>
                  <a:srgbClr val="FFFFFF"/>
                </a:solidFill>
                <a:latin typeface="Arial"/>
              </a:rPr>
              <a:t>nova  (one command-line tool, C++17)</a:t>
            </a:r>
          </a:p>
        </p:txBody>
      </p:sp>
      <p:cxnSp>
        <p:nvCxnSpPr>
          <p:cNvPr id="6" name="Connector 5"/>
          <p:cNvCxnSpPr/>
          <p:nvPr/>
        </p:nvCxnSpPr>
        <p:spPr>
          <a:xfrm>
            <a:off x="3246120" y="1828800"/>
            <a:ext cx="0" cy="41148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942832" y="1828800"/>
            <a:ext cx="0" cy="41148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8" name="NOVA Compiler"/>
          <p:cNvSpPr/>
          <p:nvPr/>
        </p:nvSpPr>
        <p:spPr>
          <a:xfrm>
            <a:off x="548640" y="2286000"/>
            <a:ext cx="5394960" cy="3246120"/>
          </a:xfrm>
          <a:prstGeom prst="rect">
            <a:avLst/>
          </a:prstGeom>
          <a:solidFill>
            <a:srgbClr val="FFFFFF"/>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685800" y="2359152"/>
            <a:ext cx="5120640" cy="411480"/>
          </a:xfrm>
          <a:prstGeom prst="rect">
            <a:avLst/>
          </a:prstGeom>
          <a:noFill/>
        </p:spPr>
        <p:txBody>
          <a:bodyPr wrap="square" lIns="45720" tIns="36576" rIns="45720" bIns="36576">
            <a:spAutoFit/>
          </a:bodyPr>
          <a:lstStyle/>
          <a:p>
            <a:pPr algn="l">
              <a:spcAft>
                <a:spcPts val="600"/>
              </a:spcAft>
            </a:pPr>
            <a:r>
              <a:rPr sz="2000" b="1" i="0">
                <a:solidFill>
                  <a:srgbClr val="1F3A5F"/>
                </a:solidFill>
                <a:latin typeface="Arial"/>
              </a:rPr>
              <a:t>NOVA Compiler  </a:t>
            </a:r>
          </a:p>
        </p:txBody>
      </p:sp>
      <p:sp>
        <p:nvSpPr>
          <p:cNvPr id="10" name="TextBox 9"/>
          <p:cNvSpPr txBox="1"/>
          <p:nvPr/>
        </p:nvSpPr>
        <p:spPr>
          <a:xfrm>
            <a:off x="685800" y="2761488"/>
            <a:ext cx="5120640" cy="320040"/>
          </a:xfrm>
          <a:prstGeom prst="rect">
            <a:avLst/>
          </a:prstGeom>
          <a:noFill/>
        </p:spPr>
        <p:txBody>
          <a:bodyPr wrap="square" lIns="45720" tIns="36576" rIns="45720" bIns="36576">
            <a:spAutoFit/>
          </a:bodyPr>
          <a:lstStyle/>
          <a:p>
            <a:pPr algn="l">
              <a:spcAft>
                <a:spcPts val="600"/>
              </a:spcAft>
            </a:pPr>
            <a:r>
              <a:rPr sz="1400" b="0" i="1">
                <a:solidFill>
                  <a:srgbClr val="5A6270"/>
                </a:solidFill>
                <a:latin typeface="Arial"/>
              </a:rPr>
              <a:t>educational track</a:t>
            </a:r>
          </a:p>
        </p:txBody>
      </p:sp>
      <p:sp>
        <p:nvSpPr>
          <p:cNvPr id="11" name="NOVA Compiler step 1"/>
          <p:cNvSpPr/>
          <p:nvPr/>
        </p:nvSpPr>
        <p:spPr>
          <a:xfrm>
            <a:off x="731520"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NOVA Script (.nova)</a:t>
            </a:r>
          </a:p>
        </p:txBody>
      </p:sp>
      <p:cxnSp>
        <p:nvCxnSpPr>
          <p:cNvPr id="12" name="Connector 11"/>
          <p:cNvCxnSpPr/>
          <p:nvPr/>
        </p:nvCxnSpPr>
        <p:spPr>
          <a:xfrm>
            <a:off x="1828800" y="3589020"/>
            <a:ext cx="19202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NOVA Compiler step 2"/>
          <p:cNvSpPr/>
          <p:nvPr/>
        </p:nvSpPr>
        <p:spPr>
          <a:xfrm>
            <a:off x="2020824"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TAC</a:t>
            </a:r>
          </a:p>
        </p:txBody>
      </p:sp>
      <p:cxnSp>
        <p:nvCxnSpPr>
          <p:cNvPr id="14" name="Connector 13"/>
          <p:cNvCxnSpPr/>
          <p:nvPr/>
        </p:nvCxnSpPr>
        <p:spPr>
          <a:xfrm>
            <a:off x="3118104" y="3589020"/>
            <a:ext cx="19202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5" name="NOVA Compiler step 3"/>
          <p:cNvSpPr/>
          <p:nvPr/>
        </p:nvSpPr>
        <p:spPr>
          <a:xfrm>
            <a:off x="3310128"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Optimized TAC</a:t>
            </a:r>
          </a:p>
        </p:txBody>
      </p:sp>
      <p:cxnSp>
        <p:nvCxnSpPr>
          <p:cNvPr id="16" name="Connector 15"/>
          <p:cNvCxnSpPr/>
          <p:nvPr/>
        </p:nvCxnSpPr>
        <p:spPr>
          <a:xfrm>
            <a:off x="4407408" y="3589020"/>
            <a:ext cx="19202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7" name="NOVA Compiler step 4"/>
          <p:cNvSpPr/>
          <p:nvPr/>
        </p:nvSpPr>
        <p:spPr>
          <a:xfrm>
            <a:off x="4599431"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dirty="0">
                <a:solidFill>
                  <a:srgbClr val="1A1A1A"/>
                </a:solidFill>
                <a:latin typeface="Arial"/>
              </a:rPr>
              <a:t>Run (interpreter)</a:t>
            </a:r>
          </a:p>
        </p:txBody>
      </p:sp>
      <p:sp>
        <p:nvSpPr>
          <p:cNvPr id="18" name="TextBox 17"/>
          <p:cNvSpPr txBox="1"/>
          <p:nvPr/>
        </p:nvSpPr>
        <p:spPr>
          <a:xfrm>
            <a:off x="685800" y="4160520"/>
            <a:ext cx="5120640" cy="1325880"/>
          </a:xfrm>
          <a:prstGeom prst="rect">
            <a:avLst/>
          </a:prstGeom>
          <a:noFill/>
        </p:spPr>
        <p:txBody>
          <a:bodyPr wrap="square" lIns="45720" tIns="36576" rIns="45720" bIns="36576">
            <a:spAutoFit/>
          </a:bodyPr>
          <a:lstStyle/>
          <a:p>
            <a:pPr algn="l">
              <a:spcAft>
                <a:spcPts val="600"/>
              </a:spcAft>
            </a:pPr>
            <a:r>
              <a:rPr sz="1400" b="0" i="0" dirty="0">
                <a:solidFill>
                  <a:srgbClr val="1A1A1A"/>
                </a:solidFill>
                <a:latin typeface="Arial"/>
              </a:rPr>
              <a:t>Shows how a compiler works inside: tokens, syntax tree, simple intermediate code, and four safe optimizations. Runs programs on reference interpreters.</a:t>
            </a:r>
          </a:p>
        </p:txBody>
      </p:sp>
      <p:sp>
        <p:nvSpPr>
          <p:cNvPr id="19" name="NOVA SmartPass"/>
          <p:cNvSpPr/>
          <p:nvPr/>
        </p:nvSpPr>
        <p:spPr>
          <a:xfrm>
            <a:off x="6245352" y="2286000"/>
            <a:ext cx="5394960" cy="3246120"/>
          </a:xfrm>
          <a:prstGeom prst="rect">
            <a:avLst/>
          </a:prstGeom>
          <a:solidFill>
            <a:srgbClr val="FFFFFF"/>
          </a:solidFill>
          <a:ln w="15875">
            <a:solidFill>
              <a:srgbClr val="1F3A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6382512" y="2359152"/>
            <a:ext cx="5120640" cy="411480"/>
          </a:xfrm>
          <a:prstGeom prst="rect">
            <a:avLst/>
          </a:prstGeom>
          <a:noFill/>
        </p:spPr>
        <p:txBody>
          <a:bodyPr wrap="square" lIns="45720" tIns="36576" rIns="45720" bIns="36576">
            <a:spAutoFit/>
          </a:bodyPr>
          <a:lstStyle/>
          <a:p>
            <a:pPr algn="l">
              <a:spcAft>
                <a:spcPts val="600"/>
              </a:spcAft>
            </a:pPr>
            <a:r>
              <a:rPr sz="2000" b="1" i="0">
                <a:solidFill>
                  <a:srgbClr val="1F3A5F"/>
                </a:solidFill>
                <a:latin typeface="Arial"/>
              </a:rPr>
              <a:t>NOVA SmartPass  </a:t>
            </a:r>
          </a:p>
        </p:txBody>
      </p:sp>
      <p:sp>
        <p:nvSpPr>
          <p:cNvPr id="21" name="TextBox 20"/>
          <p:cNvSpPr txBox="1"/>
          <p:nvPr/>
        </p:nvSpPr>
        <p:spPr>
          <a:xfrm>
            <a:off x="6382512" y="2761488"/>
            <a:ext cx="5120640" cy="320040"/>
          </a:xfrm>
          <a:prstGeom prst="rect">
            <a:avLst/>
          </a:prstGeom>
          <a:noFill/>
        </p:spPr>
        <p:txBody>
          <a:bodyPr wrap="square" lIns="45720" tIns="36576" rIns="45720" bIns="36576">
            <a:spAutoFit/>
          </a:bodyPr>
          <a:lstStyle/>
          <a:p>
            <a:pPr algn="l">
              <a:spcAft>
                <a:spcPts val="600"/>
              </a:spcAft>
            </a:pPr>
            <a:r>
              <a:rPr sz="1400" b="0" i="1">
                <a:solidFill>
                  <a:srgbClr val="5A6270"/>
                </a:solidFill>
                <a:latin typeface="Arial"/>
              </a:rPr>
              <a:t>research track</a:t>
            </a:r>
          </a:p>
        </p:txBody>
      </p:sp>
      <p:sp>
        <p:nvSpPr>
          <p:cNvPr id="22" name="NOVA SmartPass step 1"/>
          <p:cNvSpPr/>
          <p:nvPr/>
        </p:nvSpPr>
        <p:spPr>
          <a:xfrm>
            <a:off x="6428232"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C++ kernel</a:t>
            </a:r>
          </a:p>
        </p:txBody>
      </p:sp>
      <p:cxnSp>
        <p:nvCxnSpPr>
          <p:cNvPr id="23" name="Connector 22"/>
          <p:cNvCxnSpPr/>
          <p:nvPr/>
        </p:nvCxnSpPr>
        <p:spPr>
          <a:xfrm>
            <a:off x="7525512" y="3589020"/>
            <a:ext cx="192024"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4" name="NOVA SmartPass step 2"/>
          <p:cNvSpPr/>
          <p:nvPr/>
        </p:nvSpPr>
        <p:spPr>
          <a:xfrm>
            <a:off x="7717536"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GCC (g++)</a:t>
            </a:r>
          </a:p>
        </p:txBody>
      </p:sp>
      <p:cxnSp>
        <p:nvCxnSpPr>
          <p:cNvPr id="25" name="Connector 24"/>
          <p:cNvCxnSpPr/>
          <p:nvPr/>
        </p:nvCxnSpPr>
        <p:spPr>
          <a:xfrm>
            <a:off x="8814815" y="3589020"/>
            <a:ext cx="19202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6" name="NOVA SmartPass step 3"/>
          <p:cNvSpPr/>
          <p:nvPr/>
        </p:nvSpPr>
        <p:spPr>
          <a:xfrm>
            <a:off x="9006840"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Check + time</a:t>
            </a:r>
          </a:p>
        </p:txBody>
      </p:sp>
      <p:cxnSp>
        <p:nvCxnSpPr>
          <p:cNvPr id="27" name="Connector 26"/>
          <p:cNvCxnSpPr/>
          <p:nvPr/>
        </p:nvCxnSpPr>
        <p:spPr>
          <a:xfrm>
            <a:off x="10104119" y="3589020"/>
            <a:ext cx="192025"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8" name="NOVA SmartPass step 4"/>
          <p:cNvSpPr/>
          <p:nvPr/>
        </p:nvSpPr>
        <p:spPr>
          <a:xfrm>
            <a:off x="10296144" y="3200400"/>
            <a:ext cx="1097280" cy="777240"/>
          </a:xfrm>
          <a:prstGeom prst="rect">
            <a:avLst/>
          </a:prstGeom>
          <a:solidFill>
            <a:srgbClr val="EEF2F7"/>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200" b="0" i="0">
                <a:solidFill>
                  <a:srgbClr val="1A1A1A"/>
                </a:solidFill>
                <a:latin typeface="Arial"/>
              </a:rPr>
              <a:t>Explain</a:t>
            </a:r>
          </a:p>
        </p:txBody>
      </p:sp>
      <p:sp>
        <p:nvSpPr>
          <p:cNvPr id="29" name="TextBox 28"/>
          <p:cNvSpPr txBox="1"/>
          <p:nvPr/>
        </p:nvSpPr>
        <p:spPr>
          <a:xfrm>
            <a:off x="6382512" y="4160520"/>
            <a:ext cx="5120640" cy="1325880"/>
          </a:xfrm>
          <a:prstGeom prst="rect">
            <a:avLst/>
          </a:prstGeom>
          <a:noFill/>
        </p:spPr>
        <p:txBody>
          <a:bodyPr wrap="square" lIns="45720" tIns="36576" rIns="45720" bIns="36576">
            <a:spAutoFit/>
          </a:bodyPr>
          <a:lstStyle/>
          <a:p>
            <a:pPr algn="l">
              <a:spcAft>
                <a:spcPts val="600"/>
              </a:spcAft>
            </a:pPr>
            <a:r>
              <a:rPr sz="1400" b="0" i="0">
                <a:solidFill>
                  <a:srgbClr val="1A1A1A"/>
                </a:solidFill>
                <a:latin typeface="Arial"/>
              </a:rPr>
              <a:t>Asks GCC to build a numerical kernel with chosen flags, checks the output, measures, and records why a configuration won. </a:t>
            </a:r>
            <a:r>
              <a:rPr sz="1400" b="1" i="0">
                <a:solidFill>
                  <a:srgbClr val="1A1A1A"/>
                </a:solidFill>
                <a:latin typeface="Arial"/>
              </a:rPr>
              <a:t>GCC does all the compiling.</a:t>
            </a:r>
          </a:p>
        </p:txBody>
      </p:sp>
      <p:sp>
        <p:nvSpPr>
          <p:cNvPr id="30" name="TextBox 29"/>
          <p:cNvSpPr txBox="1"/>
          <p:nvPr/>
        </p:nvSpPr>
        <p:spPr>
          <a:xfrm>
            <a:off x="548640" y="5715000"/>
            <a:ext cx="11091672" cy="548640"/>
          </a:xfrm>
          <a:prstGeom prst="rect">
            <a:avLst/>
          </a:prstGeom>
          <a:noFill/>
        </p:spPr>
        <p:txBody>
          <a:bodyPr wrap="square" lIns="45720" tIns="36576" rIns="45720" bIns="36576">
            <a:spAutoFit/>
          </a:bodyPr>
          <a:lstStyle/>
          <a:p>
            <a:pPr algn="l">
              <a:spcAft>
                <a:spcPts val="600"/>
              </a:spcAft>
            </a:pPr>
            <a:r>
              <a:rPr sz="1400" b="0" i="0">
                <a:solidFill>
                  <a:srgbClr val="5A6270"/>
                </a:solidFill>
                <a:latin typeface="Arial"/>
              </a:rPr>
              <a:t>Why separate: the compiler teaches how optimization works inside; SmartPass asks which settings of an existing optimizer work best. No code is shared in the measurements.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NOVA Compiler: pipeline</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6 / 14</a:t>
            </a:r>
          </a:p>
        </p:txBody>
      </p:sp>
      <p:sp>
        <p:nvSpPr>
          <p:cNvPr id="5" name="Stage Source (.nova)"/>
          <p:cNvSpPr/>
          <p:nvPr/>
        </p:nvSpPr>
        <p:spPr>
          <a:xfrm>
            <a:off x="548640" y="1280160"/>
            <a:ext cx="1143000" cy="731520"/>
          </a:xfrm>
          <a:prstGeom prst="rect">
            <a:avLst/>
          </a:prstGeom>
          <a:solidFill>
            <a:srgbClr val="FFFFFF"/>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0" i="0">
                <a:solidFill>
                  <a:srgbClr val="1A1A1A"/>
                </a:solidFill>
                <a:latin typeface="Arial"/>
              </a:rPr>
              <a:t>Source (.nova)</a:t>
            </a:r>
          </a:p>
        </p:txBody>
      </p:sp>
      <p:cxnSp>
        <p:nvCxnSpPr>
          <p:cNvPr id="6" name="Connector 5"/>
          <p:cNvCxnSpPr/>
          <p:nvPr/>
        </p:nvCxnSpPr>
        <p:spPr>
          <a:xfrm>
            <a:off x="169164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7" name="Stage Lexer"/>
          <p:cNvSpPr/>
          <p:nvPr/>
        </p:nvSpPr>
        <p:spPr>
          <a:xfrm>
            <a:off x="196596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Lexer</a:t>
            </a:r>
          </a:p>
        </p:txBody>
      </p:sp>
      <p:cxnSp>
        <p:nvCxnSpPr>
          <p:cNvPr id="8" name="Connector 7"/>
          <p:cNvCxnSpPr/>
          <p:nvPr/>
        </p:nvCxnSpPr>
        <p:spPr>
          <a:xfrm>
            <a:off x="3108960" y="1645920"/>
            <a:ext cx="274319"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9" name="Stage Parser"/>
          <p:cNvSpPr/>
          <p:nvPr/>
        </p:nvSpPr>
        <p:spPr>
          <a:xfrm>
            <a:off x="338328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Parser</a:t>
            </a:r>
          </a:p>
        </p:txBody>
      </p:sp>
      <p:cxnSp>
        <p:nvCxnSpPr>
          <p:cNvPr id="10" name="Connector 9"/>
          <p:cNvCxnSpPr/>
          <p:nvPr/>
        </p:nvCxnSpPr>
        <p:spPr>
          <a:xfrm>
            <a:off x="452628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1" name="Stage AST"/>
          <p:cNvSpPr/>
          <p:nvPr/>
        </p:nvSpPr>
        <p:spPr>
          <a:xfrm>
            <a:off x="480060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AST</a:t>
            </a:r>
          </a:p>
        </p:txBody>
      </p:sp>
      <p:cxnSp>
        <p:nvCxnSpPr>
          <p:cNvPr id="12" name="Connector 11"/>
          <p:cNvCxnSpPr/>
          <p:nvPr/>
        </p:nvCxnSpPr>
        <p:spPr>
          <a:xfrm>
            <a:off x="594360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3" name="Stage Semantic analysis"/>
          <p:cNvSpPr/>
          <p:nvPr/>
        </p:nvSpPr>
        <p:spPr>
          <a:xfrm>
            <a:off x="621792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Semantic analysis</a:t>
            </a:r>
          </a:p>
        </p:txBody>
      </p:sp>
      <p:cxnSp>
        <p:nvCxnSpPr>
          <p:cNvPr id="14" name="Connector 13"/>
          <p:cNvCxnSpPr/>
          <p:nvPr/>
        </p:nvCxnSpPr>
        <p:spPr>
          <a:xfrm>
            <a:off x="736092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5" name="Stage TAC"/>
          <p:cNvSpPr/>
          <p:nvPr/>
        </p:nvSpPr>
        <p:spPr>
          <a:xfrm>
            <a:off x="763524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TAC</a:t>
            </a:r>
          </a:p>
        </p:txBody>
      </p:sp>
      <p:cxnSp>
        <p:nvCxnSpPr>
          <p:cNvPr id="16" name="Connector 15"/>
          <p:cNvCxnSpPr/>
          <p:nvPr/>
        </p:nvCxnSpPr>
        <p:spPr>
          <a:xfrm>
            <a:off x="877824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7" name="Stage Optimizer"/>
          <p:cNvSpPr/>
          <p:nvPr/>
        </p:nvSpPr>
        <p:spPr>
          <a:xfrm>
            <a:off x="905256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Optimizer</a:t>
            </a:r>
          </a:p>
        </p:txBody>
      </p:sp>
      <p:cxnSp>
        <p:nvCxnSpPr>
          <p:cNvPr id="18" name="Connector 17"/>
          <p:cNvCxnSpPr/>
          <p:nvPr/>
        </p:nvCxnSpPr>
        <p:spPr>
          <a:xfrm>
            <a:off x="10195560" y="1645920"/>
            <a:ext cx="274320"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9" name="Stage Interpreter"/>
          <p:cNvSpPr/>
          <p:nvPr/>
        </p:nvSpPr>
        <p:spPr>
          <a:xfrm>
            <a:off x="10469880" y="1280160"/>
            <a:ext cx="1143000" cy="73152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36576" tIns="36576" rIns="36576" bIns="36576" rtlCol="0" anchor="ctr"/>
          <a:lstStyle/>
          <a:p>
            <a:pPr algn="ctr">
              <a:spcAft>
                <a:spcPts val="600"/>
              </a:spcAft>
            </a:pPr>
            <a:r>
              <a:rPr sz="1300" b="1" i="0">
                <a:solidFill>
                  <a:srgbClr val="1A1A1A"/>
                </a:solidFill>
                <a:latin typeface="Arial"/>
              </a:rPr>
              <a:t>Interpreter</a:t>
            </a:r>
          </a:p>
        </p:txBody>
      </p:sp>
      <p:sp>
        <p:nvSpPr>
          <p:cNvPr id="20" name="TextBox 19"/>
          <p:cNvSpPr txBox="1"/>
          <p:nvPr/>
        </p:nvSpPr>
        <p:spPr>
          <a:xfrm>
            <a:off x="548640" y="2057400"/>
            <a:ext cx="11091672" cy="320040"/>
          </a:xfrm>
          <a:prstGeom prst="rect">
            <a:avLst/>
          </a:prstGeom>
          <a:noFill/>
        </p:spPr>
        <p:txBody>
          <a:bodyPr wrap="square" lIns="45720" tIns="36576" rIns="45720" bIns="36576">
            <a:spAutoFit/>
          </a:bodyPr>
          <a:lstStyle/>
          <a:p>
            <a:pPr algn="l">
              <a:spcAft>
                <a:spcPts val="600"/>
              </a:spcAft>
            </a:pPr>
            <a:r>
              <a:rPr sz="1300" b="0" i="1">
                <a:solidFill>
                  <a:srgbClr val="5A6270"/>
                </a:solidFill>
                <a:latin typeface="Arial"/>
              </a:rPr>
              <a:t>All stages shown are implemented. No machine-code backend: programs run on the AST and TAC interpreters.</a:t>
            </a:r>
          </a:p>
        </p:txBody>
      </p:sp>
      <p:graphicFrame>
        <p:nvGraphicFramePr>
          <p:cNvPr id="21" name="Stage descriptions"/>
          <p:cNvGraphicFramePr>
            <a:graphicFrameLocks noGrp="1"/>
          </p:cNvGraphicFramePr>
          <p:nvPr/>
        </p:nvGraphicFramePr>
        <p:xfrm>
          <a:off x="548640" y="2468880"/>
          <a:ext cx="11091672" cy="3145536"/>
        </p:xfrm>
        <a:graphic>
          <a:graphicData uri="http://schemas.openxmlformats.org/drawingml/2006/table">
            <a:tbl>
              <a:tblPr firstRow="1">
                <a:tableStyleId>{5C22544A-7EE6-4342-B048-85BDC9FD1C3A}</a:tableStyleId>
              </a:tblPr>
              <a:tblGrid>
                <a:gridCol w="2011680">
                  <a:extLst>
                    <a:ext uri="{9D8B030D-6E8A-4147-A177-3AD203B41FA5}">
                      <a16:colId xmlns:a16="http://schemas.microsoft.com/office/drawing/2014/main" val="20000"/>
                    </a:ext>
                  </a:extLst>
                </a:gridCol>
                <a:gridCol w="9079992">
                  <a:extLst>
                    <a:ext uri="{9D8B030D-6E8A-4147-A177-3AD203B41FA5}">
                      <a16:colId xmlns:a16="http://schemas.microsoft.com/office/drawing/2014/main" val="20001"/>
                    </a:ext>
                  </a:extLst>
                </a:gridCol>
              </a:tblGrid>
              <a:tr h="393192">
                <a:tc>
                  <a:txBody>
                    <a:bodyPr/>
                    <a:lstStyle/>
                    <a:p>
                      <a:r>
                        <a:rPr sz="1300" b="1">
                          <a:solidFill>
                            <a:srgbClr val="FFFFFF"/>
                          </a:solidFill>
                          <a:latin typeface="Arial"/>
                        </a:rPr>
                        <a:t>Stage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300" b="1">
                          <a:solidFill>
                            <a:srgbClr val="FFFFFF"/>
                          </a:solidFill>
                          <a:latin typeface="Arial"/>
                        </a:rPr>
                        <a:t>What it does and why it matters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extLst>
                  <a:ext uri="{0D108BD9-81ED-4DB2-BD59-A6C34878D82A}">
                    <a16:rowId xmlns:a16="http://schemas.microsoft.com/office/drawing/2014/main" val="10000"/>
                  </a:ext>
                </a:extLst>
              </a:tr>
              <a:tr h="393192">
                <a:tc>
                  <a:txBody>
                    <a:bodyPr/>
                    <a:lstStyle/>
                    <a:p>
                      <a:r>
                        <a:rPr sz="1300" b="1">
                          <a:solidFill>
                            <a:srgbClr val="1A1A1A"/>
                          </a:solidFill>
                          <a:latin typeface="Arial"/>
                        </a:rPr>
                        <a:t>Lexer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Splits text into tokens (keyword, identifier, integer, operator) with line:column for error messages.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1"/>
                  </a:ext>
                </a:extLst>
              </a:tr>
              <a:tr h="393192">
                <a:tc>
                  <a:txBody>
                    <a:bodyPr/>
                    <a:lstStyle/>
                    <a:p>
                      <a:r>
                        <a:rPr sz="1300" b="1">
                          <a:solidFill>
                            <a:srgbClr val="1A1A1A"/>
                          </a:solidFill>
                          <a:latin typeface="Arial"/>
                        </a:rPr>
                        <a:t>Parser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Recursive descent, one function per precedence level; reports the first syntax error with its location.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2"/>
                  </a:ext>
                </a:extLst>
              </a:tr>
              <a:tr h="393192">
                <a:tc>
                  <a:txBody>
                    <a:bodyPr/>
                    <a:lstStyle/>
                    <a:p>
                      <a:r>
                        <a:rPr sz="1300" b="1">
                          <a:solidFill>
                            <a:srgbClr val="1A1A1A"/>
                          </a:solidFill>
                          <a:latin typeface="Arial"/>
                        </a:rPr>
                        <a:t>AST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Tree of the program (Let, Print, Binary…), independent of how the text was laid out.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3"/>
                  </a:ext>
                </a:extLst>
              </a:tr>
              <a:tr h="393192">
                <a:tc>
                  <a:txBody>
                    <a:bodyPr/>
                    <a:lstStyle/>
                    <a:p>
                      <a:r>
                        <a:rPr sz="1300" b="1">
                          <a:solidFill>
                            <a:srgbClr val="1A1A1A"/>
                          </a:solidFill>
                          <a:latin typeface="Arial"/>
                        </a:rPr>
                        <a:t>Semantic analysis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Symbol table: rejects use of an undeclared variable and duplicate declarations.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4"/>
                  </a:ext>
                </a:extLst>
              </a:tr>
              <a:tr h="393192">
                <a:tc>
                  <a:txBody>
                    <a:bodyPr/>
                    <a:lstStyle/>
                    <a:p>
                      <a:r>
                        <a:rPr sz="1300" b="1">
                          <a:solidFill>
                            <a:srgbClr val="1A1A1A"/>
                          </a:solidFill>
                          <a:latin typeface="Arial"/>
                        </a:rPr>
                        <a:t>TAC</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Each instruction has at most one operator, e.g. </a:t>
                      </a:r>
                      <a:r>
                        <a:rPr sz="1300" b="0">
                          <a:solidFill>
                            <a:srgbClr val="1A1A1A"/>
                          </a:solidFill>
                          <a:latin typeface="Courier New"/>
                        </a:rPr>
                        <a:t>$t1 = x * 2</a:t>
                      </a:r>
                      <a:r>
                        <a:rPr sz="1300" b="0">
                          <a:solidFill>
                            <a:srgbClr val="1A1A1A"/>
                          </a:solidFill>
                          <a:latin typeface="Arial"/>
                        </a:rPr>
                        <a:t>: simple enough to analyze and optimize.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5"/>
                  </a:ext>
                </a:extLst>
              </a:tr>
              <a:tr h="393192">
                <a:tc>
                  <a:txBody>
                    <a:bodyPr/>
                    <a:lstStyle/>
                    <a:p>
                      <a:r>
                        <a:rPr sz="1300" b="1">
                          <a:solidFill>
                            <a:srgbClr val="1A1A1A"/>
                          </a:solidFill>
                          <a:latin typeface="Arial"/>
                        </a:rPr>
                        <a:t>Optimizer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Four passes repeated until nothing changes (a fixed point); see slide 9.</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6"/>
                  </a:ext>
                </a:extLst>
              </a:tr>
              <a:tr h="393192">
                <a:tc>
                  <a:txBody>
                    <a:bodyPr/>
                    <a:lstStyle/>
                    <a:p>
                      <a:r>
                        <a:rPr sz="1300" b="1">
                          <a:solidFill>
                            <a:srgbClr val="1A1A1A"/>
                          </a:solidFill>
                          <a:latin typeface="Arial"/>
                        </a:rPr>
                        <a:t>Interpreter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300" b="0">
                          <a:solidFill>
                            <a:srgbClr val="1A1A1A"/>
                          </a:solidFill>
                          <a:latin typeface="Arial"/>
                        </a:rPr>
                        <a:t>Runs the AST or the TAC; division by zero is a runtime error with a location.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7"/>
                  </a:ext>
                </a:extLst>
              </a:tr>
            </a:tbl>
          </a:graphicData>
        </a:graphic>
      </p:graphicFrame>
      <p:sp>
        <p:nvSpPr>
          <p:cNvPr id="22" name="TextBox 21"/>
          <p:cNvSpPr txBox="1"/>
          <p:nvPr/>
        </p:nvSpPr>
        <p:spPr>
          <a:xfrm>
            <a:off x="548640" y="5669280"/>
            <a:ext cx="11091672" cy="548640"/>
          </a:xfrm>
          <a:prstGeom prst="rect">
            <a:avLst/>
          </a:prstGeom>
          <a:noFill/>
        </p:spPr>
        <p:txBody>
          <a:bodyPr wrap="square" lIns="45720" tIns="36576" rIns="45720" bIns="36576">
            <a:spAutoFit/>
          </a:bodyPr>
          <a:lstStyle/>
          <a:p>
            <a:pPr algn="l">
              <a:spcAft>
                <a:spcPts val="600"/>
              </a:spcAft>
            </a:pPr>
            <a:r>
              <a:rPr sz="1300" b="0" i="0">
                <a:solidFill>
                  <a:srgbClr val="5A6270"/>
                </a:solidFill>
                <a:latin typeface="Arial"/>
              </a:rPr>
              <a:t>NOVA Script: integers only (64-bit wrapping), </a:t>
            </a:r>
            <a:r>
              <a:rPr sz="1300" b="0" i="0">
                <a:solidFill>
                  <a:srgbClr val="5A6270"/>
                </a:solidFill>
                <a:latin typeface="Courier New"/>
              </a:rPr>
              <a:t>let</a:t>
            </a:r>
            <a:r>
              <a:rPr sz="1300" b="0" i="0">
                <a:solidFill>
                  <a:srgbClr val="5A6270"/>
                </a:solidFill>
                <a:latin typeface="Arial"/>
              </a:rPr>
              <a:t>, assignment, </a:t>
            </a:r>
            <a:r>
              <a:rPr sz="1300" b="0" i="0">
                <a:solidFill>
                  <a:srgbClr val="5A6270"/>
                </a:solidFill>
                <a:latin typeface="Courier New"/>
              </a:rPr>
              <a:t>print</a:t>
            </a:r>
            <a:r>
              <a:rPr sz="1300" b="0" i="0">
                <a:solidFill>
                  <a:srgbClr val="5A6270"/>
                </a:solidFill>
                <a:latin typeface="Arial"/>
              </a:rPr>
              <a:t>, </a:t>
            </a:r>
            <a:r>
              <a:rPr sz="1300" b="0" i="0">
                <a:solidFill>
                  <a:srgbClr val="5A6270"/>
                </a:solidFill>
                <a:latin typeface="Courier New"/>
              </a:rPr>
              <a:t>+ - * /</a:t>
            </a:r>
            <a:r>
              <a:rPr sz="1300" b="0" i="0">
                <a:solidFill>
                  <a:srgbClr val="5A6270"/>
                </a:solidFill>
                <a:latin typeface="Arial"/>
              </a:rPr>
              <a:t>, parentheses; no loops or branches yet.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NOVA SmartPass: workflow</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7 / 14</a:t>
            </a:r>
          </a:p>
        </p:txBody>
      </p:sp>
      <p:sp>
        <p:nvSpPr>
          <p:cNvPr id="5" name="Step 1"/>
          <p:cNvSpPr/>
          <p:nvPr/>
        </p:nvSpPr>
        <p:spPr>
          <a:xfrm>
            <a:off x="548640" y="1325880"/>
            <a:ext cx="2514600" cy="132588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ctr"/>
          <a:lstStyle/>
          <a:p>
            <a:pPr algn="l">
              <a:spcAft>
                <a:spcPts val="400"/>
              </a:spcAft>
            </a:pPr>
            <a:r>
              <a:rPr sz="1500" b="1" i="0">
                <a:solidFill>
                  <a:srgbClr val="1F3A5F"/>
                </a:solidFill>
                <a:latin typeface="Arial"/>
              </a:rPr>
              <a:t>1  C++ kernel</a:t>
            </a:r>
          </a:p>
          <a:p>
            <a:pPr algn="l">
              <a:spcAft>
                <a:spcPts val="600"/>
              </a:spcAft>
            </a:pPr>
            <a:r>
              <a:rPr sz="1250" b="0" i="0">
                <a:solidFill>
                  <a:srgbClr val="1A1A1A"/>
                </a:solidFill>
                <a:latin typeface="Arial"/>
              </a:rPr>
              <a:t>matmul, vector_add or stencil</a:t>
            </a:r>
          </a:p>
        </p:txBody>
      </p:sp>
      <p:cxnSp>
        <p:nvCxnSpPr>
          <p:cNvPr id="6" name="Connector 5"/>
          <p:cNvCxnSpPr/>
          <p:nvPr/>
        </p:nvCxnSpPr>
        <p:spPr>
          <a:xfrm>
            <a:off x="3063240" y="1988819"/>
            <a:ext cx="344728"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7" name="Step 2"/>
          <p:cNvSpPr/>
          <p:nvPr/>
        </p:nvSpPr>
        <p:spPr>
          <a:xfrm>
            <a:off x="3407968" y="1325880"/>
            <a:ext cx="2514600" cy="132588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ctr"/>
          <a:lstStyle/>
          <a:p>
            <a:pPr algn="l">
              <a:spcAft>
                <a:spcPts val="400"/>
              </a:spcAft>
            </a:pPr>
            <a:r>
              <a:rPr sz="1500" b="1" i="0">
                <a:solidFill>
                  <a:srgbClr val="1F3A5F"/>
                </a:solidFill>
                <a:latin typeface="Arial"/>
              </a:rPr>
              <a:t>2  Workload description</a:t>
            </a:r>
          </a:p>
          <a:p>
            <a:pPr algn="l">
              <a:spcAft>
                <a:spcPts val="600"/>
              </a:spcAft>
            </a:pPr>
            <a:r>
              <a:rPr sz="1250" b="0" i="0">
                <a:solidFill>
                  <a:srgbClr val="1A1A1A"/>
                </a:solidFill>
                <a:latin typeface="Arial"/>
              </a:rPr>
              <a:t>size n, memory touched, ops per byte, streaming?, reduction?</a:t>
            </a:r>
          </a:p>
        </p:txBody>
      </p:sp>
      <p:cxnSp>
        <p:nvCxnSpPr>
          <p:cNvPr id="8" name="Connector 7"/>
          <p:cNvCxnSpPr/>
          <p:nvPr/>
        </p:nvCxnSpPr>
        <p:spPr>
          <a:xfrm>
            <a:off x="5922568" y="1988819"/>
            <a:ext cx="344729"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9" name="Step 3"/>
          <p:cNvSpPr/>
          <p:nvPr/>
        </p:nvSpPr>
        <p:spPr>
          <a:xfrm>
            <a:off x="6267297" y="1325880"/>
            <a:ext cx="2514600" cy="132588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ctr"/>
          <a:lstStyle/>
          <a:p>
            <a:pPr algn="l">
              <a:spcAft>
                <a:spcPts val="400"/>
              </a:spcAft>
            </a:pPr>
            <a:r>
              <a:rPr sz="1500" b="1" i="0">
                <a:solidFill>
                  <a:srgbClr val="1F3A5F"/>
                </a:solidFill>
                <a:latin typeface="Arial"/>
              </a:rPr>
              <a:t>3  Pick next candidate</a:t>
            </a:r>
          </a:p>
          <a:p>
            <a:pPr algn="l">
              <a:spcAft>
                <a:spcPts val="600"/>
              </a:spcAft>
            </a:pPr>
            <a:r>
              <a:rPr sz="1250" b="0" i="0">
                <a:solidFill>
                  <a:srgbClr val="1A1A1A"/>
                </a:solidFill>
                <a:latin typeface="Arial"/>
              </a:rPr>
              <a:t>from 22 whitelisted flag sets; stop at budget B</a:t>
            </a:r>
          </a:p>
        </p:txBody>
      </p:sp>
      <p:cxnSp>
        <p:nvCxnSpPr>
          <p:cNvPr id="10" name="Connector 9"/>
          <p:cNvCxnSpPr/>
          <p:nvPr/>
        </p:nvCxnSpPr>
        <p:spPr>
          <a:xfrm>
            <a:off x="8781897" y="1988819"/>
            <a:ext cx="344729"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1" name="Step 4"/>
          <p:cNvSpPr/>
          <p:nvPr/>
        </p:nvSpPr>
        <p:spPr>
          <a:xfrm>
            <a:off x="9126626" y="1325880"/>
            <a:ext cx="2514600" cy="132588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ctr"/>
          <a:lstStyle/>
          <a:p>
            <a:pPr algn="l">
              <a:spcAft>
                <a:spcPts val="400"/>
              </a:spcAft>
            </a:pPr>
            <a:r>
              <a:rPr sz="1500" b="1" i="0">
                <a:solidFill>
                  <a:srgbClr val="1F3A5F"/>
                </a:solidFill>
                <a:latin typeface="Arial"/>
              </a:rPr>
              <a:t>4  GCC builds it</a:t>
            </a:r>
          </a:p>
          <a:p>
            <a:pPr algn="l">
              <a:spcAft>
                <a:spcPts val="600"/>
              </a:spcAft>
            </a:pPr>
            <a:r>
              <a:rPr sz="1250" b="0" i="0">
                <a:solidFill>
                  <a:srgbClr val="1A1A1A"/>
                </a:solidFill>
                <a:latin typeface="Arial"/>
              </a:rPr>
              <a:t>g++ with the chosen flags; build failures are recorded</a:t>
            </a:r>
          </a:p>
        </p:txBody>
      </p:sp>
      <p:sp>
        <p:nvSpPr>
          <p:cNvPr id="12" name="Step 5"/>
          <p:cNvSpPr/>
          <p:nvPr/>
        </p:nvSpPr>
        <p:spPr>
          <a:xfrm>
            <a:off x="548640" y="3154680"/>
            <a:ext cx="2514600" cy="132588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ctr"/>
          <a:lstStyle/>
          <a:p>
            <a:pPr algn="l">
              <a:spcAft>
                <a:spcPts val="400"/>
              </a:spcAft>
            </a:pPr>
            <a:r>
              <a:rPr sz="1500" b="1" i="0">
                <a:solidFill>
                  <a:srgbClr val="1F3A5F"/>
                </a:solidFill>
                <a:latin typeface="Arial"/>
              </a:rPr>
              <a:t>5  Correctness check</a:t>
            </a:r>
          </a:p>
          <a:p>
            <a:pPr algn="l">
              <a:spcAft>
                <a:spcPts val="600"/>
              </a:spcAft>
            </a:pPr>
            <a:r>
              <a:rPr sz="1250" b="0" i="0">
                <a:solidFill>
                  <a:srgbClr val="1A1A1A"/>
                </a:solidFill>
                <a:latin typeface="Arial"/>
              </a:rPr>
              <a:t>output statistics vs an independent reference (tolerance 1e-9)</a:t>
            </a:r>
          </a:p>
        </p:txBody>
      </p:sp>
      <p:cxnSp>
        <p:nvCxnSpPr>
          <p:cNvPr id="13" name="Connector 12"/>
          <p:cNvCxnSpPr/>
          <p:nvPr/>
        </p:nvCxnSpPr>
        <p:spPr>
          <a:xfrm>
            <a:off x="3063240" y="3817620"/>
            <a:ext cx="344728"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4" name="Step 6"/>
          <p:cNvSpPr/>
          <p:nvPr/>
        </p:nvSpPr>
        <p:spPr>
          <a:xfrm>
            <a:off x="3407968" y="3154680"/>
            <a:ext cx="2514600" cy="132588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ctr"/>
          <a:lstStyle/>
          <a:p>
            <a:pPr algn="l">
              <a:spcAft>
                <a:spcPts val="400"/>
              </a:spcAft>
            </a:pPr>
            <a:r>
              <a:rPr sz="1500" b="1" i="0">
                <a:solidFill>
                  <a:srgbClr val="1F3A5F"/>
                </a:solidFill>
                <a:latin typeface="Arial"/>
              </a:rPr>
              <a:t>6  Repeated timing</a:t>
            </a:r>
          </a:p>
          <a:p>
            <a:pPr algn="l">
              <a:spcAft>
                <a:spcPts val="600"/>
              </a:spcAft>
            </a:pPr>
            <a:r>
              <a:rPr sz="1250" b="0" i="0">
                <a:solidFill>
                  <a:srgbClr val="1A1A1A"/>
                </a:solidFill>
                <a:latin typeface="Arial"/>
              </a:rPr>
              <a:t>2 warm-ups + 15 interleaved runs; median and IQR</a:t>
            </a:r>
          </a:p>
        </p:txBody>
      </p:sp>
      <p:cxnSp>
        <p:nvCxnSpPr>
          <p:cNvPr id="15" name="Connector 14"/>
          <p:cNvCxnSpPr/>
          <p:nvPr/>
        </p:nvCxnSpPr>
        <p:spPr>
          <a:xfrm>
            <a:off x="5922568" y="3817620"/>
            <a:ext cx="344729"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6" name="Step 7"/>
          <p:cNvSpPr/>
          <p:nvPr/>
        </p:nvSpPr>
        <p:spPr>
          <a:xfrm>
            <a:off x="6267297" y="3154680"/>
            <a:ext cx="2514600" cy="132588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ctr"/>
          <a:lstStyle/>
          <a:p>
            <a:pPr algn="l">
              <a:spcAft>
                <a:spcPts val="400"/>
              </a:spcAft>
            </a:pPr>
            <a:r>
              <a:rPr sz="1500" b="1" i="0">
                <a:solidFill>
                  <a:srgbClr val="1F3A5F"/>
                </a:solidFill>
                <a:latin typeface="Arial"/>
              </a:rPr>
              <a:t>7  Record evidence</a:t>
            </a:r>
          </a:p>
          <a:p>
            <a:pPr algn="l">
              <a:spcAft>
                <a:spcPts val="600"/>
              </a:spcAft>
            </a:pPr>
            <a:r>
              <a:rPr sz="1250" b="0" i="0">
                <a:solidFill>
                  <a:srgbClr val="1A1A1A"/>
                </a:solidFill>
                <a:latin typeface="Arial"/>
              </a:rPr>
              <a:t>flags, raw samples, binary size, environment (JSON, CSV)</a:t>
            </a:r>
          </a:p>
        </p:txBody>
      </p:sp>
      <p:cxnSp>
        <p:nvCxnSpPr>
          <p:cNvPr id="17" name="Connector 16"/>
          <p:cNvCxnSpPr/>
          <p:nvPr/>
        </p:nvCxnSpPr>
        <p:spPr>
          <a:xfrm>
            <a:off x="8781897" y="3817620"/>
            <a:ext cx="344729" cy="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8" name="Step 8"/>
          <p:cNvSpPr/>
          <p:nvPr/>
        </p:nvSpPr>
        <p:spPr>
          <a:xfrm>
            <a:off x="9126626" y="3154680"/>
            <a:ext cx="2514600" cy="132588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tIns="36576" bIns="36576" rtlCol="0" anchor="ctr"/>
          <a:lstStyle/>
          <a:p>
            <a:pPr algn="l">
              <a:spcAft>
                <a:spcPts val="400"/>
              </a:spcAft>
            </a:pPr>
            <a:r>
              <a:rPr sz="1500" b="1" i="0">
                <a:solidFill>
                  <a:srgbClr val="1F3A5F"/>
                </a:solidFill>
                <a:latin typeface="Arial"/>
              </a:rPr>
              <a:t>8  Compare and explain</a:t>
            </a:r>
          </a:p>
          <a:p>
            <a:pPr algn="l">
              <a:spcAft>
                <a:spcPts val="600"/>
              </a:spcAft>
            </a:pPr>
            <a:r>
              <a:rPr sz="1250" b="0" i="0">
                <a:solidFill>
                  <a:srgbClr val="1A1A1A"/>
                </a:solidFill>
                <a:latin typeface="Arial"/>
              </a:rPr>
              <a:t>lowest median among correct candidates; </a:t>
            </a:r>
            <a:r>
              <a:rPr sz="1250" b="0" i="0">
                <a:solidFill>
                  <a:srgbClr val="1A1A1A"/>
                </a:solidFill>
                <a:latin typeface="Courier New"/>
              </a:rPr>
              <a:t>nova explain</a:t>
            </a:r>
          </a:p>
        </p:txBody>
      </p:sp>
      <p:cxnSp>
        <p:nvCxnSpPr>
          <p:cNvPr id="19" name="Connector 18"/>
          <p:cNvCxnSpPr/>
          <p:nvPr/>
        </p:nvCxnSpPr>
        <p:spPr>
          <a:xfrm>
            <a:off x="10383926" y="2651760"/>
            <a:ext cx="0" cy="25146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805940" y="2903220"/>
            <a:ext cx="8577986"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805940" y="2903220"/>
            <a:ext cx="0" cy="251460"/>
          </a:xfrm>
          <a:prstGeom prst="line">
            <a:avLst/>
          </a:prstGeom>
          <a:ln w="19050">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22" name="Adaptive note"/>
          <p:cNvSpPr/>
          <p:nvPr/>
        </p:nvSpPr>
        <p:spPr>
          <a:xfrm>
            <a:off x="548640" y="4754880"/>
            <a:ext cx="11091672" cy="1005840"/>
          </a:xfrm>
          <a:prstGeom prst="rect">
            <a:avLst/>
          </a:prstGeom>
          <a:solidFill>
            <a:srgbClr val="FFFFFF"/>
          </a:solidFill>
          <a:ln w="9525">
            <a:solidFill>
              <a:srgbClr val="1F3A5F"/>
            </a:solidFill>
            <a:prstDash val="dash"/>
          </a:ln>
          <a:effectLst/>
        </p:spPr>
        <p:style>
          <a:lnRef idx="1">
            <a:schemeClr val="accent1"/>
          </a:lnRef>
          <a:fillRef idx="3">
            <a:schemeClr val="accent1"/>
          </a:fillRef>
          <a:effectRef idx="0">
            <a:schemeClr val="accent1"/>
          </a:effectRef>
          <a:fontRef idx="minor">
            <a:schemeClr val="lt1"/>
          </a:fontRef>
        </p:style>
        <p:txBody>
          <a:bodyPr wrap="square" tIns="36576" bIns="36576" rtlCol="0" anchor="ctr"/>
          <a:lstStyle/>
          <a:p>
            <a:pPr algn="l">
              <a:spcAft>
                <a:spcPts val="600"/>
              </a:spcAft>
            </a:pPr>
            <a:r>
              <a:rPr sz="1400" b="1" i="0">
                <a:solidFill>
                  <a:srgbClr val="1A1A1A"/>
                </a:solidFill>
                <a:latin typeface="Arial"/>
              </a:rPr>
              <a:t>Adaptive search only:</a:t>
            </a:r>
            <a:r>
              <a:rPr sz="1400" b="0" i="0">
                <a:solidFill>
                  <a:srgbClr val="1A1A1A"/>
                </a:solidFill>
                <a:latin typeface="Arial"/>
              </a:rPr>
              <a:t> after each build, a short pilot run (5 interleaved rounds against </a:t>
            </a:r>
            <a:r>
              <a:rPr sz="1400" b="0" i="0">
                <a:solidFill>
                  <a:srgbClr val="1A1A1A"/>
                </a:solidFill>
                <a:latin typeface="Courier New"/>
              </a:rPr>
              <a:t>-O2</a:t>
            </a:r>
            <a:r>
              <a:rPr sz="1400" b="0" i="0">
                <a:solidFill>
                  <a:srgbClr val="1A1A1A"/>
                </a:solidFill>
                <a:latin typeface="Arial"/>
              </a:rPr>
              <a:t>) updates the scores used in step 3. The winner is still chosen by the full timing protocol in step 6. Fixed and random search skip steps 2 and the pilot.</a:t>
            </a:r>
          </a:p>
        </p:txBody>
      </p:sp>
      <p:sp>
        <p:nvSpPr>
          <p:cNvPr id="23" name="TextBox 22"/>
          <p:cNvSpPr txBox="1"/>
          <p:nvPr/>
        </p:nvSpPr>
        <p:spPr>
          <a:xfrm>
            <a:off x="548640" y="5852160"/>
            <a:ext cx="11091672" cy="457200"/>
          </a:xfrm>
          <a:prstGeom prst="rect">
            <a:avLst/>
          </a:prstGeom>
          <a:noFill/>
        </p:spPr>
        <p:txBody>
          <a:bodyPr wrap="square" lIns="45720" tIns="36576" rIns="45720" bIns="36576">
            <a:spAutoFit/>
          </a:bodyPr>
          <a:lstStyle/>
          <a:p>
            <a:pPr algn="l">
              <a:spcAft>
                <a:spcPts val="600"/>
              </a:spcAft>
            </a:pPr>
            <a:r>
              <a:rPr sz="1300" b="0" i="0">
                <a:solidFill>
                  <a:srgbClr val="5A6270"/>
                </a:solidFill>
                <a:latin typeface="Arial"/>
              </a:rPr>
              <a:t>Status: every step shown is implemented (V0.7 bounded search, V0.8 adaptive). Failed candidates are recorded and can never be ranked.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Research contribution</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8 / 14</a:t>
            </a:r>
          </a:p>
        </p:txBody>
      </p:sp>
      <p:sp>
        <p:nvSpPr>
          <p:cNvPr id="5" name="Contribution statement"/>
          <p:cNvSpPr/>
          <p:nvPr/>
        </p:nvSpPr>
        <p:spPr>
          <a:xfrm>
            <a:off x="548640" y="1280160"/>
            <a:ext cx="11091672" cy="1051560"/>
          </a:xfrm>
          <a:prstGeom prst="rect">
            <a:avLst/>
          </a:prstGeom>
          <a:solidFill>
            <a:srgbClr val="EEF2F7"/>
          </a:solidFill>
          <a:ln w="9525">
            <a:solidFill>
              <a:srgbClr val="1F3A5F"/>
            </a:solidFill>
          </a:ln>
          <a:effectLst/>
        </p:spPr>
        <p:style>
          <a:lnRef idx="1">
            <a:schemeClr val="accent1"/>
          </a:lnRef>
          <a:fillRef idx="3">
            <a:schemeClr val="accent1"/>
          </a:fillRef>
          <a:effectRef idx="0">
            <a:schemeClr val="accent1"/>
          </a:effectRef>
          <a:fontRef idx="minor">
            <a:schemeClr val="lt1"/>
          </a:fontRef>
        </p:style>
        <p:txBody>
          <a:bodyPr wrap="square" lIns="182880" tIns="36576" rIns="182880" bIns="36576" rtlCol="0" anchor="ctr"/>
          <a:lstStyle/>
          <a:p>
            <a:pPr algn="l">
              <a:spcAft>
                <a:spcPts val="600"/>
              </a:spcAft>
            </a:pPr>
            <a:r>
              <a:rPr sz="1600" b="1" i="0">
                <a:solidFill>
                  <a:srgbClr val="1A1A1A"/>
                </a:solidFill>
                <a:latin typeface="Arial"/>
              </a:rPr>
              <a:t>Proposed contribution:</a:t>
            </a:r>
            <a:r>
              <a:rPr sz="1600" b="0" i="0">
                <a:solidFill>
                  <a:srgbClr val="1A1A1A"/>
                </a:solidFill>
                <a:latin typeface="Arial"/>
              </a:rPr>
              <a:t> a bounded, workload-aware search over compiler flags that uses available evidence to decide which candidates to try first, rejects incorrect candidates, and records why the winner was chosen.</a:t>
            </a:r>
          </a:p>
        </p:txBody>
      </p:sp>
      <p:graphicFrame>
        <p:nvGraphicFramePr>
          <p:cNvPr id="6" name="Method comparison"/>
          <p:cNvGraphicFramePr>
            <a:graphicFrameLocks noGrp="1"/>
          </p:cNvGraphicFramePr>
          <p:nvPr/>
        </p:nvGraphicFramePr>
        <p:xfrm>
          <a:off x="548640" y="2560320"/>
          <a:ext cx="11091672" cy="2194560"/>
        </p:xfrm>
        <a:graphic>
          <a:graphicData uri="http://schemas.openxmlformats.org/drawingml/2006/table">
            <a:tbl>
              <a:tblPr firstRow="1">
                <a:tableStyleId>{5C22544A-7EE6-4342-B048-85BDC9FD1C3A}</a:tableStyleId>
              </a:tblPr>
              <a:tblGrid>
                <a:gridCol w="42062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313432">
                  <a:extLst>
                    <a:ext uri="{9D8B030D-6E8A-4147-A177-3AD203B41FA5}">
                      <a16:colId xmlns:a16="http://schemas.microsoft.com/office/drawing/2014/main" val="20003"/>
                    </a:ext>
                  </a:extLst>
                </a:gridCol>
              </a:tblGrid>
              <a:tr h="365760">
                <a:tc>
                  <a:txBody>
                    <a:bodyPr/>
                    <a:lstStyle/>
                    <a:p>
                      <a:endParaRP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400" b="1">
                          <a:solidFill>
                            <a:srgbClr val="FFFFFF"/>
                          </a:solidFill>
                          <a:latin typeface="Arial"/>
                        </a:rPr>
                        <a:t>GCC -O3 alone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400" b="1">
                          <a:solidFill>
                            <a:srgbClr val="FFFFFF"/>
                          </a:solidFill>
                          <a:latin typeface="Arial"/>
                        </a:rPr>
                        <a:t>Random search</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400" b="1">
                          <a:solidFill>
                            <a:srgbClr val="FFFFFF"/>
                          </a:solidFill>
                          <a:latin typeface="Arial"/>
                        </a:rPr>
                        <a:t>Adaptive search</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extLst>
                  <a:ext uri="{0D108BD9-81ED-4DB2-BD59-A6C34878D82A}">
                    <a16:rowId xmlns:a16="http://schemas.microsoft.com/office/drawing/2014/main" val="10000"/>
                  </a:ext>
                </a:extLst>
              </a:tr>
              <a:tr h="365760">
                <a:tc>
                  <a:txBody>
                    <a:bodyPr/>
                    <a:lstStyle/>
                    <a:p>
                      <a:r>
                        <a:rPr sz="1400" b="1">
                          <a:solidFill>
                            <a:srgbClr val="1A1A1A"/>
                          </a:solidFill>
                          <a:latin typeface="Arial"/>
                        </a:rPr>
                        <a:t>Tries several configurations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No</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Yes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Yes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1"/>
                  </a:ext>
                </a:extLst>
              </a:tr>
              <a:tr h="365760">
                <a:tc>
                  <a:txBody>
                    <a:bodyPr/>
                    <a:lstStyle/>
                    <a:p>
                      <a:r>
                        <a:rPr sz="1400" b="1">
                          <a:solidFill>
                            <a:srgbClr val="1A1A1A"/>
                          </a:solidFill>
                          <a:latin typeface="Arial"/>
                        </a:rPr>
                        <a:t>Uses workload descriptors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No</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No</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Yes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2"/>
                  </a:ext>
                </a:extLst>
              </a:tr>
              <a:tr h="365760">
                <a:tc>
                  <a:txBody>
                    <a:bodyPr/>
                    <a:lstStyle/>
                    <a:p>
                      <a:r>
                        <a:rPr sz="1400" b="1">
                          <a:solidFill>
                            <a:srgbClr val="1A1A1A"/>
                          </a:solidFill>
                          <a:latin typeface="Arial"/>
                        </a:rPr>
                        <a:t>Uses earlier tuning results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No</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No</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Yes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3"/>
                  </a:ext>
                </a:extLst>
              </a:tr>
              <a:tr h="365760">
                <a:tc>
                  <a:txBody>
                    <a:bodyPr/>
                    <a:lstStyle/>
                    <a:p>
                      <a:r>
                        <a:rPr sz="1400" b="1">
                          <a:solidFill>
                            <a:srgbClr val="1A1A1A"/>
                          </a:solidFill>
                          <a:latin typeface="Arial"/>
                        </a:rPr>
                        <a:t>Uses outcomes seen in this run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No</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No</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Yes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4"/>
                  </a:ext>
                </a:extLst>
              </a:tr>
              <a:tr h="365760">
                <a:tc>
                  <a:txBody>
                    <a:bodyPr/>
                    <a:lstStyle/>
                    <a:p>
                      <a:r>
                        <a:rPr sz="1400" b="1">
                          <a:solidFill>
                            <a:srgbClr val="1A1A1A"/>
                          </a:solidFill>
                          <a:latin typeface="Arial"/>
                        </a:rPr>
                        <a:t>Correctness gate and saved explanation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Not part of GCC</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Yes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400" b="0">
                          <a:solidFill>
                            <a:srgbClr val="1A1A1A"/>
                          </a:solidFill>
                          <a:latin typeface="Arial"/>
                        </a:rPr>
                        <a:t>Yes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548640" y="4846320"/>
            <a:ext cx="11091672" cy="1463040"/>
          </a:xfrm>
          <a:prstGeom prst="rect">
            <a:avLst/>
          </a:prstGeom>
          <a:noFill/>
        </p:spPr>
        <p:txBody>
          <a:bodyPr wrap="square" lIns="45720" tIns="36576" rIns="45720" bIns="36576">
            <a:spAutoFit/>
          </a:bodyPr>
          <a:lstStyle/>
          <a:p>
            <a:pPr marL="201168" indent="-201168" algn="l">
              <a:spcAft>
                <a:spcPts val="600"/>
              </a:spcAft>
              <a:buChar char="•"/>
            </a:pPr>
            <a:r>
              <a:rPr sz="1500" b="0" i="0">
                <a:solidFill>
                  <a:srgbClr val="1A1A1A"/>
                </a:solidFill>
                <a:latin typeface="Arial"/>
              </a:rPr>
              <a:t>Autotuning is </a:t>
            </a:r>
            <a:r>
              <a:rPr sz="1500" b="1" i="0">
                <a:solidFill>
                  <a:srgbClr val="1A1A1A"/>
                </a:solidFill>
                <a:latin typeface="Arial"/>
              </a:rPr>
              <a:t>not</a:t>
            </a:r>
            <a:r>
              <a:rPr sz="1500" b="0" i="0">
                <a:solidFill>
                  <a:srgbClr val="1A1A1A"/>
                </a:solidFill>
                <a:latin typeface="Arial"/>
              </a:rPr>
              <a:t> new (e.g. OpenTuner [2]). The contribution is a small, readable policy and its equal-budget evaluation.</a:t>
            </a:r>
          </a:p>
          <a:p>
            <a:pPr marL="201168" indent="-201168" algn="l">
              <a:spcAft>
                <a:spcPts val="600"/>
              </a:spcAft>
              <a:buChar char="•"/>
            </a:pPr>
            <a:r>
              <a:rPr sz="1500" b="0" i="0">
                <a:solidFill>
                  <a:srgbClr val="1A1A1A"/>
                </a:solidFill>
                <a:latin typeface="Arial"/>
              </a:rPr>
              <a:t>It is a hand-written scoring heuristic, </a:t>
            </a:r>
            <a:r>
              <a:rPr sz="1500" b="1" i="0">
                <a:solidFill>
                  <a:srgbClr val="1A1A1A"/>
                </a:solidFill>
                <a:latin typeface="Arial"/>
              </a:rPr>
              <a:t>not</a:t>
            </a:r>
            <a:r>
              <a:rPr sz="1500" b="0" i="0">
                <a:solidFill>
                  <a:srgbClr val="1A1A1A"/>
                </a:solidFill>
                <a:latin typeface="Arial"/>
              </a:rPr>
              <a:t> machine learning (constants in </a:t>
            </a:r>
            <a:r>
              <a:rPr sz="1500" b="0" i="0">
                <a:solidFill>
                  <a:srgbClr val="1A1A1A"/>
                </a:solidFill>
                <a:latin typeface="Courier New"/>
              </a:rPr>
              <a:t>docs/adaptive.md</a:t>
            </a:r>
            <a:r>
              <a:rPr sz="1500" b="0" i="0">
                <a:solidFill>
                  <a:srgbClr val="1A1A1A"/>
                </a:solidFill>
                <a:latin typeface="Arial"/>
              </a:rPr>
              <a:t>).</a:t>
            </a:r>
          </a:p>
          <a:p>
            <a:pPr marL="201168" indent="-201168" algn="l">
              <a:spcAft>
                <a:spcPts val="600"/>
              </a:spcAft>
              <a:buChar char="•"/>
            </a:pPr>
            <a:r>
              <a:rPr sz="1500" b="0" i="0">
                <a:solidFill>
                  <a:srgbClr val="1A1A1A"/>
                </a:solidFill>
                <a:latin typeface="Arial"/>
              </a:rPr>
              <a:t>Novelty is </a:t>
            </a:r>
            <a:r>
              <a:rPr sz="1500" b="1" i="0">
                <a:solidFill>
                  <a:srgbClr val="1A1A1A"/>
                </a:solidFill>
                <a:latin typeface="Arial"/>
              </a:rPr>
              <a:t>not</a:t>
            </a:r>
            <a:r>
              <a:rPr sz="1500" b="0" i="0">
                <a:solidFill>
                  <a:srgbClr val="1A1A1A"/>
                </a:solidFill>
                <a:latin typeface="Arial"/>
              </a:rPr>
              <a:t> established: a wider literature comparison is still to be done.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Example: NOVA Script optimizer</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9 / 14</a:t>
            </a:r>
          </a:p>
        </p:txBody>
      </p:sp>
      <p:sp>
        <p:nvSpPr>
          <p:cNvPr id="5" name="TextBox 4"/>
          <p:cNvSpPr txBox="1"/>
          <p:nvPr/>
        </p:nvSpPr>
        <p:spPr>
          <a:xfrm>
            <a:off x="548640" y="1280160"/>
            <a:ext cx="3566160" cy="320040"/>
          </a:xfrm>
          <a:prstGeom prst="rect">
            <a:avLst/>
          </a:prstGeom>
          <a:noFill/>
        </p:spPr>
        <p:txBody>
          <a:bodyPr wrap="square" lIns="45720" tIns="36576" rIns="45720" bIns="36576">
            <a:spAutoFit/>
          </a:bodyPr>
          <a:lstStyle/>
          <a:p>
            <a:pPr algn="l">
              <a:spcAft>
                <a:spcPts val="600"/>
              </a:spcAft>
            </a:pPr>
            <a:r>
              <a:rPr sz="1500" b="1" i="0">
                <a:solidFill>
                  <a:srgbClr val="1F3A5F"/>
                </a:solidFill>
                <a:latin typeface="Arial"/>
              </a:rPr>
              <a:t>NOVA Script source</a:t>
            </a:r>
          </a:p>
        </p:txBody>
      </p:sp>
      <p:sp>
        <p:nvSpPr>
          <p:cNvPr id="6" name="NOVA Script source"/>
          <p:cNvSpPr/>
          <p:nvPr/>
        </p:nvSpPr>
        <p:spPr>
          <a:xfrm>
            <a:off x="548640" y="1627632"/>
            <a:ext cx="3566160" cy="150876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300">
                <a:solidFill>
                  <a:srgbClr val="1A1A1A"/>
                </a:solidFill>
                <a:latin typeface="Courier New"/>
              </a:rPr>
              <a:t>let a = 4;</a:t>
            </a:r>
          </a:p>
          <a:p>
            <a:pPr algn="l">
              <a:spcAft>
                <a:spcPts val="0"/>
              </a:spcAft>
            </a:pPr>
            <a:r>
              <a:rPr sz="1300">
                <a:solidFill>
                  <a:srgbClr val="1A1A1A"/>
                </a:solidFill>
                <a:latin typeface="Courier New"/>
              </a:rPr>
              <a:t>let b = a * 2 + 0;</a:t>
            </a:r>
          </a:p>
          <a:p>
            <a:pPr algn="l">
              <a:spcAft>
                <a:spcPts val="0"/>
              </a:spcAft>
            </a:pPr>
            <a:r>
              <a:rPr sz="1300">
                <a:solidFill>
                  <a:srgbClr val="1A1A1A"/>
                </a:solidFill>
                <a:latin typeface="Courier New"/>
              </a:rPr>
              <a:t>let unused = b - b;</a:t>
            </a:r>
          </a:p>
          <a:p>
            <a:pPr algn="l">
              <a:spcAft>
                <a:spcPts val="0"/>
              </a:spcAft>
            </a:pPr>
            <a:r>
              <a:rPr sz="1300">
                <a:solidFill>
                  <a:srgbClr val="1A1A1A"/>
                </a:solidFill>
                <a:latin typeface="Courier New"/>
              </a:rPr>
              <a:t>let z = 1 - 1;</a:t>
            </a:r>
          </a:p>
          <a:p>
            <a:pPr algn="l">
              <a:spcAft>
                <a:spcPts val="0"/>
              </a:spcAft>
            </a:pPr>
            <a:r>
              <a:rPr sz="1300">
                <a:solidFill>
                  <a:srgbClr val="1A1A1A"/>
                </a:solidFill>
                <a:latin typeface="Courier New"/>
              </a:rPr>
              <a:t>print b * 1;</a:t>
            </a:r>
          </a:p>
          <a:p>
            <a:pPr algn="l">
              <a:spcAft>
                <a:spcPts val="0"/>
              </a:spcAft>
            </a:pPr>
            <a:r>
              <a:rPr sz="1300">
                <a:solidFill>
                  <a:srgbClr val="1A1A1A"/>
                </a:solidFill>
                <a:latin typeface="Courier New"/>
              </a:rPr>
              <a:t>print a * (3 + 4);</a:t>
            </a:r>
          </a:p>
        </p:txBody>
      </p:sp>
      <p:sp>
        <p:nvSpPr>
          <p:cNvPr id="7" name="TextBox 6"/>
          <p:cNvSpPr txBox="1"/>
          <p:nvPr/>
        </p:nvSpPr>
        <p:spPr>
          <a:xfrm>
            <a:off x="548640" y="3291840"/>
            <a:ext cx="3566160" cy="320040"/>
          </a:xfrm>
          <a:prstGeom prst="rect">
            <a:avLst/>
          </a:prstGeom>
          <a:noFill/>
        </p:spPr>
        <p:txBody>
          <a:bodyPr wrap="square" lIns="45720" tIns="36576" rIns="45720" bIns="36576">
            <a:spAutoFit/>
          </a:bodyPr>
          <a:lstStyle/>
          <a:p>
            <a:pPr algn="l">
              <a:spcAft>
                <a:spcPts val="600"/>
              </a:spcAft>
            </a:pPr>
            <a:r>
              <a:rPr sz="1500" b="1" i="0">
                <a:solidFill>
                  <a:srgbClr val="1F3A5F"/>
                </a:solidFill>
                <a:latin typeface="Arial"/>
              </a:rPr>
              <a:t>After </a:t>
            </a:r>
            <a:r>
              <a:rPr sz="1500" b="1" i="0">
                <a:solidFill>
                  <a:srgbClr val="1F3A5F"/>
                </a:solidFill>
                <a:latin typeface="Courier New"/>
              </a:rPr>
              <a:t>nova opt</a:t>
            </a:r>
            <a:r>
              <a:rPr sz="1500" b="1" i="0">
                <a:solidFill>
                  <a:srgbClr val="1F3A5F"/>
                </a:solidFill>
                <a:latin typeface="Arial"/>
              </a:rPr>
              <a:t> (fixed point)</a:t>
            </a:r>
          </a:p>
        </p:txBody>
      </p:sp>
      <p:sp>
        <p:nvSpPr>
          <p:cNvPr id="8" name="Optimized TAC"/>
          <p:cNvSpPr/>
          <p:nvPr/>
        </p:nvSpPr>
        <p:spPr>
          <a:xfrm>
            <a:off x="548640" y="3639312"/>
            <a:ext cx="3566160" cy="68580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300">
                <a:solidFill>
                  <a:srgbClr val="1A1A1A"/>
                </a:solidFill>
                <a:latin typeface="Courier New"/>
              </a:rPr>
              <a:t>print 8</a:t>
            </a:r>
          </a:p>
          <a:p>
            <a:pPr algn="l">
              <a:spcAft>
                <a:spcPts val="0"/>
              </a:spcAft>
            </a:pPr>
            <a:r>
              <a:rPr sz="1300">
                <a:solidFill>
                  <a:srgbClr val="1A1A1A"/>
                </a:solidFill>
                <a:latin typeface="Courier New"/>
              </a:rPr>
              <a:t>print 28</a:t>
            </a:r>
          </a:p>
        </p:txBody>
      </p:sp>
      <p:sp>
        <p:nvSpPr>
          <p:cNvPr id="9" name="TextBox 8"/>
          <p:cNvSpPr txBox="1"/>
          <p:nvPr/>
        </p:nvSpPr>
        <p:spPr>
          <a:xfrm>
            <a:off x="548640" y="4480560"/>
            <a:ext cx="3566160" cy="1188720"/>
          </a:xfrm>
          <a:prstGeom prst="rect">
            <a:avLst/>
          </a:prstGeom>
          <a:noFill/>
        </p:spPr>
        <p:txBody>
          <a:bodyPr wrap="square" lIns="45720" tIns="36576" rIns="45720" bIns="36576">
            <a:spAutoFit/>
          </a:bodyPr>
          <a:lstStyle/>
          <a:p>
            <a:pPr algn="l">
              <a:spcAft>
                <a:spcPts val="600"/>
              </a:spcAft>
            </a:pPr>
            <a:r>
              <a:rPr sz="1300" b="0" i="0">
                <a:solidFill>
                  <a:srgbClr val="1A1A1A"/>
                </a:solidFill>
                <a:latin typeface="Arial"/>
              </a:rPr>
              <a:t>Safety check: </a:t>
            </a:r>
            <a:r>
              <a:rPr sz="1300" b="0" i="0">
                <a:solidFill>
                  <a:srgbClr val="1A1A1A"/>
                </a:solidFill>
                <a:latin typeface="Courier New"/>
              </a:rPr>
              <a:t>nova opt examples/divzero.nova</a:t>
            </a:r>
            <a:r>
              <a:rPr sz="1300" b="0" i="0">
                <a:solidFill>
                  <a:srgbClr val="1A1A1A"/>
                </a:solidFill>
                <a:latin typeface="Arial"/>
              </a:rPr>
              <a:t> keeps </a:t>
            </a:r>
            <a:r>
              <a:rPr sz="1300" b="0" i="0">
                <a:solidFill>
                  <a:srgbClr val="1A1A1A"/>
                </a:solidFill>
                <a:latin typeface="Courier New"/>
              </a:rPr>
              <a:t>$t1 = 10 / 0</a:t>
            </a:r>
            <a:r>
              <a:rPr sz="1300" b="0" i="0">
                <a:solidFill>
                  <a:srgbClr val="1A1A1A"/>
                </a:solidFill>
                <a:latin typeface="Arial"/>
              </a:rPr>
              <a:t>, so the runtime error still happens.</a:t>
            </a:r>
          </a:p>
        </p:txBody>
      </p:sp>
      <p:sp>
        <p:nvSpPr>
          <p:cNvPr id="10" name="TextBox 9"/>
          <p:cNvSpPr txBox="1"/>
          <p:nvPr/>
        </p:nvSpPr>
        <p:spPr>
          <a:xfrm>
            <a:off x="4343400" y="1280160"/>
            <a:ext cx="3108960" cy="320040"/>
          </a:xfrm>
          <a:prstGeom prst="rect">
            <a:avLst/>
          </a:prstGeom>
          <a:noFill/>
        </p:spPr>
        <p:txBody>
          <a:bodyPr wrap="square" lIns="45720" tIns="36576" rIns="45720" bIns="36576">
            <a:spAutoFit/>
          </a:bodyPr>
          <a:lstStyle/>
          <a:p>
            <a:pPr algn="l">
              <a:spcAft>
                <a:spcPts val="600"/>
              </a:spcAft>
            </a:pPr>
            <a:r>
              <a:rPr sz="1500" b="1" i="0">
                <a:solidFill>
                  <a:srgbClr val="1F3A5F"/>
                </a:solidFill>
                <a:latin typeface="Arial"/>
              </a:rPr>
              <a:t>TAC before (</a:t>
            </a:r>
            <a:r>
              <a:rPr sz="1500" b="1" i="0">
                <a:solidFill>
                  <a:srgbClr val="1F3A5F"/>
                </a:solidFill>
                <a:latin typeface="Courier New"/>
              </a:rPr>
              <a:t>nova tac</a:t>
            </a:r>
            <a:r>
              <a:rPr sz="1500" b="1" i="0">
                <a:solidFill>
                  <a:srgbClr val="1F3A5F"/>
                </a:solidFill>
                <a:latin typeface="Arial"/>
              </a:rPr>
              <a:t>)</a:t>
            </a:r>
          </a:p>
        </p:txBody>
      </p:sp>
      <p:sp>
        <p:nvSpPr>
          <p:cNvPr id="11" name="TAC before"/>
          <p:cNvSpPr/>
          <p:nvPr/>
        </p:nvSpPr>
        <p:spPr>
          <a:xfrm>
            <a:off x="4343400" y="1627632"/>
            <a:ext cx="3108960" cy="251460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300">
                <a:solidFill>
                  <a:srgbClr val="1A1A1A"/>
                </a:solidFill>
                <a:latin typeface="Courier New"/>
              </a:rPr>
              <a:t>a = 4</a:t>
            </a:r>
          </a:p>
          <a:p>
            <a:pPr algn="l">
              <a:spcAft>
                <a:spcPts val="0"/>
              </a:spcAft>
            </a:pPr>
            <a:r>
              <a:rPr sz="1300">
                <a:solidFill>
                  <a:srgbClr val="1A1A1A"/>
                </a:solidFill>
                <a:latin typeface="Courier New"/>
              </a:rPr>
              <a:t>$t1 = a * 2</a:t>
            </a:r>
          </a:p>
          <a:p>
            <a:pPr algn="l">
              <a:spcAft>
                <a:spcPts val="0"/>
              </a:spcAft>
            </a:pPr>
            <a:r>
              <a:rPr sz="1300">
                <a:solidFill>
                  <a:srgbClr val="1A1A1A"/>
                </a:solidFill>
                <a:latin typeface="Courier New"/>
              </a:rPr>
              <a:t>b = $t1 + 0</a:t>
            </a:r>
          </a:p>
          <a:p>
            <a:pPr algn="l">
              <a:spcAft>
                <a:spcPts val="0"/>
              </a:spcAft>
            </a:pPr>
            <a:r>
              <a:rPr sz="1300">
                <a:solidFill>
                  <a:srgbClr val="1A1A1A"/>
                </a:solidFill>
                <a:latin typeface="Courier New"/>
              </a:rPr>
              <a:t>unused = b - b</a:t>
            </a:r>
          </a:p>
          <a:p>
            <a:pPr algn="l">
              <a:spcAft>
                <a:spcPts val="0"/>
              </a:spcAft>
            </a:pPr>
            <a:r>
              <a:rPr sz="1300">
                <a:solidFill>
                  <a:srgbClr val="1A1A1A"/>
                </a:solidFill>
                <a:latin typeface="Courier New"/>
              </a:rPr>
              <a:t>z = 1 - 1</a:t>
            </a:r>
          </a:p>
          <a:p>
            <a:pPr algn="l">
              <a:spcAft>
                <a:spcPts val="0"/>
              </a:spcAft>
            </a:pPr>
            <a:r>
              <a:rPr sz="1300">
                <a:solidFill>
                  <a:srgbClr val="1A1A1A"/>
                </a:solidFill>
                <a:latin typeface="Courier New"/>
              </a:rPr>
              <a:t>$t2 = b * 1</a:t>
            </a:r>
          </a:p>
          <a:p>
            <a:pPr algn="l">
              <a:spcAft>
                <a:spcPts val="0"/>
              </a:spcAft>
            </a:pPr>
            <a:r>
              <a:rPr sz="1300">
                <a:solidFill>
                  <a:srgbClr val="1A1A1A"/>
                </a:solidFill>
                <a:latin typeface="Courier New"/>
              </a:rPr>
              <a:t>print $t2</a:t>
            </a:r>
          </a:p>
          <a:p>
            <a:pPr algn="l">
              <a:spcAft>
                <a:spcPts val="0"/>
              </a:spcAft>
            </a:pPr>
            <a:r>
              <a:rPr sz="1300">
                <a:solidFill>
                  <a:srgbClr val="1A1A1A"/>
                </a:solidFill>
                <a:latin typeface="Courier New"/>
              </a:rPr>
              <a:t>$t3 = 3 + 4</a:t>
            </a:r>
          </a:p>
          <a:p>
            <a:pPr algn="l">
              <a:spcAft>
                <a:spcPts val="0"/>
              </a:spcAft>
            </a:pPr>
            <a:r>
              <a:rPr sz="1300">
                <a:solidFill>
                  <a:srgbClr val="1A1A1A"/>
                </a:solidFill>
                <a:latin typeface="Courier New"/>
              </a:rPr>
              <a:t>$t4 = a * $t3</a:t>
            </a:r>
          </a:p>
          <a:p>
            <a:pPr algn="l">
              <a:spcAft>
                <a:spcPts val="0"/>
              </a:spcAft>
            </a:pPr>
            <a:r>
              <a:rPr sz="1300">
                <a:solidFill>
                  <a:srgbClr val="1A1A1A"/>
                </a:solidFill>
                <a:latin typeface="Courier New"/>
              </a:rPr>
              <a:t>print $t4</a:t>
            </a:r>
          </a:p>
        </p:txBody>
      </p:sp>
      <p:sp>
        <p:nvSpPr>
          <p:cNvPr id="12" name="TextBox 11"/>
          <p:cNvSpPr txBox="1"/>
          <p:nvPr/>
        </p:nvSpPr>
        <p:spPr>
          <a:xfrm>
            <a:off x="4343400" y="4297680"/>
            <a:ext cx="3108960" cy="1371600"/>
          </a:xfrm>
          <a:prstGeom prst="rect">
            <a:avLst/>
          </a:prstGeom>
          <a:noFill/>
        </p:spPr>
        <p:txBody>
          <a:bodyPr wrap="square" lIns="45720" tIns="36576" rIns="45720" bIns="36576">
            <a:spAutoFit/>
          </a:bodyPr>
          <a:lstStyle/>
          <a:p>
            <a:pPr algn="l">
              <a:spcAft>
                <a:spcPts val="600"/>
              </a:spcAft>
            </a:pPr>
            <a:r>
              <a:rPr sz="1300" b="0" i="0">
                <a:solidFill>
                  <a:srgbClr val="1A1A1A"/>
                </a:solidFill>
                <a:latin typeface="Arial"/>
              </a:rPr>
              <a:t>TAC: every instruction has at most one operator; </a:t>
            </a:r>
            <a:r>
              <a:rPr sz="1300" b="0" i="0">
                <a:solidFill>
                  <a:srgbClr val="1A1A1A"/>
                </a:solidFill>
                <a:latin typeface="Courier New"/>
              </a:rPr>
              <a:t>$t1</a:t>
            </a:r>
            <a:r>
              <a:rPr sz="1300" b="0" i="0">
                <a:solidFill>
                  <a:srgbClr val="1A1A1A"/>
                </a:solidFill>
                <a:latin typeface="Arial"/>
              </a:rPr>
              <a:t>, </a:t>
            </a:r>
            <a:r>
              <a:rPr sz="1300" b="0" i="0">
                <a:solidFill>
                  <a:srgbClr val="1A1A1A"/>
                </a:solidFill>
                <a:latin typeface="Courier New"/>
              </a:rPr>
              <a:t>$t2</a:t>
            </a:r>
            <a:r>
              <a:rPr sz="1300" b="0" i="0">
                <a:solidFill>
                  <a:srgbClr val="1A1A1A"/>
                </a:solidFill>
                <a:latin typeface="Arial"/>
              </a:rPr>
              <a:t>… are compiler temporaries.</a:t>
            </a:r>
          </a:p>
        </p:txBody>
      </p:sp>
      <p:sp>
        <p:nvSpPr>
          <p:cNvPr id="13" name="TextBox 12"/>
          <p:cNvSpPr txBox="1"/>
          <p:nvPr/>
        </p:nvSpPr>
        <p:spPr>
          <a:xfrm>
            <a:off x="7680960" y="1280160"/>
            <a:ext cx="3959352" cy="320040"/>
          </a:xfrm>
          <a:prstGeom prst="rect">
            <a:avLst/>
          </a:prstGeom>
          <a:noFill/>
        </p:spPr>
        <p:txBody>
          <a:bodyPr wrap="square" lIns="45720" tIns="36576" rIns="45720" bIns="36576">
            <a:spAutoFit/>
          </a:bodyPr>
          <a:lstStyle/>
          <a:p>
            <a:pPr algn="l">
              <a:spcAft>
                <a:spcPts val="600"/>
              </a:spcAft>
            </a:pPr>
            <a:r>
              <a:rPr sz="1500" b="1" i="0">
                <a:solidFill>
                  <a:srgbClr val="1F3A5F"/>
                </a:solidFill>
                <a:latin typeface="Arial"/>
              </a:rPr>
              <a:t>What each pass did</a:t>
            </a:r>
          </a:p>
        </p:txBody>
      </p:sp>
      <p:sp>
        <p:nvSpPr>
          <p:cNvPr id="14" name="TextBox 13"/>
          <p:cNvSpPr txBox="1"/>
          <p:nvPr/>
        </p:nvSpPr>
        <p:spPr>
          <a:xfrm>
            <a:off x="7680960" y="1645920"/>
            <a:ext cx="3959352" cy="4023360"/>
          </a:xfrm>
          <a:prstGeom prst="rect">
            <a:avLst/>
          </a:prstGeom>
          <a:noFill/>
        </p:spPr>
        <p:txBody>
          <a:bodyPr wrap="square" lIns="45720" tIns="36576" rIns="45720" bIns="36576">
            <a:spAutoFit/>
          </a:bodyPr>
          <a:lstStyle/>
          <a:p>
            <a:pPr marL="201168" indent="-201168" algn="l">
              <a:spcAft>
                <a:spcPts val="700"/>
              </a:spcAft>
              <a:buChar char="•"/>
            </a:pPr>
            <a:r>
              <a:rPr sz="1400" b="1" i="0">
                <a:solidFill>
                  <a:srgbClr val="1A1A1A"/>
                </a:solidFill>
                <a:latin typeface="Arial"/>
              </a:rPr>
              <a:t>fold:</a:t>
            </a:r>
            <a:r>
              <a:rPr sz="1400" b="0" i="0">
                <a:solidFill>
                  <a:srgbClr val="1A1A1A"/>
                </a:solidFill>
                <a:latin typeface="Arial"/>
              </a:rPr>
              <a:t> </a:t>
            </a:r>
            <a:r>
              <a:rPr sz="1400" b="0" i="0">
                <a:solidFill>
                  <a:srgbClr val="1A1A1A"/>
                </a:solidFill>
                <a:latin typeface="Courier New"/>
              </a:rPr>
              <a:t>1 - 1</a:t>
            </a:r>
            <a:r>
              <a:rPr sz="1400" b="0" i="0">
                <a:solidFill>
                  <a:srgbClr val="1A1A1A"/>
                </a:solidFill>
                <a:latin typeface="Arial"/>
              </a:rPr>
              <a:t> becomes </a:t>
            </a:r>
            <a:r>
              <a:rPr sz="1400" b="0" i="0">
                <a:solidFill>
                  <a:srgbClr val="1A1A1A"/>
                </a:solidFill>
                <a:latin typeface="Courier New"/>
              </a:rPr>
              <a:t>0</a:t>
            </a:r>
            <a:r>
              <a:rPr sz="1400" b="0" i="0">
                <a:solidFill>
                  <a:srgbClr val="1A1A1A"/>
                </a:solidFill>
                <a:latin typeface="Arial"/>
              </a:rPr>
              <a:t>; </a:t>
            </a:r>
            <a:r>
              <a:rPr sz="1400" b="0" i="0">
                <a:solidFill>
                  <a:srgbClr val="1A1A1A"/>
                </a:solidFill>
                <a:latin typeface="Courier New"/>
              </a:rPr>
              <a:t>3 + 4</a:t>
            </a:r>
            <a:r>
              <a:rPr sz="1400" b="0" i="0">
                <a:solidFill>
                  <a:srgbClr val="1A1A1A"/>
                </a:solidFill>
                <a:latin typeface="Arial"/>
              </a:rPr>
              <a:t> becomes </a:t>
            </a:r>
            <a:r>
              <a:rPr sz="1400" b="0" i="0">
                <a:solidFill>
                  <a:srgbClr val="1A1A1A"/>
                </a:solidFill>
                <a:latin typeface="Courier New"/>
              </a:rPr>
              <a:t>7</a:t>
            </a:r>
          </a:p>
          <a:p>
            <a:pPr marL="201168" indent="-201168" algn="l">
              <a:spcAft>
                <a:spcPts val="700"/>
              </a:spcAft>
              <a:buChar char="•"/>
            </a:pPr>
            <a:r>
              <a:rPr sz="1400" b="1" i="0">
                <a:solidFill>
                  <a:srgbClr val="1A1A1A"/>
                </a:solidFill>
                <a:latin typeface="Arial"/>
              </a:rPr>
              <a:t>propagate:</a:t>
            </a:r>
            <a:r>
              <a:rPr sz="1400" b="0" i="0">
                <a:solidFill>
                  <a:srgbClr val="1A1A1A"/>
                </a:solidFill>
                <a:latin typeface="Arial"/>
              </a:rPr>
              <a:t> </a:t>
            </a:r>
            <a:r>
              <a:rPr sz="1400" b="0" i="0">
                <a:solidFill>
                  <a:srgbClr val="1A1A1A"/>
                </a:solidFill>
                <a:latin typeface="Courier New"/>
              </a:rPr>
              <a:t>a</a:t>
            </a:r>
            <a:r>
              <a:rPr sz="1400" b="0" i="0">
                <a:solidFill>
                  <a:srgbClr val="1A1A1A"/>
                </a:solidFill>
                <a:latin typeface="Arial"/>
              </a:rPr>
              <a:t> is known to be 4, so </a:t>
            </a:r>
            <a:r>
              <a:rPr sz="1400" b="0" i="0">
                <a:solidFill>
                  <a:srgbClr val="1A1A1A"/>
                </a:solidFill>
                <a:latin typeface="Courier New"/>
              </a:rPr>
              <a:t>a * 2</a:t>
            </a:r>
            <a:r>
              <a:rPr sz="1400" b="0" i="0">
                <a:solidFill>
                  <a:srgbClr val="1A1A1A"/>
                </a:solidFill>
                <a:latin typeface="Arial"/>
              </a:rPr>
              <a:t> becomes </a:t>
            </a:r>
            <a:r>
              <a:rPr sz="1400" b="0" i="0">
                <a:solidFill>
                  <a:srgbClr val="1A1A1A"/>
                </a:solidFill>
                <a:latin typeface="Courier New"/>
              </a:rPr>
              <a:t>4 * 2</a:t>
            </a:r>
          </a:p>
          <a:p>
            <a:pPr marL="201168" indent="-201168" algn="l">
              <a:spcAft>
                <a:spcPts val="700"/>
              </a:spcAft>
              <a:buChar char="•"/>
            </a:pPr>
            <a:r>
              <a:rPr sz="1400" b="1" i="0">
                <a:solidFill>
                  <a:srgbClr val="1A1A1A"/>
                </a:solidFill>
                <a:latin typeface="Arial"/>
              </a:rPr>
              <a:t>simplify:</a:t>
            </a:r>
            <a:r>
              <a:rPr sz="1400" b="0" i="0">
                <a:solidFill>
                  <a:srgbClr val="1A1A1A"/>
                </a:solidFill>
                <a:latin typeface="Arial"/>
              </a:rPr>
              <a:t> </a:t>
            </a:r>
            <a:r>
              <a:rPr sz="1400" b="0" i="0">
                <a:solidFill>
                  <a:srgbClr val="1A1A1A"/>
                </a:solidFill>
                <a:latin typeface="Courier New"/>
              </a:rPr>
              <a:t>b + 0</a:t>
            </a:r>
            <a:r>
              <a:rPr sz="1400" b="0" i="0">
                <a:solidFill>
                  <a:srgbClr val="1A1A1A"/>
                </a:solidFill>
                <a:latin typeface="Arial"/>
              </a:rPr>
              <a:t> becomes </a:t>
            </a:r>
            <a:r>
              <a:rPr sz="1400" b="0" i="0">
                <a:solidFill>
                  <a:srgbClr val="1A1A1A"/>
                </a:solidFill>
                <a:latin typeface="Courier New"/>
              </a:rPr>
              <a:t>b</a:t>
            </a:r>
            <a:r>
              <a:rPr sz="1400" b="0" i="0">
                <a:solidFill>
                  <a:srgbClr val="1A1A1A"/>
                </a:solidFill>
                <a:latin typeface="Arial"/>
              </a:rPr>
              <a:t>; </a:t>
            </a:r>
            <a:r>
              <a:rPr sz="1400" b="0" i="0">
                <a:solidFill>
                  <a:srgbClr val="1A1A1A"/>
                </a:solidFill>
                <a:latin typeface="Courier New"/>
              </a:rPr>
              <a:t>b - b</a:t>
            </a:r>
            <a:r>
              <a:rPr sz="1400" b="0" i="0">
                <a:solidFill>
                  <a:srgbClr val="1A1A1A"/>
                </a:solidFill>
                <a:latin typeface="Arial"/>
              </a:rPr>
              <a:t> becomes </a:t>
            </a:r>
            <a:r>
              <a:rPr sz="1400" b="0" i="0">
                <a:solidFill>
                  <a:srgbClr val="1A1A1A"/>
                </a:solidFill>
                <a:latin typeface="Courier New"/>
              </a:rPr>
              <a:t>0</a:t>
            </a:r>
            <a:r>
              <a:rPr sz="1400" b="0" i="0">
                <a:solidFill>
                  <a:srgbClr val="1A1A1A"/>
                </a:solidFill>
                <a:latin typeface="Arial"/>
              </a:rPr>
              <a:t>; </a:t>
            </a:r>
            <a:r>
              <a:rPr sz="1400" b="0" i="0">
                <a:solidFill>
                  <a:srgbClr val="1A1A1A"/>
                </a:solidFill>
                <a:latin typeface="Courier New"/>
              </a:rPr>
              <a:t>b * 1</a:t>
            </a:r>
            <a:r>
              <a:rPr sz="1400" b="0" i="0">
                <a:solidFill>
                  <a:srgbClr val="1A1A1A"/>
                </a:solidFill>
                <a:latin typeface="Arial"/>
              </a:rPr>
              <a:t> becomes </a:t>
            </a:r>
            <a:r>
              <a:rPr sz="1400" b="0" i="0">
                <a:solidFill>
                  <a:srgbClr val="1A1A1A"/>
                </a:solidFill>
                <a:latin typeface="Courier New"/>
              </a:rPr>
              <a:t>b</a:t>
            </a:r>
          </a:p>
          <a:p>
            <a:pPr marL="201168" indent="-201168" algn="l">
              <a:spcAft>
                <a:spcPts val="700"/>
              </a:spcAft>
              <a:buChar char="•"/>
            </a:pPr>
            <a:r>
              <a:rPr sz="1400" b="1" i="0">
                <a:solidFill>
                  <a:srgbClr val="1A1A1A"/>
                </a:solidFill>
                <a:latin typeface="Arial"/>
              </a:rPr>
              <a:t>dce:</a:t>
            </a:r>
            <a:r>
              <a:rPr sz="1400" b="0" i="0">
                <a:solidFill>
                  <a:srgbClr val="1A1A1A"/>
                </a:solidFill>
                <a:latin typeface="Arial"/>
              </a:rPr>
              <a:t> removes assignments never used (</a:t>
            </a:r>
            <a:r>
              <a:rPr sz="1400" b="0" i="0">
                <a:solidFill>
                  <a:srgbClr val="1A1A1A"/>
                </a:solidFill>
                <a:latin typeface="Courier New"/>
              </a:rPr>
              <a:t>unused</a:t>
            </a:r>
            <a:r>
              <a:rPr sz="1400" b="0" i="0">
                <a:solidFill>
                  <a:srgbClr val="1A1A1A"/>
                </a:solidFill>
                <a:latin typeface="Arial"/>
              </a:rPr>
              <a:t>, </a:t>
            </a:r>
            <a:r>
              <a:rPr sz="1400" b="0" i="0">
                <a:solidFill>
                  <a:srgbClr val="1A1A1A"/>
                </a:solidFill>
                <a:latin typeface="Courier New"/>
              </a:rPr>
              <a:t>z</a:t>
            </a:r>
            <a:r>
              <a:rPr sz="1400" b="0" i="0">
                <a:solidFill>
                  <a:srgbClr val="1A1A1A"/>
                </a:solidFill>
                <a:latin typeface="Arial"/>
              </a:rPr>
              <a:t>, </a:t>
            </a:r>
            <a:r>
              <a:rPr sz="1400" b="0" i="0">
                <a:solidFill>
                  <a:srgbClr val="1A1A1A"/>
                </a:solidFill>
                <a:latin typeface="Courier New"/>
              </a:rPr>
              <a:t>a</a:t>
            </a:r>
            <a:r>
              <a:rPr sz="1400" b="0" i="0">
                <a:solidFill>
                  <a:srgbClr val="1A1A1A"/>
                </a:solidFill>
                <a:latin typeface="Arial"/>
              </a:rPr>
              <a:t>)</a:t>
            </a:r>
          </a:p>
          <a:p>
            <a:pPr marL="201168" indent="-201168" algn="l">
              <a:spcAft>
                <a:spcPts val="700"/>
              </a:spcAft>
              <a:buChar char="•"/>
            </a:pPr>
            <a:r>
              <a:rPr sz="1400" b="0" i="0">
                <a:solidFill>
                  <a:srgbClr val="1A1A1A"/>
                </a:solidFill>
                <a:latin typeface="Arial"/>
              </a:rPr>
              <a:t>Repeated until nothing changes: fixed point after 3 iterations</a:t>
            </a:r>
          </a:p>
          <a:p>
            <a:pPr marL="201168" indent="-201168" algn="l">
              <a:spcAft>
                <a:spcPts val="700"/>
              </a:spcAft>
              <a:buChar char="•"/>
            </a:pPr>
            <a:r>
              <a:rPr sz="1400" b="0" i="0">
                <a:solidFill>
                  <a:srgbClr val="1A1A1A"/>
                </a:solidFill>
                <a:latin typeface="Arial"/>
              </a:rPr>
              <a:t>Printed output is unchanged: 8 and 28</a:t>
            </a:r>
          </a:p>
        </p:txBody>
      </p:sp>
      <p:sp>
        <p:nvSpPr>
          <p:cNvPr id="15" name="TextBox 14"/>
          <p:cNvSpPr txBox="1"/>
          <p:nvPr/>
        </p:nvSpPr>
        <p:spPr>
          <a:xfrm>
            <a:off x="548640" y="5852160"/>
            <a:ext cx="11091672" cy="457200"/>
          </a:xfrm>
          <a:prstGeom prst="rect">
            <a:avLst/>
          </a:prstGeom>
          <a:noFill/>
        </p:spPr>
        <p:txBody>
          <a:bodyPr wrap="square" lIns="45720" tIns="36576" rIns="45720" bIns="36576">
            <a:spAutoFit/>
          </a:bodyPr>
          <a:lstStyle/>
          <a:p>
            <a:pPr algn="l">
              <a:spcAft>
                <a:spcPts val="600"/>
              </a:spcAft>
            </a:pPr>
            <a:r>
              <a:rPr sz="1200" b="0" i="0">
                <a:solidFill>
                  <a:srgbClr val="5A6270"/>
                </a:solidFill>
                <a:latin typeface="Arial"/>
              </a:rPr>
              <a:t>Real output captured in docs/DEMO.md (scripts/make_demo.sh, 2026-10-14). The source is NOVA Script, not 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Example: one SmartPass tuning run</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10 / 14</a:t>
            </a:r>
          </a:p>
        </p:txBody>
      </p:sp>
      <p:sp>
        <p:nvSpPr>
          <p:cNvPr id="5" name="TextBox 4"/>
          <p:cNvSpPr txBox="1"/>
          <p:nvPr/>
        </p:nvSpPr>
        <p:spPr>
          <a:xfrm>
            <a:off x="548640" y="1280160"/>
            <a:ext cx="5029200" cy="320040"/>
          </a:xfrm>
          <a:prstGeom prst="rect">
            <a:avLst/>
          </a:prstGeom>
          <a:noFill/>
        </p:spPr>
        <p:txBody>
          <a:bodyPr wrap="square" lIns="45720" tIns="36576" rIns="45720" bIns="36576">
            <a:spAutoFit/>
          </a:bodyPr>
          <a:lstStyle/>
          <a:p>
            <a:pPr algn="l">
              <a:spcAft>
                <a:spcPts val="600"/>
              </a:spcAft>
            </a:pPr>
            <a:r>
              <a:rPr sz="1400" b="1" i="0">
                <a:solidFill>
                  <a:srgbClr val="1F3A5F"/>
                </a:solidFill>
                <a:latin typeface="Arial"/>
              </a:rPr>
              <a:t>Kernel being tuned (C++, benchmarks/kernels/stencil.cpp)</a:t>
            </a:r>
          </a:p>
        </p:txBody>
      </p:sp>
      <p:sp>
        <p:nvSpPr>
          <p:cNvPr id="6" name="Stencil kernel"/>
          <p:cNvSpPr/>
          <p:nvPr/>
        </p:nvSpPr>
        <p:spPr>
          <a:xfrm>
            <a:off x="548640" y="1645920"/>
            <a:ext cx="5029200" cy="1874519"/>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200">
                <a:solidFill>
                  <a:srgbClr val="1A1A1A"/>
                </a:solidFill>
                <a:latin typeface="Courier New"/>
              </a:rPr>
              <a:t>for (int step = 0; step &lt; kSteps; ++step) {</a:t>
            </a:r>
          </a:p>
          <a:p>
            <a:pPr algn="l">
              <a:spcAft>
                <a:spcPts val="0"/>
              </a:spcAft>
            </a:pPr>
            <a:r>
              <a:rPr sz="1200">
                <a:solidFill>
                  <a:srgbClr val="1A1A1A"/>
                </a:solidFill>
                <a:latin typeface="Courier New"/>
              </a:rPr>
              <a:t>  next[0] = cur[0];</a:t>
            </a:r>
          </a:p>
          <a:p>
            <a:pPr algn="l">
              <a:spcAft>
                <a:spcPts val="0"/>
              </a:spcAft>
            </a:pPr>
            <a:r>
              <a:rPr sz="1200">
                <a:solidFill>
                  <a:srgbClr val="1A1A1A"/>
                </a:solidFill>
                <a:latin typeface="Courier New"/>
              </a:rPr>
              <a:t>  next[n - 1] = cur[n - 1];</a:t>
            </a:r>
          </a:p>
          <a:p>
            <a:pPr algn="l">
              <a:spcAft>
                <a:spcPts val="0"/>
              </a:spcAft>
            </a:pPr>
            <a:r>
              <a:rPr sz="1200">
                <a:solidFill>
                  <a:srgbClr val="1A1A1A"/>
                </a:solidFill>
                <a:latin typeface="Courier New"/>
              </a:rPr>
              <a:t>  for (std::size_t i = 1; i + 1 &lt; n; ++i)</a:t>
            </a:r>
          </a:p>
          <a:p>
            <a:pPr algn="l">
              <a:spcAft>
                <a:spcPts val="0"/>
              </a:spcAft>
            </a:pPr>
            <a:r>
              <a:rPr sz="1200">
                <a:solidFill>
                  <a:srgbClr val="1A1A1A"/>
                </a:solidFill>
                <a:latin typeface="Courier New"/>
              </a:rPr>
              <a:t>    next[i] = 0.25 * cur[i - 1] + 0.5 * cur[i]</a:t>
            </a:r>
          </a:p>
          <a:p>
            <a:pPr algn="l">
              <a:spcAft>
                <a:spcPts val="0"/>
              </a:spcAft>
            </a:pPr>
            <a:r>
              <a:rPr sz="1200">
                <a:solidFill>
                  <a:srgbClr val="1A1A1A"/>
                </a:solidFill>
                <a:latin typeface="Courier New"/>
              </a:rPr>
              <a:t>            + 0.25 * cur[i + 1];</a:t>
            </a:r>
          </a:p>
          <a:p>
            <a:pPr algn="l">
              <a:spcAft>
                <a:spcPts val="0"/>
              </a:spcAft>
            </a:pPr>
            <a:r>
              <a:rPr sz="1200">
                <a:solidFill>
                  <a:srgbClr val="1A1A1A"/>
                </a:solidFill>
                <a:latin typeface="Courier New"/>
              </a:rPr>
              <a:t>  std::swap(cur, next);</a:t>
            </a:r>
          </a:p>
          <a:p>
            <a:pPr algn="l">
              <a:spcAft>
                <a:spcPts val="0"/>
              </a:spcAft>
            </a:pPr>
            <a:r>
              <a:rPr sz="1200">
                <a:solidFill>
                  <a:srgbClr val="1A1A1A"/>
                </a:solidFill>
                <a:latin typeface="Courier New"/>
              </a:rPr>
              <a:t>}</a:t>
            </a:r>
          </a:p>
        </p:txBody>
      </p:sp>
      <p:sp>
        <p:nvSpPr>
          <p:cNvPr id="7" name="TextBox 6"/>
          <p:cNvSpPr txBox="1"/>
          <p:nvPr/>
        </p:nvSpPr>
        <p:spPr>
          <a:xfrm>
            <a:off x="548640" y="3657600"/>
            <a:ext cx="5029200" cy="320040"/>
          </a:xfrm>
          <a:prstGeom prst="rect">
            <a:avLst/>
          </a:prstGeom>
          <a:noFill/>
        </p:spPr>
        <p:txBody>
          <a:bodyPr wrap="square" lIns="45720" tIns="36576" rIns="45720" bIns="36576">
            <a:spAutoFit/>
          </a:bodyPr>
          <a:lstStyle/>
          <a:p>
            <a:pPr algn="l">
              <a:spcAft>
                <a:spcPts val="600"/>
              </a:spcAft>
            </a:pPr>
            <a:r>
              <a:rPr sz="1400" b="1" i="0">
                <a:solidFill>
                  <a:srgbClr val="1F3A5F"/>
                </a:solidFill>
                <a:latin typeface="Arial"/>
              </a:rPr>
              <a:t>Command (some options trimmed)</a:t>
            </a:r>
          </a:p>
        </p:txBody>
      </p:sp>
      <p:sp>
        <p:nvSpPr>
          <p:cNvPr id="8" name="tune command"/>
          <p:cNvSpPr/>
          <p:nvPr/>
        </p:nvSpPr>
        <p:spPr>
          <a:xfrm>
            <a:off x="548640" y="4023360"/>
            <a:ext cx="5029200" cy="868680"/>
          </a:xfrm>
          <a:prstGeom prst="rect">
            <a:avLst/>
          </a:prstGeom>
          <a:solidFill>
            <a:srgbClr val="F5F6F8"/>
          </a:solidFill>
          <a:ln w="9525">
            <a:solidFill>
              <a:srgbClr val="C5CDD8"/>
            </a:solidFill>
          </a:ln>
          <a:effectLst/>
        </p:spPr>
        <p:style>
          <a:lnRef idx="1">
            <a:schemeClr val="accent1"/>
          </a:lnRef>
          <a:fillRef idx="3">
            <a:schemeClr val="accent1"/>
          </a:fillRef>
          <a:effectRef idx="0">
            <a:schemeClr val="accent1"/>
          </a:effectRef>
          <a:fontRef idx="minor">
            <a:schemeClr val="lt1"/>
          </a:fontRef>
        </p:style>
        <p:txBody>
          <a:bodyPr wrap="square" tIns="54864" bIns="54864" rtlCol="0" anchor="t"/>
          <a:lstStyle/>
          <a:p>
            <a:pPr algn="l">
              <a:spcAft>
                <a:spcPts val="0"/>
              </a:spcAft>
            </a:pPr>
            <a:r>
              <a:rPr sz="1200">
                <a:solidFill>
                  <a:srgbClr val="1A1A1A"/>
                </a:solidFill>
                <a:latin typeface="Courier New"/>
              </a:rPr>
              <a:t>nova tune stencil --budget=3 --strategy=adaptive</a:t>
            </a:r>
          </a:p>
          <a:p>
            <a:pPr algn="l">
              <a:spcAft>
                <a:spcPts val="0"/>
              </a:spcAft>
            </a:pPr>
            <a:r>
              <a:rPr sz="1200">
                <a:solidFill>
                  <a:srgbClr val="1A1A1A"/>
                </a:solidFill>
                <a:latin typeface="Courier New"/>
              </a:rPr>
              <a:t>     --seed=1 --reps=5 --warmup=1 --pilot-reps=3</a:t>
            </a:r>
          </a:p>
          <a:p>
            <a:pPr algn="l">
              <a:spcAft>
                <a:spcPts val="0"/>
              </a:spcAft>
            </a:pPr>
            <a:r>
              <a:rPr sz="1200">
                <a:solidFill>
                  <a:srgbClr val="1A1A1A"/>
                </a:solidFill>
                <a:latin typeface="Courier New"/>
              </a:rPr>
              <a:t>     --affinity=10 --high-priority</a:t>
            </a:r>
          </a:p>
        </p:txBody>
      </p:sp>
      <p:sp>
        <p:nvSpPr>
          <p:cNvPr id="9" name="TextBox 8"/>
          <p:cNvSpPr txBox="1"/>
          <p:nvPr/>
        </p:nvSpPr>
        <p:spPr>
          <a:xfrm>
            <a:off x="548640" y="5029200"/>
            <a:ext cx="5029200" cy="822960"/>
          </a:xfrm>
          <a:prstGeom prst="rect">
            <a:avLst/>
          </a:prstGeom>
          <a:noFill/>
        </p:spPr>
        <p:txBody>
          <a:bodyPr wrap="square" lIns="45720" tIns="36576" rIns="45720" bIns="36576">
            <a:spAutoFit/>
          </a:bodyPr>
          <a:lstStyle/>
          <a:p>
            <a:pPr algn="l">
              <a:spcAft>
                <a:spcPts val="600"/>
              </a:spcAft>
            </a:pPr>
            <a:r>
              <a:rPr sz="1300" b="0" i="0">
                <a:solidFill>
                  <a:srgbClr val="1A1A1A"/>
                </a:solidFill>
                <a:latin typeface="Arial"/>
              </a:rPr>
              <a:t>Guard: </a:t>
            </a:r>
            <a:r>
              <a:rPr sz="1300" b="0" i="0">
                <a:solidFill>
                  <a:srgbClr val="1A1A1A"/>
                </a:solidFill>
                <a:latin typeface="Courier New"/>
              </a:rPr>
              <a:t>nova tune matmul --budget=2 --size=320</a:t>
            </a:r>
            <a:r>
              <a:rPr sz="1300" b="0" i="0">
                <a:solidFill>
                  <a:srgbClr val="1A1A1A"/>
                </a:solidFill>
                <a:latin typeface="Arial"/>
              </a:rPr>
              <a:t> is refused because 320 is a reserved holdout size.</a:t>
            </a:r>
          </a:p>
        </p:txBody>
      </p:sp>
      <p:sp>
        <p:nvSpPr>
          <p:cNvPr id="10" name="TextBox 9"/>
          <p:cNvSpPr txBox="1"/>
          <p:nvPr/>
        </p:nvSpPr>
        <p:spPr>
          <a:xfrm>
            <a:off x="5852160" y="1280160"/>
            <a:ext cx="5760720" cy="320040"/>
          </a:xfrm>
          <a:prstGeom prst="rect">
            <a:avLst/>
          </a:prstGeom>
          <a:noFill/>
        </p:spPr>
        <p:txBody>
          <a:bodyPr wrap="square" lIns="45720" tIns="36576" rIns="45720" bIns="36576">
            <a:spAutoFit/>
          </a:bodyPr>
          <a:lstStyle/>
          <a:p>
            <a:pPr algn="l">
              <a:spcAft>
                <a:spcPts val="600"/>
              </a:spcAft>
            </a:pPr>
            <a:r>
              <a:rPr sz="1400" b="1" i="0">
                <a:solidFill>
                  <a:srgbClr val="1F3A5F"/>
                </a:solidFill>
                <a:latin typeface="Arial"/>
              </a:rPr>
              <a:t>Result (</a:t>
            </a:r>
            <a:r>
              <a:rPr sz="1400" b="1" i="0">
                <a:solidFill>
                  <a:srgbClr val="1F3A5F"/>
                </a:solidFill>
                <a:latin typeface="Courier New"/>
              </a:rPr>
              <a:t>nova explain</a:t>
            </a:r>
            <a:r>
              <a:rPr sz="1400" b="1" i="0">
                <a:solidFill>
                  <a:srgbClr val="1F3A5F"/>
                </a:solidFill>
                <a:latin typeface="Arial"/>
              </a:rPr>
              <a:t>): stencil, n = 200,000</a:t>
            </a:r>
          </a:p>
        </p:txBody>
      </p:sp>
      <p:graphicFrame>
        <p:nvGraphicFramePr>
          <p:cNvPr id="11" name="Tuning result"/>
          <p:cNvGraphicFramePr>
            <a:graphicFrameLocks noGrp="1"/>
          </p:cNvGraphicFramePr>
          <p:nvPr/>
        </p:nvGraphicFramePr>
        <p:xfrm>
          <a:off x="5852160" y="1645920"/>
          <a:ext cx="5788152" cy="2304288"/>
        </p:xfrm>
        <a:graphic>
          <a:graphicData uri="http://schemas.openxmlformats.org/drawingml/2006/table">
            <a:tbl>
              <a:tblPr firstRow="1">
                <a:tableStyleId>{5C22544A-7EE6-4342-B048-85BDC9FD1C3A}</a:tableStyleId>
              </a:tblPr>
              <a:tblGrid>
                <a:gridCol w="5943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987552">
                  <a:extLst>
                    <a:ext uri="{9D8B030D-6E8A-4147-A177-3AD203B41FA5}">
                      <a16:colId xmlns:a16="http://schemas.microsoft.com/office/drawing/2014/main" val="20003"/>
                    </a:ext>
                  </a:extLst>
                </a:gridCol>
              </a:tblGrid>
              <a:tr h="384048">
                <a:tc>
                  <a:txBody>
                    <a:bodyPr/>
                    <a:lstStyle/>
                    <a:p>
                      <a:r>
                        <a:rPr sz="1200" b="1">
                          <a:solidFill>
                            <a:srgbClr val="FFFFFF"/>
                          </a:solidFill>
                          <a:latin typeface="Arial"/>
                        </a:rPr>
                        <a:t>Rank</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200" b="1">
                          <a:solidFill>
                            <a:srgbClr val="FFFFFF"/>
                          </a:solidFill>
                          <a:latin typeface="Arial"/>
                        </a:rPr>
                        <a:t>Candidate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200" b="1">
                          <a:solidFill>
                            <a:srgbClr val="FFFFFF"/>
                          </a:solidFill>
                          <a:latin typeface="Arial"/>
                        </a:rPr>
                        <a:t>Median (ms)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200" b="1">
                          <a:solidFill>
                            <a:srgbClr val="FFFFFF"/>
                          </a:solidFill>
                          <a:latin typeface="Arial"/>
                        </a:rPr>
                        <a:t>Role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extLst>
                  <a:ext uri="{0D108BD9-81ED-4DB2-BD59-A6C34878D82A}">
                    <a16:rowId xmlns:a16="http://schemas.microsoft.com/office/drawing/2014/main" val="10000"/>
                  </a:ext>
                </a:extLst>
              </a:tr>
              <a:tr h="384048">
                <a:tc>
                  <a:txBody>
                    <a:bodyPr/>
                    <a:lstStyle/>
                    <a:p>
                      <a:r>
                        <a:rPr sz="1200" b="0">
                          <a:solidFill>
                            <a:srgbClr val="1A1A1A"/>
                          </a:solidFill>
                          <a:latin typeface="Arial"/>
                        </a:rPr>
                        <a:t>1</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Courier New"/>
                        </a:rPr>
                        <a:t>O3+unroll+native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Arial"/>
                        </a:rPr>
                        <a:t>8.8802</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Arial"/>
                        </a:rPr>
                        <a:t>winner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1"/>
                  </a:ext>
                </a:extLst>
              </a:tr>
              <a:tr h="384048">
                <a:tc>
                  <a:txBody>
                    <a:bodyPr/>
                    <a:lstStyle/>
                    <a:p>
                      <a:r>
                        <a:rPr sz="1200" b="0">
                          <a:solidFill>
                            <a:srgbClr val="1A1A1A"/>
                          </a:solidFill>
                          <a:latin typeface="Arial"/>
                        </a:rPr>
                        <a:t>2</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Courier New"/>
                        </a:rPr>
                        <a:t>O3+prefetch+unroll+native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Arial"/>
                        </a:rPr>
                        <a:t>8.9703</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Arial"/>
                        </a:rPr>
                        <a:t>searched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2"/>
                  </a:ext>
                </a:extLst>
              </a:tr>
              <a:tr h="384048">
                <a:tc>
                  <a:txBody>
                    <a:bodyPr/>
                    <a:lstStyle/>
                    <a:p>
                      <a:r>
                        <a:rPr sz="1200" b="0">
                          <a:solidFill>
                            <a:srgbClr val="1A1A1A"/>
                          </a:solidFill>
                          <a:latin typeface="Arial"/>
                        </a:rPr>
                        <a:t>3</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Courier New"/>
                        </a:rPr>
                        <a:t>O2+prefetch+vec+unroll+native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Arial"/>
                        </a:rPr>
                        <a:t>8.9868</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Arial"/>
                        </a:rPr>
                        <a:t>searched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3"/>
                  </a:ext>
                </a:extLst>
              </a:tr>
              <a:tr h="384048">
                <a:tc>
                  <a:txBody>
                    <a:bodyPr/>
                    <a:lstStyle/>
                    <a:p>
                      <a:r>
                        <a:rPr sz="1200" b="0">
                          <a:solidFill>
                            <a:srgbClr val="1A1A1A"/>
                          </a:solidFill>
                          <a:latin typeface="Arial"/>
                        </a:rPr>
                        <a:t>4</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Courier New"/>
                        </a:rPr>
                        <a:t>O3</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Arial"/>
                        </a:rPr>
                        <a:t>11.9338</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Arial"/>
                        </a:rPr>
                        <a:t>baseline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4"/>
                  </a:ext>
                </a:extLst>
              </a:tr>
              <a:tr h="384048">
                <a:tc>
                  <a:txBody>
                    <a:bodyPr/>
                    <a:lstStyle/>
                    <a:p>
                      <a:r>
                        <a:rPr sz="1200" b="0">
                          <a:solidFill>
                            <a:srgbClr val="1A1A1A"/>
                          </a:solidFill>
                          <a:latin typeface="Arial"/>
                        </a:rPr>
                        <a:t>5</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Courier New"/>
                        </a:rPr>
                        <a:t>O2</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Arial"/>
                        </a:rPr>
                        <a:t>16.1736</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00" b="0">
                          <a:solidFill>
                            <a:srgbClr val="1A1A1A"/>
                          </a:solidFill>
                          <a:latin typeface="Arial"/>
                        </a:rPr>
                        <a:t>baseline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5852160" y="4114800"/>
            <a:ext cx="5760720" cy="1737360"/>
          </a:xfrm>
          <a:prstGeom prst="rect">
            <a:avLst/>
          </a:prstGeom>
          <a:noFill/>
        </p:spPr>
        <p:txBody>
          <a:bodyPr wrap="square" lIns="45720" tIns="36576" rIns="45720" bIns="36576">
            <a:spAutoFit/>
          </a:bodyPr>
          <a:lstStyle/>
          <a:p>
            <a:pPr marL="201168" indent="-201168" algn="l">
              <a:spcAft>
                <a:spcPts val="600"/>
              </a:spcAft>
              <a:buChar char="•"/>
            </a:pPr>
            <a:r>
              <a:rPr sz="1400" b="0" i="0">
                <a:solidFill>
                  <a:srgbClr val="1A1A1A"/>
                </a:solidFill>
                <a:latin typeface="Arial"/>
              </a:rPr>
              <a:t>All 5 candidates built and passed the correctness check.</a:t>
            </a:r>
          </a:p>
          <a:p>
            <a:pPr marL="201168" indent="-201168" algn="l">
              <a:spcAft>
                <a:spcPts val="600"/>
              </a:spcAft>
              <a:buChar char="•"/>
            </a:pPr>
            <a:r>
              <a:rPr sz="1400" b="0" i="0">
                <a:solidFill>
                  <a:srgbClr val="1A1A1A"/>
                </a:solidFill>
                <a:latin typeface="Arial"/>
              </a:rPr>
              <a:t>Winner vs better baseline (</a:t>
            </a:r>
            <a:r>
              <a:rPr sz="1400" b="0" i="0">
                <a:solidFill>
                  <a:srgbClr val="1A1A1A"/>
                </a:solidFill>
                <a:latin typeface="Courier New"/>
              </a:rPr>
              <a:t>-O3</a:t>
            </a:r>
            <a:r>
              <a:rPr sz="1400" b="0" i="0">
                <a:solidFill>
                  <a:srgbClr val="1A1A1A"/>
                </a:solidFill>
                <a:latin typeface="Arial"/>
              </a:rPr>
              <a:t>): ratio of medians </a:t>
            </a:r>
            <a:r>
              <a:rPr sz="1400" b="1" i="0">
                <a:solidFill>
                  <a:srgbClr val="1A1A1A"/>
                </a:solidFill>
                <a:latin typeface="Arial"/>
              </a:rPr>
              <a:t>1.344</a:t>
            </a:r>
            <a:r>
              <a:rPr sz="1400" b="0" i="0">
                <a:solidFill>
                  <a:srgbClr val="1A1A1A"/>
                </a:solidFill>
                <a:latin typeface="Arial"/>
              </a:rPr>
              <a:t>; the interquartile ranges do not overlap.</a:t>
            </a:r>
          </a:p>
          <a:p>
            <a:pPr marL="201168" indent="-201168" algn="l">
              <a:spcAft>
                <a:spcPts val="600"/>
              </a:spcAft>
              <a:buChar char="•"/>
            </a:pPr>
            <a:r>
              <a:rPr sz="1400" b="0" i="0">
                <a:solidFill>
                  <a:srgbClr val="1A1A1A"/>
                </a:solidFill>
                <a:latin typeface="Arial"/>
              </a:rPr>
              <a:t>Winner flags: </a:t>
            </a:r>
            <a:r>
              <a:rPr sz="1400" b="0" i="0">
                <a:solidFill>
                  <a:srgbClr val="1A1A1A"/>
                </a:solidFill>
                <a:latin typeface="Courier New"/>
              </a:rPr>
              <a:t>-O3 -funroll-loops -march=native</a:t>
            </a:r>
            <a:r>
              <a:rPr sz="1400" b="0" i="0">
                <a:solidFill>
                  <a:srgbClr val="1A1A1A"/>
                </a:solidFill>
                <a:latin typeface="Arial"/>
              </a:rPr>
              <a:t>, plus fixed </a:t>
            </a:r>
            <a:r>
              <a:rPr sz="1400" b="0" i="0">
                <a:solidFill>
                  <a:srgbClr val="1A1A1A"/>
                </a:solidFill>
                <a:latin typeface="Courier New"/>
              </a:rPr>
              <a:t>-std=c++17 -msse2 -mfpmath=sse</a:t>
            </a:r>
            <a:r>
              <a:rPr sz="1400" b="0" i="0">
                <a:solidFill>
                  <a:srgbClr val="1A1A1A"/>
                </a:solidFill>
                <a:latin typeface="Arial"/>
              </a:rPr>
              <a:t>.</a:t>
            </a:r>
          </a:p>
        </p:txBody>
      </p:sp>
      <p:sp>
        <p:nvSpPr>
          <p:cNvPr id="13" name="TextBox 12"/>
          <p:cNvSpPr txBox="1"/>
          <p:nvPr/>
        </p:nvSpPr>
        <p:spPr>
          <a:xfrm>
            <a:off x="548640" y="5897880"/>
            <a:ext cx="11091672" cy="411480"/>
          </a:xfrm>
          <a:prstGeom prst="rect">
            <a:avLst/>
          </a:prstGeom>
          <a:noFill/>
        </p:spPr>
        <p:txBody>
          <a:bodyPr wrap="square" lIns="45720" tIns="36576" rIns="45720" bIns="36576">
            <a:spAutoFit/>
          </a:bodyPr>
          <a:lstStyle/>
          <a:p>
            <a:pPr algn="l">
              <a:spcAft>
                <a:spcPts val="600"/>
              </a:spcAft>
            </a:pPr>
            <a:r>
              <a:rPr sz="1200" b="0" i="0">
                <a:solidFill>
                  <a:srgbClr val="5A6270"/>
                </a:solidFill>
                <a:latin typeface="Arial"/>
              </a:rPr>
              <a:t>Real output captured in docs/DEMO.md. A demo with 5 repetitions on one tuning size shows the output format; it is not an evaluation result.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Testing and evaluation</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11 / 14</a:t>
            </a:r>
          </a:p>
        </p:txBody>
      </p:sp>
      <p:sp>
        <p:nvSpPr>
          <p:cNvPr id="5" name="TextBox 4"/>
          <p:cNvSpPr txBox="1"/>
          <p:nvPr/>
        </p:nvSpPr>
        <p:spPr>
          <a:xfrm>
            <a:off x="548640" y="1234440"/>
            <a:ext cx="5212080" cy="365760"/>
          </a:xfrm>
          <a:prstGeom prst="rect">
            <a:avLst/>
          </a:prstGeom>
          <a:noFill/>
        </p:spPr>
        <p:txBody>
          <a:bodyPr wrap="square" lIns="45720" tIns="36576" rIns="45720" bIns="36576">
            <a:spAutoFit/>
          </a:bodyPr>
          <a:lstStyle/>
          <a:p>
            <a:pPr algn="l">
              <a:spcAft>
                <a:spcPts val="600"/>
              </a:spcAft>
            </a:pPr>
            <a:r>
              <a:rPr sz="1700" b="1" i="0">
                <a:solidFill>
                  <a:srgbClr val="1F3A5F"/>
                </a:solidFill>
                <a:latin typeface="Arial"/>
              </a:rPr>
              <a:t>What is measured (all implemented)</a:t>
            </a:r>
          </a:p>
        </p:txBody>
      </p:sp>
      <p:sp>
        <p:nvSpPr>
          <p:cNvPr id="6" name="TextBox 5"/>
          <p:cNvSpPr txBox="1"/>
          <p:nvPr/>
        </p:nvSpPr>
        <p:spPr>
          <a:xfrm>
            <a:off x="548640" y="1645920"/>
            <a:ext cx="5212080" cy="4572000"/>
          </a:xfrm>
          <a:prstGeom prst="rect">
            <a:avLst/>
          </a:prstGeom>
          <a:noFill/>
        </p:spPr>
        <p:txBody>
          <a:bodyPr wrap="square" lIns="45720" tIns="36576" rIns="45720" bIns="36576">
            <a:spAutoFit/>
          </a:bodyPr>
          <a:lstStyle/>
          <a:p>
            <a:pPr marL="201168" indent="-201168" algn="l">
              <a:spcAft>
                <a:spcPts val="600"/>
              </a:spcAft>
              <a:buChar char="•"/>
            </a:pPr>
            <a:r>
              <a:rPr sz="1400" b="1" i="0">
                <a:solidFill>
                  <a:srgbClr val="1A1A1A"/>
                </a:solidFill>
                <a:latin typeface="Arial"/>
              </a:rPr>
              <a:t>Correctness:</a:t>
            </a:r>
            <a:r>
              <a:rPr sz="1400" b="0" i="0">
                <a:solidFill>
                  <a:srgbClr val="1A1A1A"/>
                </a:solidFill>
                <a:latin typeface="Arial"/>
              </a:rPr>
              <a:t> every build is run and checked against an independent reference; failures can never win (49/49 tests pass).</a:t>
            </a:r>
          </a:p>
          <a:p>
            <a:pPr marL="201168" indent="-201168" algn="l">
              <a:spcAft>
                <a:spcPts val="600"/>
              </a:spcAft>
              <a:buChar char="•"/>
            </a:pPr>
            <a:r>
              <a:rPr sz="1400" b="1" i="0">
                <a:solidFill>
                  <a:srgbClr val="1A1A1A"/>
                </a:solidFill>
                <a:latin typeface="Arial"/>
              </a:rPr>
              <a:t>Baselines:</a:t>
            </a:r>
            <a:r>
              <a:rPr sz="1400" b="0" i="0">
                <a:solidFill>
                  <a:srgbClr val="1A1A1A"/>
                </a:solidFill>
                <a:latin typeface="Arial"/>
              </a:rPr>
              <a:t> GCC </a:t>
            </a:r>
            <a:r>
              <a:rPr sz="1400" b="0" i="0">
                <a:solidFill>
                  <a:srgbClr val="1A1A1A"/>
                </a:solidFill>
                <a:latin typeface="Courier New"/>
              </a:rPr>
              <a:t>-O2</a:t>
            </a:r>
            <a:r>
              <a:rPr sz="1400" b="0" i="0">
                <a:solidFill>
                  <a:srgbClr val="1A1A1A"/>
                </a:solidFill>
                <a:latin typeface="Arial"/>
              </a:rPr>
              <a:t> and </a:t>
            </a:r>
            <a:r>
              <a:rPr sz="1400" b="0" i="0">
                <a:solidFill>
                  <a:srgbClr val="1A1A1A"/>
                </a:solidFill>
                <a:latin typeface="Courier New"/>
              </a:rPr>
              <a:t>-O3</a:t>
            </a:r>
            <a:r>
              <a:rPr sz="1400" b="0" i="0">
                <a:solidFill>
                  <a:srgbClr val="1A1A1A"/>
                </a:solidFill>
                <a:latin typeface="Arial"/>
              </a:rPr>
              <a:t> are timed in every experiment and not counted in the budget.</a:t>
            </a:r>
          </a:p>
          <a:p>
            <a:pPr marL="201168" indent="-201168" algn="l">
              <a:spcAft>
                <a:spcPts val="600"/>
              </a:spcAft>
              <a:buChar char="•"/>
            </a:pPr>
            <a:r>
              <a:rPr sz="1400" b="1" i="0">
                <a:solidFill>
                  <a:srgbClr val="1A1A1A"/>
                </a:solidFill>
                <a:latin typeface="Arial"/>
              </a:rPr>
              <a:t>Equal budget:</a:t>
            </a:r>
            <a:r>
              <a:rPr sz="1400" b="0" i="0">
                <a:solidFill>
                  <a:srgbClr val="1A1A1A"/>
                </a:solidFill>
                <a:latin typeface="Arial"/>
              </a:rPr>
              <a:t> fixed, random and adaptive each evaluate at most B candidates (B = 1 to 22).</a:t>
            </a:r>
          </a:p>
          <a:p>
            <a:pPr marL="201168" indent="-201168" algn="l">
              <a:spcAft>
                <a:spcPts val="600"/>
              </a:spcAft>
              <a:buChar char="•"/>
            </a:pPr>
            <a:r>
              <a:rPr sz="1400" b="1" i="0">
                <a:solidFill>
                  <a:srgbClr val="1A1A1A"/>
                </a:solidFill>
                <a:latin typeface="Arial"/>
              </a:rPr>
              <a:t>Timing:</a:t>
            </a:r>
            <a:r>
              <a:rPr sz="1400" b="0" i="0">
                <a:solidFill>
                  <a:srgbClr val="1A1A1A"/>
                </a:solidFill>
                <a:latin typeface="Arial"/>
              </a:rPr>
              <a:t> 2 warm-ups + 15 interleaved runs, median and IQR, CPU pinned; all raw samples saved.</a:t>
            </a:r>
          </a:p>
          <a:p>
            <a:pPr marL="201168" indent="-201168" algn="l">
              <a:spcAft>
                <a:spcPts val="600"/>
              </a:spcAft>
              <a:buChar char="•"/>
            </a:pPr>
            <a:r>
              <a:rPr sz="1400" b="1" i="0">
                <a:solidFill>
                  <a:srgbClr val="1A1A1A"/>
                </a:solidFill>
                <a:latin typeface="Arial"/>
              </a:rPr>
              <a:t>Holdout:</a:t>
            </a:r>
            <a:r>
              <a:rPr sz="1400" b="0" i="0">
                <a:solidFill>
                  <a:srgbClr val="1A1A1A"/>
                </a:solidFill>
                <a:latin typeface="Arial"/>
              </a:rPr>
              <a:t> 2 tuning and 2 unseen sizes per kernel (12 workloads); holdout never influences a choice.</a:t>
            </a:r>
          </a:p>
          <a:p>
            <a:pPr marL="201168" indent="-201168" algn="l">
              <a:spcAft>
                <a:spcPts val="600"/>
              </a:spcAft>
              <a:buChar char="•"/>
            </a:pPr>
            <a:r>
              <a:rPr sz="1400" b="1" i="0">
                <a:solidFill>
                  <a:srgbClr val="1A1A1A"/>
                </a:solidFill>
                <a:latin typeface="Arial"/>
              </a:rPr>
              <a:t>Overhead and size:</a:t>
            </a:r>
            <a:r>
              <a:rPr sz="1400" b="0" i="0">
                <a:solidFill>
                  <a:srgbClr val="1A1A1A"/>
                </a:solidFill>
                <a:latin typeface="Arial"/>
              </a:rPr>
              <a:t> tuning wall time and binary size are recorded for each run.</a:t>
            </a:r>
          </a:p>
        </p:txBody>
      </p:sp>
      <p:graphicFrame>
        <p:nvGraphicFramePr>
          <p:cNvPr id="7" name="Holdout speedup vs budget"/>
          <p:cNvGraphicFramePr>
            <a:graphicFrameLocks noGrp="1"/>
          </p:cNvGraphicFramePr>
          <p:nvPr/>
        </p:nvGraphicFramePr>
        <p:xfrm>
          <a:off x="5943600" y="1188720"/>
          <a:ext cx="5696712"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5943600" y="4297680"/>
            <a:ext cx="5696712" cy="2011680"/>
          </a:xfrm>
          <a:prstGeom prst="rect">
            <a:avLst/>
          </a:prstGeom>
          <a:noFill/>
        </p:spPr>
        <p:txBody>
          <a:bodyPr wrap="square" lIns="45720" tIns="36576" rIns="45720" bIns="36576">
            <a:spAutoFit/>
          </a:bodyPr>
          <a:lstStyle/>
          <a:p>
            <a:pPr marL="201168" indent="-201168" algn="l">
              <a:spcAft>
                <a:spcPts val="400"/>
              </a:spcAft>
              <a:buChar char="•"/>
            </a:pPr>
            <a:r>
              <a:rPr sz="1250" b="0" i="0">
                <a:solidFill>
                  <a:srgbClr val="1A1A1A"/>
                </a:solidFill>
                <a:latin typeface="Arial"/>
              </a:rPr>
              <a:t>Adaptive is ahead of random at small budgets (H1, H2 supported); the gap shrinks with B and all methods tie at B = 22.</a:t>
            </a:r>
          </a:p>
          <a:p>
            <a:pPr marL="201168" indent="-201168" algn="l">
              <a:spcAft>
                <a:spcPts val="400"/>
              </a:spcAft>
              <a:buChar char="•"/>
            </a:pPr>
            <a:r>
              <a:rPr sz="1250" b="0" i="0">
                <a:solidFill>
                  <a:srgbClr val="1A1A1A"/>
                </a:solidFill>
                <a:latin typeface="Arial"/>
              </a:rPr>
              <a:t>At B = 4: adaptive 1.110 vs random 1.097. The difference is small.</a:t>
            </a:r>
          </a:p>
          <a:p>
            <a:pPr marL="201168" indent="-201168" algn="l">
              <a:spcAft>
                <a:spcPts val="400"/>
              </a:spcAft>
              <a:buChar char="•"/>
            </a:pPr>
            <a:r>
              <a:rPr sz="1250" b="0" i="0">
                <a:solidFill>
                  <a:srgbClr val="1A1A1A"/>
                </a:solidFill>
                <a:latin typeface="Arial"/>
              </a:rPr>
              <a:t>Real runs (B = 6, 3 seeds): tuning took 20.5 s adaptive vs 16.2 s random (+26%).</a:t>
            </a:r>
          </a:p>
          <a:p>
            <a:pPr marL="201168" indent="-201168" algn="l">
              <a:spcAft>
                <a:spcPts val="400"/>
              </a:spcAft>
              <a:buChar char="•"/>
            </a:pPr>
            <a:r>
              <a:rPr sz="1250" b="0" i="0">
                <a:solidFill>
                  <a:srgbClr val="1A1A1A"/>
                </a:solidFill>
                <a:latin typeface="Arial"/>
              </a:rPr>
              <a:t>Individual signals (descriptors, history, feedback): inconclusive (H3 to H5).</a:t>
            </a:r>
          </a:p>
        </p:txBody>
      </p:sp>
      <p:sp>
        <p:nvSpPr>
          <p:cNvPr id="9" name="TextBox 8"/>
          <p:cNvSpPr txBox="1"/>
          <p:nvPr/>
        </p:nvSpPr>
        <p:spPr>
          <a:xfrm>
            <a:off x="548640" y="5989320"/>
            <a:ext cx="5212080" cy="36576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Source: report/report.md §7, 8.2, 8.4, 9. Replay of saved measurements; one machine, GCC 6.3.0.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Current progress</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12 / 14</a:t>
            </a:r>
          </a:p>
        </p:txBody>
      </p:sp>
      <p:graphicFrame>
        <p:nvGraphicFramePr>
          <p:cNvPr id="5" name="Progress table"/>
          <p:cNvGraphicFramePr>
            <a:graphicFrameLocks noGrp="1"/>
          </p:cNvGraphicFramePr>
          <p:nvPr/>
        </p:nvGraphicFramePr>
        <p:xfrm>
          <a:off x="548640" y="1280160"/>
          <a:ext cx="11091672" cy="4325112"/>
        </p:xfrm>
        <a:graphic>
          <a:graphicData uri="http://schemas.openxmlformats.org/drawingml/2006/table">
            <a:tbl>
              <a:tblPr firstRow="1">
                <a:tableStyleId>{5C22544A-7EE6-4342-B048-85BDC9FD1C3A}</a:tableStyleId>
              </a:tblPr>
              <a:tblGrid>
                <a:gridCol w="40233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5833872">
                  <a:extLst>
                    <a:ext uri="{9D8B030D-6E8A-4147-A177-3AD203B41FA5}">
                      <a16:colId xmlns:a16="http://schemas.microsoft.com/office/drawing/2014/main" val="20002"/>
                    </a:ext>
                  </a:extLst>
                </a:gridCol>
              </a:tblGrid>
              <a:tr h="393192">
                <a:tc>
                  <a:txBody>
                    <a:bodyPr/>
                    <a:lstStyle/>
                    <a:p>
                      <a:r>
                        <a:rPr sz="1250" b="1">
                          <a:solidFill>
                            <a:srgbClr val="FFFFFF"/>
                          </a:solidFill>
                          <a:latin typeface="Arial"/>
                        </a:rPr>
                        <a:t>Component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250" b="1">
                          <a:solidFill>
                            <a:srgbClr val="FFFFFF"/>
                          </a:solidFill>
                          <a:latin typeface="Arial"/>
                        </a:rPr>
                        <a:t>Status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tc>
                  <a:txBody>
                    <a:bodyPr/>
                    <a:lstStyle/>
                    <a:p>
                      <a:r>
                        <a:rPr sz="1250" b="1">
                          <a:solidFill>
                            <a:srgbClr val="FFFFFF"/>
                          </a:solidFill>
                          <a:latin typeface="Arial"/>
                        </a:rPr>
                        <a:t>Evidence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1F3A5F"/>
                    </a:solidFill>
                  </a:tcPr>
                </a:tc>
                <a:extLst>
                  <a:ext uri="{0D108BD9-81ED-4DB2-BD59-A6C34878D82A}">
                    <a16:rowId xmlns:a16="http://schemas.microsoft.com/office/drawing/2014/main" val="10000"/>
                  </a:ext>
                </a:extLst>
              </a:tr>
              <a:tr h="393192">
                <a:tc>
                  <a:txBody>
                    <a:bodyPr/>
                    <a:lstStyle/>
                    <a:p>
                      <a:r>
                        <a:rPr sz="1250" b="0">
                          <a:solidFill>
                            <a:srgbClr val="1A1A1A"/>
                          </a:solidFill>
                          <a:latin typeface="Arial"/>
                        </a:rPr>
                        <a:t>Lexer, parser, AST, semantic checks, TAC</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Phases V0.2 to V0.4; located diagnostics; AST and TAC interpreters agree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1"/>
                  </a:ext>
                </a:extLst>
              </a:tr>
              <a:tr h="393192">
                <a:tc>
                  <a:txBody>
                    <a:bodyPr/>
                    <a:lstStyle/>
                    <a:p>
                      <a:r>
                        <a:rPr sz="1250" b="0">
                          <a:solidFill>
                            <a:srgbClr val="1A1A1A"/>
                          </a:solidFill>
                          <a:latin typeface="Arial"/>
                        </a:rPr>
                        <a:t>TAC optimizer (4 passes)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V0.5; differential test on 4000 random programs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2"/>
                  </a:ext>
                </a:extLst>
              </a:tr>
              <a:tr h="393192">
                <a:tc>
                  <a:txBody>
                    <a:bodyPr/>
                    <a:lstStyle/>
                    <a:p>
                      <a:r>
                        <a:rPr sz="1250" b="0">
                          <a:solidFill>
                            <a:srgbClr val="1A1A1A"/>
                          </a:solidFill>
                          <a:latin typeface="Arial"/>
                        </a:rPr>
                        <a:t>Benchmark lab, -O2/-O3 baselines, oracle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V0.6; 3 kernels; raw samples and manifests saved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3"/>
                  </a:ext>
                </a:extLst>
              </a:tr>
              <a:tr h="393192">
                <a:tc>
                  <a:txBody>
                    <a:bodyPr/>
                    <a:lstStyle/>
                    <a:p>
                      <a:r>
                        <a:rPr sz="1250" b="0">
                          <a:solidFill>
                            <a:srgbClr val="1A1A1A"/>
                          </a:solidFill>
                          <a:latin typeface="Arial"/>
                        </a:rPr>
                        <a:t>SmartPass fixed and random search, correctness gate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V0.7; 12 equal-budget runs saved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4"/>
                  </a:ext>
                </a:extLst>
              </a:tr>
              <a:tr h="393192">
                <a:tc>
                  <a:txBody>
                    <a:bodyPr/>
                    <a:lstStyle/>
                    <a:p>
                      <a:r>
                        <a:rPr sz="1250" b="0">
                          <a:solidFill>
                            <a:srgbClr val="1A1A1A"/>
                          </a:solidFill>
                          <a:latin typeface="Arial"/>
                        </a:rPr>
                        <a:t>Adaptive search, ablations, holdout evaluation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V0.8; 7260 replayed runs, 27 real runs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5"/>
                  </a:ext>
                </a:extLst>
              </a:tr>
              <a:tr h="393192">
                <a:tc>
                  <a:txBody>
                    <a:bodyPr/>
                    <a:lstStyle/>
                    <a:p>
                      <a:r>
                        <a:rPr sz="1250" b="0">
                          <a:solidFill>
                            <a:srgbClr val="1A1A1A"/>
                          </a:solidFill>
                          <a:latin typeface="Arial"/>
                        </a:rPr>
                        <a:t>Evaluation report</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report/report.md generated from saved data (V0.9)</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6"/>
                  </a:ext>
                </a:extLst>
              </a:tr>
              <a:tr h="393192">
                <a:tc>
                  <a:txBody>
                    <a:bodyPr/>
                    <a:lstStyle/>
                    <a:p>
                      <a:r>
                        <a:rPr sz="1250" b="0">
                          <a:solidFill>
                            <a:srgbClr val="1A1A1A"/>
                          </a:solidFill>
                          <a:latin typeface="Arial"/>
                        </a:rPr>
                        <a:t>Whole test suite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1F3A5F"/>
                          </a:solidFill>
                          <a:latin typeface="Arial"/>
                        </a:rPr>
                        <a:t>Complete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49/49 CTest pass in the V1.0 log</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7"/>
                  </a:ext>
                </a:extLst>
              </a:tr>
              <a:tr h="393192">
                <a:tc>
                  <a:txBody>
                    <a:bodyPr/>
                    <a:lstStyle/>
                    <a:p>
                      <a:r>
                        <a:rPr sz="1250" b="0">
                          <a:solidFill>
                            <a:srgbClr val="1A1A1A"/>
                          </a:solidFill>
                          <a:latin typeface="Arial"/>
                        </a:rPr>
                        <a:t>Linux (POSIX) process runner</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8A5500"/>
                          </a:solidFill>
                          <a:latin typeface="Arial"/>
                        </a:rPr>
                        <a:t>Partial</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Written, never compiled or run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8"/>
                  </a:ext>
                </a:extLst>
              </a:tr>
              <a:tr h="393192">
                <a:tc>
                  <a:txBody>
                    <a:bodyPr/>
                    <a:lstStyle/>
                    <a:p>
                      <a:r>
                        <a:rPr sz="1250" b="0">
                          <a:solidFill>
                            <a:srgbClr val="1A1A1A"/>
                          </a:solidFill>
                          <a:latin typeface="Arial"/>
                        </a:rPr>
                        <a:t>Sanitizers (ASan, UBSan)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5A6270"/>
                          </a:solidFill>
                          <a:latin typeface="Arial"/>
                        </a:rPr>
                        <a:t>Not run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Not available for this GCC; checked containers used instead</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09"/>
                  </a:ext>
                </a:extLst>
              </a:tr>
              <a:tr h="393192">
                <a:tc>
                  <a:txBody>
                    <a:bodyPr/>
                    <a:lstStyle/>
                    <a:p>
                      <a:r>
                        <a:rPr sz="1250" b="0">
                          <a:solidFill>
                            <a:srgbClr val="1A1A1A"/>
                          </a:solidFill>
                          <a:latin typeface="Arial"/>
                        </a:rPr>
                        <a:t>Newer GCC, other machines</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1">
                          <a:solidFill>
                            <a:srgbClr val="5A6270"/>
                          </a:solidFill>
                          <a:latin typeface="Arial"/>
                        </a:rPr>
                        <a:t>Not done</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tc>
                  <a:txBody>
                    <a:bodyPr/>
                    <a:lstStyle/>
                    <a:p>
                      <a:r>
                        <a:rPr sz="1250" b="0">
                          <a:solidFill>
                            <a:srgbClr val="1A1A1A"/>
                          </a:solidFill>
                          <a:latin typeface="Arial"/>
                        </a:rPr>
                        <a:t>Outside the verified configuration</a:t>
                      </a:r>
                    </a:p>
                  </a:txBody>
                  <a:tcPr marL="73152" marR="73152" marT="27432" marB="27432" anchor="ctr">
                    <a:lnL w="9525">
                      <a:solidFill>
                        <a:srgbClr val="C5CDD8"/>
                      </a:solidFill>
                    </a:lnL>
                    <a:lnR w="9525">
                      <a:solidFill>
                        <a:srgbClr val="C5CDD8"/>
                      </a:solidFill>
                    </a:lnR>
                    <a:lnT w="9525">
                      <a:solidFill>
                        <a:srgbClr val="C5CDD8"/>
                      </a:solidFill>
                    </a:lnT>
                    <a:lnB w="9525">
                      <a:solidFill>
                        <a:srgbClr val="C5CDD8"/>
                      </a:solidFill>
                    </a:lnB>
                    <a:solidFill>
                      <a:srgbClr val="FFFFFF"/>
                    </a:solidFill>
                  </a:tcPr>
                </a:tc>
                <a:extLst>
                  <a:ext uri="{0D108BD9-81ED-4DB2-BD59-A6C34878D82A}">
                    <a16:rowId xmlns:a16="http://schemas.microsoft.com/office/drawing/2014/main" val="10010"/>
                  </a:ext>
                </a:extLst>
              </a:tr>
            </a:tbl>
          </a:graphicData>
        </a:graphic>
      </p:graphicFrame>
      <p:sp>
        <p:nvSpPr>
          <p:cNvPr id="6" name="TextBox 5"/>
          <p:cNvSpPr txBox="1"/>
          <p:nvPr/>
        </p:nvSpPr>
        <p:spPr>
          <a:xfrm>
            <a:off x="548640" y="5760720"/>
            <a:ext cx="11091672" cy="548640"/>
          </a:xfrm>
          <a:prstGeom prst="rect">
            <a:avLst/>
          </a:prstGeom>
          <a:noFill/>
        </p:spPr>
        <p:txBody>
          <a:bodyPr wrap="square" lIns="45720" tIns="36576" rIns="45720" bIns="36576">
            <a:spAutoFit/>
          </a:bodyPr>
          <a:lstStyle/>
          <a:p>
            <a:pPr algn="l">
              <a:spcAft>
                <a:spcPts val="600"/>
              </a:spcAft>
            </a:pPr>
            <a:r>
              <a:rPr sz="1300" b="0" i="0">
                <a:solidFill>
                  <a:srgbClr val="5A6270"/>
                </a:solidFill>
                <a:latin typeface="Arial"/>
              </a:rPr>
              <a:t>Release status: V1.0 RELEASED for the verified configuration only (Windows 11, MinGW.org GCC 6.3.0). See state/ROADMAP_STATUS.md and docs/RELEASE.md.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Limitations and future scope</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13 / 14</a:t>
            </a:r>
          </a:p>
        </p:txBody>
      </p:sp>
      <p:sp>
        <p:nvSpPr>
          <p:cNvPr id="5" name="TextBox 4"/>
          <p:cNvSpPr txBox="1"/>
          <p:nvPr/>
        </p:nvSpPr>
        <p:spPr>
          <a:xfrm>
            <a:off x="548640" y="1280160"/>
            <a:ext cx="5486400" cy="365760"/>
          </a:xfrm>
          <a:prstGeom prst="rect">
            <a:avLst/>
          </a:prstGeom>
          <a:noFill/>
        </p:spPr>
        <p:txBody>
          <a:bodyPr wrap="square" lIns="45720" tIns="36576" rIns="45720" bIns="36576">
            <a:spAutoFit/>
          </a:bodyPr>
          <a:lstStyle/>
          <a:p>
            <a:pPr algn="l">
              <a:spcAft>
                <a:spcPts val="600"/>
              </a:spcAft>
            </a:pPr>
            <a:r>
              <a:rPr sz="1800" b="1" i="0">
                <a:solidFill>
                  <a:srgbClr val="1F3A5F"/>
                </a:solidFill>
                <a:latin typeface="Arial"/>
              </a:rPr>
              <a:t>Limitations (documented in the report)</a:t>
            </a:r>
          </a:p>
        </p:txBody>
      </p:sp>
      <p:sp>
        <p:nvSpPr>
          <p:cNvPr id="6" name="TextBox 5"/>
          <p:cNvSpPr txBox="1"/>
          <p:nvPr/>
        </p:nvSpPr>
        <p:spPr>
          <a:xfrm>
            <a:off x="548640" y="1691640"/>
            <a:ext cx="5486400" cy="4389120"/>
          </a:xfrm>
          <a:prstGeom prst="rect">
            <a:avLst/>
          </a:prstGeom>
          <a:noFill/>
        </p:spPr>
        <p:txBody>
          <a:bodyPr wrap="square" lIns="45720" tIns="36576" rIns="45720" bIns="36576">
            <a:spAutoFit/>
          </a:bodyPr>
          <a:lstStyle/>
          <a:p>
            <a:pPr marL="201168" indent="-201168" algn="l">
              <a:spcAft>
                <a:spcPts val="900"/>
              </a:spcAft>
              <a:buChar char="•"/>
            </a:pPr>
            <a:r>
              <a:rPr sz="1600" b="0" i="0">
                <a:solidFill>
                  <a:srgbClr val="1A1A1A"/>
                </a:solidFill>
                <a:latin typeface="Arial"/>
              </a:rPr>
              <a:t>One machine and an old 32-bit GCC (6.3.0); results may differ on newer compilers.</a:t>
            </a:r>
          </a:p>
          <a:p>
            <a:pPr marL="201168" indent="-201168" algn="l">
              <a:spcAft>
                <a:spcPts val="900"/>
              </a:spcAft>
              <a:buChar char="•"/>
            </a:pPr>
            <a:r>
              <a:rPr sz="1600" b="0" i="0">
                <a:solidFill>
                  <a:srgbClr val="1A1A1A"/>
                </a:solidFill>
                <a:latin typeface="Arial"/>
              </a:rPr>
              <a:t>Three small kernels, 12 workloads: not representative of real programs.</a:t>
            </a:r>
          </a:p>
          <a:p>
            <a:pPr marL="201168" indent="-201168" algn="l">
              <a:spcAft>
                <a:spcPts val="900"/>
              </a:spcAft>
              <a:buChar char="•"/>
            </a:pPr>
            <a:r>
              <a:rPr sz="1600" b="0" i="0">
                <a:solidFill>
                  <a:srgbClr val="1A1A1A"/>
                </a:solidFill>
                <a:latin typeface="Arial"/>
              </a:rPr>
              <a:t>Only 22 searchable configurations, so a small budget already covers much of the space.</a:t>
            </a:r>
          </a:p>
          <a:p>
            <a:pPr marL="201168" indent="-201168" algn="l">
              <a:spcAft>
                <a:spcPts val="900"/>
              </a:spcAft>
              <a:buChar char="•"/>
            </a:pPr>
            <a:r>
              <a:rPr sz="1600" b="0" i="0">
                <a:solidFill>
                  <a:srgbClr val="1A1A1A"/>
                </a:solidFill>
                <a:latin typeface="Arial"/>
              </a:rPr>
              <a:t>Timing noise: baseline spread up to 7.2% (median 2.1%); smaller differences are inconclusive.</a:t>
            </a:r>
          </a:p>
          <a:p>
            <a:pPr marL="201168" indent="-201168" algn="l">
              <a:spcAft>
                <a:spcPts val="900"/>
              </a:spcAft>
              <a:buChar char="•"/>
            </a:pPr>
            <a:r>
              <a:rPr sz="1600" b="0" i="0">
                <a:solidFill>
                  <a:srgbClr val="1A1A1A"/>
                </a:solidFill>
                <a:latin typeface="Arial"/>
              </a:rPr>
              <a:t>Correctness check uses output statistics, not every element.</a:t>
            </a:r>
          </a:p>
          <a:p>
            <a:pPr marL="201168" indent="-201168" algn="l">
              <a:spcAft>
                <a:spcPts val="900"/>
              </a:spcAft>
              <a:buChar char="•"/>
            </a:pPr>
            <a:r>
              <a:rPr sz="1600" b="0" i="0">
                <a:solidFill>
                  <a:srgbClr val="1A1A1A"/>
                </a:solidFill>
                <a:latin typeface="Arial"/>
              </a:rPr>
              <a:t>Adaptive search costs extra tuning time (pilot runs).</a:t>
            </a:r>
          </a:p>
          <a:p>
            <a:pPr marL="201168" indent="-201168" algn="l">
              <a:spcAft>
                <a:spcPts val="900"/>
              </a:spcAft>
              <a:buChar char="•"/>
            </a:pPr>
            <a:r>
              <a:rPr sz="1600" b="0" i="0">
                <a:solidFill>
                  <a:srgbClr val="1A1A1A"/>
                </a:solidFill>
                <a:latin typeface="Arial"/>
              </a:rPr>
              <a:t>Priors were written after seeing earlier timings of the same kernels.</a:t>
            </a:r>
          </a:p>
        </p:txBody>
      </p:sp>
      <p:sp>
        <p:nvSpPr>
          <p:cNvPr id="7" name="TextBox 6"/>
          <p:cNvSpPr txBox="1"/>
          <p:nvPr/>
        </p:nvSpPr>
        <p:spPr>
          <a:xfrm>
            <a:off x="6336792" y="1280160"/>
            <a:ext cx="5303520" cy="365760"/>
          </a:xfrm>
          <a:prstGeom prst="rect">
            <a:avLst/>
          </a:prstGeom>
          <a:noFill/>
        </p:spPr>
        <p:txBody>
          <a:bodyPr wrap="square" lIns="45720" tIns="36576" rIns="45720" bIns="36576">
            <a:spAutoFit/>
          </a:bodyPr>
          <a:lstStyle/>
          <a:p>
            <a:pPr algn="l">
              <a:spcAft>
                <a:spcPts val="600"/>
              </a:spcAft>
            </a:pPr>
            <a:r>
              <a:rPr sz="1800" b="1" i="0">
                <a:solidFill>
                  <a:srgbClr val="1F3A5F"/>
                </a:solidFill>
                <a:latin typeface="Arial"/>
              </a:rPr>
              <a:t>Future scope (not implemented)</a:t>
            </a:r>
          </a:p>
        </p:txBody>
      </p:sp>
      <p:sp>
        <p:nvSpPr>
          <p:cNvPr id="8" name="TextBox 7"/>
          <p:cNvSpPr txBox="1"/>
          <p:nvPr/>
        </p:nvSpPr>
        <p:spPr>
          <a:xfrm>
            <a:off x="6336792" y="1691640"/>
            <a:ext cx="5303520" cy="4389120"/>
          </a:xfrm>
          <a:prstGeom prst="rect">
            <a:avLst/>
          </a:prstGeom>
          <a:noFill/>
        </p:spPr>
        <p:txBody>
          <a:bodyPr wrap="square" lIns="45720" tIns="36576" rIns="45720" bIns="36576">
            <a:spAutoFit/>
          </a:bodyPr>
          <a:lstStyle/>
          <a:p>
            <a:pPr marL="201168" indent="-201168" algn="l">
              <a:spcAft>
                <a:spcPts val="900"/>
              </a:spcAft>
              <a:buChar char="•"/>
            </a:pPr>
            <a:r>
              <a:rPr sz="1600" b="0" i="0">
                <a:solidFill>
                  <a:srgbClr val="1A1A1A"/>
                </a:solidFill>
                <a:latin typeface="Arial"/>
              </a:rPr>
              <a:t>Run on Linux and newer GCC versions; compile and test the POSIX runner.</a:t>
            </a:r>
          </a:p>
          <a:p>
            <a:pPr marL="201168" indent="-201168" algn="l">
              <a:spcAft>
                <a:spcPts val="900"/>
              </a:spcAft>
              <a:buChar char="•"/>
            </a:pPr>
            <a:r>
              <a:rPr sz="1600" b="0" i="0">
                <a:solidFill>
                  <a:srgbClr val="1A1A1A"/>
                </a:solidFill>
                <a:latin typeface="Arial"/>
              </a:rPr>
              <a:t>Add sanitizer runs on a toolchain that supports them.</a:t>
            </a:r>
          </a:p>
          <a:p>
            <a:pPr marL="201168" indent="-201168" algn="l">
              <a:spcAft>
                <a:spcPts val="900"/>
              </a:spcAft>
              <a:buChar char="•"/>
            </a:pPr>
            <a:r>
              <a:rPr sz="1600" b="0" i="0">
                <a:solidFill>
                  <a:srgbClr val="1A1A1A"/>
                </a:solidFill>
                <a:latin typeface="Arial"/>
              </a:rPr>
              <a:t>More kernels, larger inputs and a bigger flag space.</a:t>
            </a:r>
          </a:p>
          <a:p>
            <a:pPr marL="201168" indent="-201168" algn="l">
              <a:spcAft>
                <a:spcPts val="900"/>
              </a:spcAft>
              <a:buChar char="•"/>
            </a:pPr>
            <a:r>
              <a:rPr sz="1600" b="0" i="0">
                <a:solidFill>
                  <a:srgbClr val="1A1A1A"/>
                </a:solidFill>
                <a:latin typeface="Arial"/>
              </a:rPr>
              <a:t>Compare against an established tuner such as OpenTuner.</a:t>
            </a:r>
          </a:p>
          <a:p>
            <a:pPr marL="201168" indent="-201168" algn="l">
              <a:spcAft>
                <a:spcPts val="900"/>
              </a:spcAft>
              <a:buChar char="•"/>
            </a:pPr>
            <a:r>
              <a:rPr sz="1600" b="0" i="0">
                <a:solidFill>
                  <a:srgbClr val="1A1A1A"/>
                </a:solidFill>
                <a:latin typeface="Arial"/>
              </a:rPr>
              <a:t>Complete the literature check before claiming novelty.</a:t>
            </a:r>
          </a:p>
          <a:p>
            <a:pPr marL="201168" indent="-201168" algn="l">
              <a:spcAft>
                <a:spcPts val="900"/>
              </a:spcAft>
              <a:buChar char="•"/>
            </a:pPr>
            <a:r>
              <a:rPr sz="1600" b="0" i="0">
                <a:solidFill>
                  <a:srgbClr val="1A1A1A"/>
                </a:solidFill>
                <a:latin typeface="Arial"/>
              </a:rPr>
              <a:t>Optional: </a:t>
            </a:r>
            <a:r>
              <a:rPr sz="1600" b="0" i="0">
                <a:solidFill>
                  <a:srgbClr val="1A1A1A"/>
                </a:solidFill>
                <a:latin typeface="Courier New"/>
              </a:rPr>
              <a:t>-Ofast</a:t>
            </a:r>
            <a:r>
              <a:rPr sz="1600" b="0" i="0">
                <a:solidFill>
                  <a:srgbClr val="1A1A1A"/>
                </a:solidFill>
                <a:latin typeface="Arial"/>
              </a:rPr>
              <a:t> or profile-guided optimization, reported separately.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1672" cy="777240"/>
          </a:xfrm>
        </p:spPr>
        <p:txBody>
          <a:bodyPr wrap="square" lIns="45720" anchor="ctr"/>
          <a:lstStyle/>
          <a:p>
            <a:pPr algn="l"/>
            <a:r>
              <a:rPr sz="3200" b="1">
                <a:solidFill>
                  <a:srgbClr val="1F3A5F"/>
                </a:solidFill>
                <a:latin typeface="Arial"/>
              </a:rPr>
              <a:t>Conclusion and references</a:t>
            </a:r>
          </a:p>
        </p:txBody>
      </p:sp>
      <p:sp>
        <p:nvSpPr>
          <p:cNvPr id="3" name="Footer"/>
          <p:cNvSpPr txBox="1"/>
          <p:nvPr/>
        </p:nvSpPr>
        <p:spPr>
          <a:xfrm>
            <a:off x="548640" y="6400800"/>
            <a:ext cx="7315200" cy="274320"/>
          </a:xfrm>
          <a:prstGeom prst="rect">
            <a:avLst/>
          </a:prstGeom>
          <a:noFill/>
        </p:spPr>
        <p:txBody>
          <a:bodyPr wrap="square" lIns="45720" tIns="36576" rIns="45720" bIns="36576">
            <a:spAutoFit/>
          </a:bodyPr>
          <a:lstStyle/>
          <a:p>
            <a:pPr algn="l">
              <a:spcAft>
                <a:spcPts val="600"/>
              </a:spcAft>
            </a:pPr>
            <a:r>
              <a:rPr sz="1100" b="0" i="0">
                <a:solidFill>
                  <a:srgbClr val="5A6270"/>
                </a:solidFill>
                <a:latin typeface="Arial"/>
              </a:rPr>
              <a:t>NOVA  |  Compiler design project review</a:t>
            </a:r>
          </a:p>
        </p:txBody>
      </p:sp>
      <p:sp>
        <p:nvSpPr>
          <p:cNvPr id="4" name="Slide number"/>
          <p:cNvSpPr txBox="1"/>
          <p:nvPr/>
        </p:nvSpPr>
        <p:spPr>
          <a:xfrm>
            <a:off x="10271455" y="6400800"/>
            <a:ext cx="1371600" cy="274320"/>
          </a:xfrm>
          <a:prstGeom prst="rect">
            <a:avLst/>
          </a:prstGeom>
          <a:noFill/>
        </p:spPr>
        <p:txBody>
          <a:bodyPr wrap="square" lIns="45720" tIns="36576" rIns="45720" bIns="36576">
            <a:spAutoFit/>
          </a:bodyPr>
          <a:lstStyle/>
          <a:p>
            <a:pPr algn="r">
              <a:spcAft>
                <a:spcPts val="600"/>
              </a:spcAft>
            </a:pPr>
            <a:r>
              <a:rPr sz="1100" b="0" i="0">
                <a:solidFill>
                  <a:srgbClr val="5A6270"/>
                </a:solidFill>
                <a:latin typeface="Arial"/>
              </a:rPr>
              <a:t>14 / 14</a:t>
            </a:r>
          </a:p>
        </p:txBody>
      </p:sp>
      <p:sp>
        <p:nvSpPr>
          <p:cNvPr id="5" name="TextBox 4"/>
          <p:cNvSpPr txBox="1"/>
          <p:nvPr/>
        </p:nvSpPr>
        <p:spPr>
          <a:xfrm>
            <a:off x="548640" y="1280160"/>
            <a:ext cx="4572000" cy="365760"/>
          </a:xfrm>
          <a:prstGeom prst="rect">
            <a:avLst/>
          </a:prstGeom>
          <a:noFill/>
        </p:spPr>
        <p:txBody>
          <a:bodyPr wrap="square" lIns="45720" tIns="36576" rIns="45720" bIns="36576">
            <a:spAutoFit/>
          </a:bodyPr>
          <a:lstStyle/>
          <a:p>
            <a:pPr algn="l">
              <a:spcAft>
                <a:spcPts val="600"/>
              </a:spcAft>
            </a:pPr>
            <a:r>
              <a:rPr sz="1800" b="1" i="0">
                <a:solidFill>
                  <a:srgbClr val="1F3A5F"/>
                </a:solidFill>
                <a:latin typeface="Arial"/>
              </a:rPr>
              <a:t>Conclusion</a:t>
            </a:r>
          </a:p>
        </p:txBody>
      </p:sp>
      <p:sp>
        <p:nvSpPr>
          <p:cNvPr id="6" name="TextBox 5"/>
          <p:cNvSpPr txBox="1"/>
          <p:nvPr/>
        </p:nvSpPr>
        <p:spPr>
          <a:xfrm>
            <a:off x="548640" y="1691640"/>
            <a:ext cx="4572000" cy="4480560"/>
          </a:xfrm>
          <a:prstGeom prst="rect">
            <a:avLst/>
          </a:prstGeom>
          <a:noFill/>
        </p:spPr>
        <p:txBody>
          <a:bodyPr wrap="square" lIns="45720" tIns="36576" rIns="45720" bIns="36576">
            <a:spAutoFit/>
          </a:bodyPr>
          <a:lstStyle/>
          <a:p>
            <a:pPr marL="201168" indent="-201168" algn="l">
              <a:spcAft>
                <a:spcPts val="1000"/>
              </a:spcAft>
              <a:buChar char="•"/>
            </a:pPr>
            <a:r>
              <a:rPr sz="1600" b="0" i="0">
                <a:solidFill>
                  <a:srgbClr val="1A1A1A"/>
                </a:solidFill>
                <a:latin typeface="Arial"/>
              </a:rPr>
              <a:t>NOVA keeps two questions apart: how a compiler works (NOVA Script compiler) and which GCC settings suit a numerical program (SmartPass).</a:t>
            </a:r>
          </a:p>
          <a:p>
            <a:pPr marL="201168" indent="-201168" algn="l">
              <a:spcAft>
                <a:spcPts val="1000"/>
              </a:spcAft>
              <a:buChar char="•"/>
            </a:pPr>
            <a:r>
              <a:rPr sz="1600" b="0" i="0">
                <a:solidFill>
                  <a:srgbClr val="1A1A1A"/>
                </a:solidFill>
                <a:latin typeface="Arial"/>
              </a:rPr>
              <a:t>Together they cover compiler construction, optimization, correctness validation and reproducible measurement.</a:t>
            </a:r>
          </a:p>
          <a:p>
            <a:pPr marL="201168" indent="-201168" algn="l">
              <a:spcAft>
                <a:spcPts val="1000"/>
              </a:spcAft>
              <a:buChar char="•"/>
            </a:pPr>
            <a:r>
              <a:rPr sz="1600" b="0" i="0">
                <a:solidFill>
                  <a:srgbClr val="1A1A1A"/>
                </a:solidFill>
                <a:latin typeface="Arial"/>
              </a:rPr>
              <a:t>In the measured setting, adaptive search beat random search at small budgets by a small margin. This does not show NOVA is faster than GCC or that results generalize.</a:t>
            </a:r>
          </a:p>
        </p:txBody>
      </p:sp>
      <p:sp>
        <p:nvSpPr>
          <p:cNvPr id="7" name="TextBox 6"/>
          <p:cNvSpPr txBox="1"/>
          <p:nvPr/>
        </p:nvSpPr>
        <p:spPr>
          <a:xfrm>
            <a:off x="5394960" y="1280160"/>
            <a:ext cx="6245352" cy="365760"/>
          </a:xfrm>
          <a:prstGeom prst="rect">
            <a:avLst/>
          </a:prstGeom>
          <a:noFill/>
        </p:spPr>
        <p:txBody>
          <a:bodyPr wrap="square" lIns="45720" tIns="36576" rIns="45720" bIns="36576">
            <a:spAutoFit/>
          </a:bodyPr>
          <a:lstStyle/>
          <a:p>
            <a:pPr algn="l">
              <a:spcAft>
                <a:spcPts val="600"/>
              </a:spcAft>
            </a:pPr>
            <a:r>
              <a:rPr sz="1800" b="1" i="0">
                <a:solidFill>
                  <a:srgbClr val="1F3A5F"/>
                </a:solidFill>
                <a:latin typeface="Arial"/>
              </a:rPr>
              <a:t>References</a:t>
            </a:r>
          </a:p>
        </p:txBody>
      </p:sp>
      <p:sp>
        <p:nvSpPr>
          <p:cNvPr id="8" name="TextBox 7"/>
          <p:cNvSpPr txBox="1"/>
          <p:nvPr/>
        </p:nvSpPr>
        <p:spPr>
          <a:xfrm>
            <a:off x="5394960" y="1691640"/>
            <a:ext cx="6245352" cy="4572000"/>
          </a:xfrm>
          <a:prstGeom prst="rect">
            <a:avLst/>
          </a:prstGeom>
          <a:noFill/>
        </p:spPr>
        <p:txBody>
          <a:bodyPr wrap="square" lIns="45720" tIns="36576" rIns="45720" bIns="36576">
            <a:spAutoFit/>
          </a:bodyPr>
          <a:lstStyle/>
          <a:p>
            <a:pPr algn="l">
              <a:spcAft>
                <a:spcPts val="800"/>
              </a:spcAft>
            </a:pPr>
            <a:r>
              <a:rPr sz="1300" b="0" i="0">
                <a:solidFill>
                  <a:srgbClr val="1A1A1A"/>
                </a:solidFill>
                <a:latin typeface="Arial"/>
              </a:rPr>
              <a:t>[1] GNU Project, “Options That Control Optimization”, GCC manual. https://gcc.gnu.org/onlinedocs/gcc/Optimize-Options.html</a:t>
            </a:r>
          </a:p>
          <a:p>
            <a:pPr algn="l">
              <a:spcAft>
                <a:spcPts val="800"/>
              </a:spcAft>
            </a:pPr>
            <a:r>
              <a:rPr sz="1300" b="0" i="0">
                <a:solidFill>
                  <a:srgbClr val="1A1A1A"/>
                </a:solidFill>
                <a:latin typeface="Arial"/>
              </a:rPr>
              <a:t>[2] J. Ansel et al., “OpenTuner: An Extensible Framework for Program Autotuning”, PACT 2014. https://doi.org/10.1145/2628071.2628092</a:t>
            </a:r>
          </a:p>
          <a:p>
            <a:pPr algn="l">
              <a:spcAft>
                <a:spcPts val="800"/>
              </a:spcAft>
            </a:pPr>
            <a:r>
              <a:rPr sz="1300" b="0" i="0">
                <a:solidFill>
                  <a:srgbClr val="1A1A1A"/>
                </a:solidFill>
                <a:latin typeface="Arial"/>
              </a:rPr>
              <a:t>[3] Google Benchmark, “Random Interleaving”. https://github.com/google/benchmark/blob/main/docs/random_interleaving.md</a:t>
            </a:r>
          </a:p>
          <a:p>
            <a:pPr algn="l">
              <a:spcAft>
                <a:spcPts val="800"/>
              </a:spcAft>
            </a:pPr>
            <a:r>
              <a:rPr sz="1300" b="0" i="0">
                <a:solidFill>
                  <a:srgbClr val="1A1A1A"/>
                </a:solidFill>
                <a:latin typeface="Arial"/>
              </a:rPr>
              <a:t>[4] SPEC, “SPEC CPU 2026 Run and Reporting Rules”. https://www.spec.org/cpu2026/docs/runrules.html</a:t>
            </a:r>
          </a:p>
          <a:p>
            <a:pPr algn="l">
              <a:spcAft>
                <a:spcPts val="800"/>
              </a:spcAft>
            </a:pPr>
            <a:r>
              <a:rPr sz="1300" b="0" i="0">
                <a:solidFill>
                  <a:srgbClr val="1A1A1A"/>
                </a:solidFill>
                <a:latin typeface="Arial"/>
              </a:rPr>
              <a:t>[5] LLVM, “My First Language Frontend with LLVM”. https://llvm.org/docs/tutorial/MyFirstLanguageFrontend/</a:t>
            </a:r>
          </a:p>
          <a:p>
            <a:pPr algn="l">
              <a:spcAft>
                <a:spcPts val="800"/>
              </a:spcAft>
            </a:pPr>
            <a:r>
              <a:rPr sz="1300" b="0" i="0">
                <a:solidFill>
                  <a:srgbClr val="1A1A1A"/>
                </a:solidFill>
                <a:latin typeface="Arial"/>
              </a:rPr>
              <a:t>[6] R. Sasnauskas et al., “Souper: A Synthesizing Superoptimizer”, arXiv:1711.04422 (related work, not used).</a:t>
            </a:r>
          </a:p>
          <a:p>
            <a:pPr algn="l">
              <a:spcAft>
                <a:spcPts val="800"/>
              </a:spcAft>
            </a:pPr>
            <a:r>
              <a:rPr sz="1300" b="0" i="0">
                <a:solidFill>
                  <a:srgbClr val="1A1A1A"/>
                </a:solidFill>
                <a:latin typeface="Arial"/>
              </a:rPr>
              <a:t>[7] M. Willsey et al., “egg: Fast and Extensible Equality Saturation”, arXiv:2004.03082 (related work, not used).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5911</Words>
  <Application>Microsoft Office PowerPoint</Application>
  <PresentationFormat>Widescreen</PresentationFormat>
  <Paragraphs>426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Office Theme</vt:lpstr>
      <vt:lpstr>NOVA: An Explainable, Workload-Aware Compiler Optimization Framework for Numerical Programs</vt:lpstr>
      <vt:lpstr>Problem statement</vt:lpstr>
      <vt:lpstr>Project objectives</vt:lpstr>
      <vt:lpstr>Existing approach and its limits</vt:lpstr>
      <vt:lpstr>Proposed solution: two parts of NOVA</vt:lpstr>
      <vt:lpstr>NOVA Compiler: pipeline</vt:lpstr>
      <vt:lpstr>NOVA SmartPass: workflow</vt:lpstr>
      <vt:lpstr>Research contribution</vt:lpstr>
      <vt:lpstr>Example: NOVA Script optimizer</vt:lpstr>
      <vt:lpstr>Example: one SmartPass tuning run</vt:lpstr>
      <vt:lpstr>Testing and evaluation</vt:lpstr>
      <vt:lpstr>Current progress</vt:lpstr>
      <vt:lpstr>Limitations and future scope</vt:lpstr>
      <vt:lpstr>Conclusion and 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 An Explainable, Workload-Aware Compiler Optimization Framework for Numerical Programs</dc:title>
  <dc:subject>Project presentation</dc:subject>
  <dc:creator/>
  <cp:keywords/>
  <dc:description>generated using python-pptx</dc:description>
  <cp:lastModifiedBy>Neelaksh Saxena</cp:lastModifiedBy>
  <cp:revision>2</cp:revision>
  <dcterms:created xsi:type="dcterms:W3CDTF">2013-01-27T09:14:16Z</dcterms:created>
  <dcterms:modified xsi:type="dcterms:W3CDTF">2026-10-21T08:12:05Z</dcterms:modified>
  <cp:category/>
</cp:coreProperties>
</file>